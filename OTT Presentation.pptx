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9144000"/>
  <p:embeddedFontLst>
    <p:embeddedFont>
      <p:font typeface="Robo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7" roundtripDataSignature="AMtx7mgXVjiyZFQLzynsvAKyruBzZDbc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142C27-F887-42DE-9121-6C567777D5FA}">
  <a:tblStyle styleId="{97142C27-F887-42DE-9121-6C567777D5F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italic.fntdata"/><Relationship Id="rId12" Type="http://schemas.openxmlformats.org/officeDocument/2006/relationships/slide" Target="slides/slide7.xml"/><Relationship Id="rId34" Type="http://schemas.openxmlformats.org/officeDocument/2006/relationships/font" Target="fonts/Roboto-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Robo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29"/>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90000"/>
              </a:lnSpc>
              <a:spcBef>
                <a:spcPts val="0"/>
              </a:spcBef>
              <a:spcAft>
                <a:spcPts val="0"/>
              </a:spcAft>
              <a:buClr>
                <a:schemeClr val="dk1"/>
              </a:buClr>
              <a:buSzPts val="3600"/>
              <a:buFont typeface="Calibri"/>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p:txBody>
      </p:sp>
      <p:sp>
        <p:nvSpPr>
          <p:cNvPr id="17" name="Google Shape;17;p2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algn="r">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4" name="Shape 24"/>
        <p:cNvGrpSpPr/>
        <p:nvPr/>
      </p:nvGrpSpPr>
      <p:grpSpPr>
        <a:xfrm>
          <a:off x="0" y="0"/>
          <a:ext cx="0" cy="0"/>
          <a:chOff x="0" y="0"/>
          <a:chExt cx="0" cy="0"/>
        </a:xfrm>
      </p:grpSpPr>
      <p:sp>
        <p:nvSpPr>
          <p:cNvPr id="25" name="Google Shape;25;p3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7" name="Google Shape;27;p3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3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 name="Google Shape;29;p3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sp>
        <p:nvSpPr>
          <p:cNvPr id="34" name="Google Shape;34;p32"/>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dk1"/>
              </a:buClr>
              <a:buSzPts val="2800"/>
              <a:buFont typeface="Calibri"/>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 name="Google Shape;35;p32"/>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90000"/>
              </a:lnSpc>
              <a:spcBef>
                <a:spcPts val="0"/>
              </a:spcBef>
              <a:spcAft>
                <a:spcPts val="0"/>
              </a:spcAft>
              <a:buClr>
                <a:schemeClr val="dk1"/>
              </a:buClr>
              <a:buSzPts val="1800"/>
              <a:buChar char="●"/>
              <a:defRPr/>
            </a:lvl1pPr>
            <a:lvl2pPr indent="-317500" lvl="1" marL="914400" algn="l">
              <a:lnSpc>
                <a:spcPct val="90000"/>
              </a:lnSpc>
              <a:spcBef>
                <a:spcPts val="0"/>
              </a:spcBef>
              <a:spcAft>
                <a:spcPts val="0"/>
              </a:spcAft>
              <a:buClr>
                <a:schemeClr val="dk1"/>
              </a:buClr>
              <a:buSzPts val="1400"/>
              <a:buChar char="○"/>
              <a:defRPr/>
            </a:lvl2pPr>
            <a:lvl3pPr indent="-317500" lvl="2" marL="1371600" algn="l">
              <a:lnSpc>
                <a:spcPct val="90000"/>
              </a:lnSpc>
              <a:spcBef>
                <a:spcPts val="0"/>
              </a:spcBef>
              <a:spcAft>
                <a:spcPts val="0"/>
              </a:spcAft>
              <a:buClr>
                <a:schemeClr val="dk1"/>
              </a:buClr>
              <a:buSzPts val="1400"/>
              <a:buChar char="■"/>
              <a:defRPr/>
            </a:lvl3pPr>
            <a:lvl4pPr indent="-317500" lvl="3" marL="1828800" algn="l">
              <a:lnSpc>
                <a:spcPct val="90000"/>
              </a:lnSpc>
              <a:spcBef>
                <a:spcPts val="0"/>
              </a:spcBef>
              <a:spcAft>
                <a:spcPts val="0"/>
              </a:spcAft>
              <a:buClr>
                <a:schemeClr val="dk1"/>
              </a:buClr>
              <a:buSzPts val="1400"/>
              <a:buChar char="●"/>
              <a:defRPr/>
            </a:lvl4pPr>
            <a:lvl5pPr indent="-317500" lvl="4" marL="2286000" algn="l">
              <a:lnSpc>
                <a:spcPct val="90000"/>
              </a:lnSpc>
              <a:spcBef>
                <a:spcPts val="0"/>
              </a:spcBef>
              <a:spcAft>
                <a:spcPts val="0"/>
              </a:spcAft>
              <a:buClr>
                <a:schemeClr val="dk1"/>
              </a:buClr>
              <a:buSzPts val="1400"/>
              <a:buChar char="○"/>
              <a:defRPr/>
            </a:lvl5pPr>
            <a:lvl6pPr indent="-317500" lvl="5" marL="2743200" algn="l">
              <a:lnSpc>
                <a:spcPct val="90000"/>
              </a:lnSpc>
              <a:spcBef>
                <a:spcPts val="0"/>
              </a:spcBef>
              <a:spcAft>
                <a:spcPts val="0"/>
              </a:spcAft>
              <a:buClr>
                <a:schemeClr val="dk1"/>
              </a:buClr>
              <a:buSzPts val="1400"/>
              <a:buChar char="■"/>
              <a:defRPr/>
            </a:lvl6pPr>
            <a:lvl7pPr indent="-317500" lvl="6" marL="3200400" algn="l">
              <a:lnSpc>
                <a:spcPct val="90000"/>
              </a:lnSpc>
              <a:spcBef>
                <a:spcPts val="0"/>
              </a:spcBef>
              <a:spcAft>
                <a:spcPts val="0"/>
              </a:spcAft>
              <a:buClr>
                <a:schemeClr val="dk1"/>
              </a:buClr>
              <a:buSzPts val="1400"/>
              <a:buChar char="●"/>
              <a:defRPr/>
            </a:lvl7pPr>
            <a:lvl8pPr indent="-317500" lvl="7" marL="3657600" algn="l">
              <a:lnSpc>
                <a:spcPct val="90000"/>
              </a:lnSpc>
              <a:spcBef>
                <a:spcPts val="0"/>
              </a:spcBef>
              <a:spcAft>
                <a:spcPts val="0"/>
              </a:spcAft>
              <a:buClr>
                <a:schemeClr val="dk1"/>
              </a:buClr>
              <a:buSzPts val="1400"/>
              <a:buChar char="○"/>
              <a:defRPr/>
            </a:lvl8pPr>
            <a:lvl9pPr indent="-317500" lvl="8" marL="4114800" algn="l">
              <a:lnSpc>
                <a:spcPct val="90000"/>
              </a:lnSpc>
              <a:spcBef>
                <a:spcPts val="0"/>
              </a:spcBef>
              <a:spcAft>
                <a:spcPts val="0"/>
              </a:spcAft>
              <a:buClr>
                <a:schemeClr val="dk1"/>
              </a:buClr>
              <a:buSzPts val="1400"/>
              <a:buChar char="■"/>
              <a:defRPr/>
            </a:lvl9pPr>
          </a:lstStyle>
          <a:p/>
        </p:txBody>
      </p:sp>
      <p:sp>
        <p:nvSpPr>
          <p:cNvPr id="36" name="Google Shape;36;p3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rgbClr val="888888"/>
              </a:buClr>
              <a:buSzPts val="1200"/>
              <a:buFont typeface="Calibri"/>
              <a:buNone/>
              <a:defRPr sz="1200">
                <a:solidFill>
                  <a:srgbClr val="888888"/>
                </a:solidFill>
                <a:latin typeface="Calibri"/>
                <a:ea typeface="Calibri"/>
                <a:cs typeface="Calibri"/>
                <a:sym typeface="Calibri"/>
              </a:defRPr>
            </a:lvl1pPr>
            <a:lvl2pPr indent="0" lvl="1" marL="0" algn="r">
              <a:buClr>
                <a:srgbClr val="888888"/>
              </a:buClr>
              <a:buSzPts val="1200"/>
              <a:buFont typeface="Calibri"/>
              <a:buNone/>
              <a:defRPr sz="1200">
                <a:solidFill>
                  <a:srgbClr val="888888"/>
                </a:solidFill>
                <a:latin typeface="Calibri"/>
                <a:ea typeface="Calibri"/>
                <a:cs typeface="Calibri"/>
                <a:sym typeface="Calibri"/>
              </a:defRPr>
            </a:lvl2pPr>
            <a:lvl3pPr indent="0" lvl="2" marL="0" algn="r">
              <a:buClr>
                <a:srgbClr val="888888"/>
              </a:buClr>
              <a:buSzPts val="1200"/>
              <a:buFont typeface="Calibri"/>
              <a:buNone/>
              <a:defRPr sz="1200">
                <a:solidFill>
                  <a:srgbClr val="888888"/>
                </a:solidFill>
                <a:latin typeface="Calibri"/>
                <a:ea typeface="Calibri"/>
                <a:cs typeface="Calibri"/>
                <a:sym typeface="Calibri"/>
              </a:defRPr>
            </a:lvl3pPr>
            <a:lvl4pPr indent="0" lvl="3" marL="0" algn="r">
              <a:buClr>
                <a:srgbClr val="888888"/>
              </a:buClr>
              <a:buSzPts val="1200"/>
              <a:buFont typeface="Calibri"/>
              <a:buNone/>
              <a:defRPr sz="1200">
                <a:solidFill>
                  <a:srgbClr val="888888"/>
                </a:solidFill>
                <a:latin typeface="Calibri"/>
                <a:ea typeface="Calibri"/>
                <a:cs typeface="Calibri"/>
                <a:sym typeface="Calibri"/>
              </a:defRPr>
            </a:lvl4pPr>
            <a:lvl5pPr indent="0" lvl="4" marL="0" algn="r">
              <a:buClr>
                <a:srgbClr val="888888"/>
              </a:buClr>
              <a:buSzPts val="1200"/>
              <a:buFont typeface="Calibri"/>
              <a:buNone/>
              <a:defRPr sz="1200">
                <a:solidFill>
                  <a:srgbClr val="888888"/>
                </a:solidFill>
                <a:latin typeface="Calibri"/>
                <a:ea typeface="Calibri"/>
                <a:cs typeface="Calibri"/>
                <a:sym typeface="Calibri"/>
              </a:defRPr>
            </a:lvl5pPr>
            <a:lvl6pPr indent="0" lvl="5" marL="0" algn="r">
              <a:buClr>
                <a:srgbClr val="888888"/>
              </a:buClr>
              <a:buSzPts val="1200"/>
              <a:buFont typeface="Calibri"/>
              <a:buNone/>
              <a:defRPr sz="1200">
                <a:solidFill>
                  <a:srgbClr val="888888"/>
                </a:solidFill>
                <a:latin typeface="Calibri"/>
                <a:ea typeface="Calibri"/>
                <a:cs typeface="Calibri"/>
                <a:sym typeface="Calibri"/>
              </a:defRPr>
            </a:lvl6pPr>
            <a:lvl7pPr indent="0" lvl="6" marL="0" algn="r">
              <a:buClr>
                <a:srgbClr val="888888"/>
              </a:buClr>
              <a:buSzPts val="1200"/>
              <a:buFont typeface="Calibri"/>
              <a:buNone/>
              <a:defRPr sz="1200">
                <a:solidFill>
                  <a:srgbClr val="888888"/>
                </a:solidFill>
                <a:latin typeface="Calibri"/>
                <a:ea typeface="Calibri"/>
                <a:cs typeface="Calibri"/>
                <a:sym typeface="Calibri"/>
              </a:defRPr>
            </a:lvl7pPr>
            <a:lvl8pPr indent="0" lvl="7" marL="0" algn="r">
              <a:buClr>
                <a:srgbClr val="888888"/>
              </a:buClr>
              <a:buSzPts val="1200"/>
              <a:buFont typeface="Calibri"/>
              <a:buNone/>
              <a:defRPr sz="1200">
                <a:solidFill>
                  <a:srgbClr val="888888"/>
                </a:solidFill>
                <a:latin typeface="Calibri"/>
                <a:ea typeface="Calibri"/>
                <a:cs typeface="Calibri"/>
                <a:sym typeface="Calibri"/>
              </a:defRPr>
            </a:lvl8pPr>
            <a:lvl9pPr indent="0" lvl="8" marL="0" algn="r">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 name="Shape 37"/>
        <p:cNvGrpSpPr/>
        <p:nvPr/>
      </p:nvGrpSpPr>
      <p:grpSpPr>
        <a:xfrm>
          <a:off x="0" y="0"/>
          <a:ext cx="0" cy="0"/>
          <a:chOff x="0" y="0"/>
          <a:chExt cx="0" cy="0"/>
        </a:xfrm>
      </p:grpSpPr>
      <p:sp>
        <p:nvSpPr>
          <p:cNvPr id="38" name="Google Shape;38;p33"/>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Clr>
                <a:schemeClr val="dk1"/>
              </a:buClr>
              <a:buSzPts val="2800"/>
              <a:buFont typeface="Calibri"/>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 name="Google Shape;39;p33"/>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90000"/>
              </a:lnSpc>
              <a:spcBef>
                <a:spcPts val="0"/>
              </a:spcBef>
              <a:spcAft>
                <a:spcPts val="0"/>
              </a:spcAft>
              <a:buClr>
                <a:schemeClr val="dk1"/>
              </a:buClr>
              <a:buSzPts val="1400"/>
              <a:buChar char="●"/>
              <a:defRPr sz="1867"/>
            </a:lvl1pPr>
            <a:lvl2pPr indent="-304800" lvl="1" marL="914400" algn="l">
              <a:lnSpc>
                <a:spcPct val="90000"/>
              </a:lnSpc>
              <a:spcBef>
                <a:spcPts val="0"/>
              </a:spcBef>
              <a:spcAft>
                <a:spcPts val="0"/>
              </a:spcAft>
              <a:buClr>
                <a:schemeClr val="dk1"/>
              </a:buClr>
              <a:buSzPts val="1200"/>
              <a:buChar char="○"/>
              <a:defRPr sz="1600"/>
            </a:lvl2pPr>
            <a:lvl3pPr indent="-304800" lvl="2" marL="1371600" algn="l">
              <a:lnSpc>
                <a:spcPct val="90000"/>
              </a:lnSpc>
              <a:spcBef>
                <a:spcPts val="0"/>
              </a:spcBef>
              <a:spcAft>
                <a:spcPts val="0"/>
              </a:spcAft>
              <a:buClr>
                <a:schemeClr val="dk1"/>
              </a:buClr>
              <a:buSzPts val="1200"/>
              <a:buChar char="■"/>
              <a:defRPr sz="1600"/>
            </a:lvl3pPr>
            <a:lvl4pPr indent="-304800" lvl="3" marL="1828800" algn="l">
              <a:lnSpc>
                <a:spcPct val="90000"/>
              </a:lnSpc>
              <a:spcBef>
                <a:spcPts val="0"/>
              </a:spcBef>
              <a:spcAft>
                <a:spcPts val="0"/>
              </a:spcAft>
              <a:buClr>
                <a:schemeClr val="dk1"/>
              </a:buClr>
              <a:buSzPts val="1200"/>
              <a:buChar char="●"/>
              <a:defRPr sz="1600"/>
            </a:lvl4pPr>
            <a:lvl5pPr indent="-304800" lvl="4" marL="2286000" algn="l">
              <a:lnSpc>
                <a:spcPct val="90000"/>
              </a:lnSpc>
              <a:spcBef>
                <a:spcPts val="0"/>
              </a:spcBef>
              <a:spcAft>
                <a:spcPts val="0"/>
              </a:spcAft>
              <a:buClr>
                <a:schemeClr val="dk1"/>
              </a:buClr>
              <a:buSzPts val="1200"/>
              <a:buChar char="○"/>
              <a:defRPr sz="1600"/>
            </a:lvl5pPr>
            <a:lvl6pPr indent="-304800" lvl="5" marL="2743200" algn="l">
              <a:lnSpc>
                <a:spcPct val="90000"/>
              </a:lnSpc>
              <a:spcBef>
                <a:spcPts val="0"/>
              </a:spcBef>
              <a:spcAft>
                <a:spcPts val="0"/>
              </a:spcAft>
              <a:buClr>
                <a:schemeClr val="dk1"/>
              </a:buClr>
              <a:buSzPts val="1200"/>
              <a:buChar char="■"/>
              <a:defRPr sz="1600"/>
            </a:lvl6pPr>
            <a:lvl7pPr indent="-304800" lvl="6" marL="3200400" algn="l">
              <a:lnSpc>
                <a:spcPct val="90000"/>
              </a:lnSpc>
              <a:spcBef>
                <a:spcPts val="0"/>
              </a:spcBef>
              <a:spcAft>
                <a:spcPts val="0"/>
              </a:spcAft>
              <a:buClr>
                <a:schemeClr val="dk1"/>
              </a:buClr>
              <a:buSzPts val="1200"/>
              <a:buChar char="●"/>
              <a:defRPr sz="1600"/>
            </a:lvl7pPr>
            <a:lvl8pPr indent="-304800" lvl="7" marL="3657600" algn="l">
              <a:lnSpc>
                <a:spcPct val="90000"/>
              </a:lnSpc>
              <a:spcBef>
                <a:spcPts val="0"/>
              </a:spcBef>
              <a:spcAft>
                <a:spcPts val="0"/>
              </a:spcAft>
              <a:buClr>
                <a:schemeClr val="dk1"/>
              </a:buClr>
              <a:buSzPts val="1200"/>
              <a:buChar char="○"/>
              <a:defRPr sz="1600"/>
            </a:lvl8pPr>
            <a:lvl9pPr indent="-304800" lvl="8" marL="4114800" algn="l">
              <a:lnSpc>
                <a:spcPct val="90000"/>
              </a:lnSpc>
              <a:spcBef>
                <a:spcPts val="0"/>
              </a:spcBef>
              <a:spcAft>
                <a:spcPts val="0"/>
              </a:spcAft>
              <a:buClr>
                <a:schemeClr val="dk1"/>
              </a:buClr>
              <a:buSzPts val="1200"/>
              <a:buChar char="■"/>
              <a:defRPr sz="1600"/>
            </a:lvl9pPr>
          </a:lstStyle>
          <a:p/>
        </p:txBody>
      </p:sp>
      <p:sp>
        <p:nvSpPr>
          <p:cNvPr id="40" name="Google Shape;40;p33"/>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90000"/>
              </a:lnSpc>
              <a:spcBef>
                <a:spcPts val="0"/>
              </a:spcBef>
              <a:spcAft>
                <a:spcPts val="0"/>
              </a:spcAft>
              <a:buClr>
                <a:schemeClr val="dk1"/>
              </a:buClr>
              <a:buSzPts val="1400"/>
              <a:buChar char="●"/>
              <a:defRPr sz="1867"/>
            </a:lvl1pPr>
            <a:lvl2pPr indent="-304800" lvl="1" marL="914400" algn="l">
              <a:lnSpc>
                <a:spcPct val="90000"/>
              </a:lnSpc>
              <a:spcBef>
                <a:spcPts val="0"/>
              </a:spcBef>
              <a:spcAft>
                <a:spcPts val="0"/>
              </a:spcAft>
              <a:buClr>
                <a:schemeClr val="dk1"/>
              </a:buClr>
              <a:buSzPts val="1200"/>
              <a:buChar char="○"/>
              <a:defRPr sz="1600"/>
            </a:lvl2pPr>
            <a:lvl3pPr indent="-304800" lvl="2" marL="1371600" algn="l">
              <a:lnSpc>
                <a:spcPct val="90000"/>
              </a:lnSpc>
              <a:spcBef>
                <a:spcPts val="0"/>
              </a:spcBef>
              <a:spcAft>
                <a:spcPts val="0"/>
              </a:spcAft>
              <a:buClr>
                <a:schemeClr val="dk1"/>
              </a:buClr>
              <a:buSzPts val="1200"/>
              <a:buChar char="■"/>
              <a:defRPr sz="1600"/>
            </a:lvl3pPr>
            <a:lvl4pPr indent="-304800" lvl="3" marL="1828800" algn="l">
              <a:lnSpc>
                <a:spcPct val="90000"/>
              </a:lnSpc>
              <a:spcBef>
                <a:spcPts val="0"/>
              </a:spcBef>
              <a:spcAft>
                <a:spcPts val="0"/>
              </a:spcAft>
              <a:buClr>
                <a:schemeClr val="dk1"/>
              </a:buClr>
              <a:buSzPts val="1200"/>
              <a:buChar char="●"/>
              <a:defRPr sz="1600"/>
            </a:lvl4pPr>
            <a:lvl5pPr indent="-304800" lvl="4" marL="2286000" algn="l">
              <a:lnSpc>
                <a:spcPct val="90000"/>
              </a:lnSpc>
              <a:spcBef>
                <a:spcPts val="0"/>
              </a:spcBef>
              <a:spcAft>
                <a:spcPts val="0"/>
              </a:spcAft>
              <a:buClr>
                <a:schemeClr val="dk1"/>
              </a:buClr>
              <a:buSzPts val="1200"/>
              <a:buChar char="○"/>
              <a:defRPr sz="1600"/>
            </a:lvl5pPr>
            <a:lvl6pPr indent="-304800" lvl="5" marL="2743200" algn="l">
              <a:lnSpc>
                <a:spcPct val="90000"/>
              </a:lnSpc>
              <a:spcBef>
                <a:spcPts val="0"/>
              </a:spcBef>
              <a:spcAft>
                <a:spcPts val="0"/>
              </a:spcAft>
              <a:buClr>
                <a:schemeClr val="dk1"/>
              </a:buClr>
              <a:buSzPts val="1200"/>
              <a:buChar char="■"/>
              <a:defRPr sz="1600"/>
            </a:lvl6pPr>
            <a:lvl7pPr indent="-304800" lvl="6" marL="3200400" algn="l">
              <a:lnSpc>
                <a:spcPct val="90000"/>
              </a:lnSpc>
              <a:spcBef>
                <a:spcPts val="0"/>
              </a:spcBef>
              <a:spcAft>
                <a:spcPts val="0"/>
              </a:spcAft>
              <a:buClr>
                <a:schemeClr val="dk1"/>
              </a:buClr>
              <a:buSzPts val="1200"/>
              <a:buChar char="●"/>
              <a:defRPr sz="1600"/>
            </a:lvl7pPr>
            <a:lvl8pPr indent="-304800" lvl="7" marL="3657600" algn="l">
              <a:lnSpc>
                <a:spcPct val="90000"/>
              </a:lnSpc>
              <a:spcBef>
                <a:spcPts val="0"/>
              </a:spcBef>
              <a:spcAft>
                <a:spcPts val="0"/>
              </a:spcAft>
              <a:buClr>
                <a:schemeClr val="dk1"/>
              </a:buClr>
              <a:buSzPts val="1200"/>
              <a:buChar char="○"/>
              <a:defRPr sz="1600"/>
            </a:lvl8pPr>
            <a:lvl9pPr indent="-304800" lvl="8" marL="4114800" algn="l">
              <a:lnSpc>
                <a:spcPct val="90000"/>
              </a:lnSpc>
              <a:spcBef>
                <a:spcPts val="0"/>
              </a:spcBef>
              <a:spcAft>
                <a:spcPts val="0"/>
              </a:spcAft>
              <a:buClr>
                <a:schemeClr val="dk1"/>
              </a:buClr>
              <a:buSzPts val="1200"/>
              <a:buChar char="■"/>
              <a:defRPr sz="1600"/>
            </a:lvl9pPr>
          </a:lstStyle>
          <a:p/>
        </p:txBody>
      </p:sp>
      <p:sp>
        <p:nvSpPr>
          <p:cNvPr id="41" name="Google Shape;41;p3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rgbClr val="888888"/>
              </a:buClr>
              <a:buSzPts val="1200"/>
              <a:buFont typeface="Calibri"/>
              <a:buNone/>
              <a:defRPr sz="1200">
                <a:solidFill>
                  <a:srgbClr val="888888"/>
                </a:solidFill>
                <a:latin typeface="Calibri"/>
                <a:ea typeface="Calibri"/>
                <a:cs typeface="Calibri"/>
                <a:sym typeface="Calibri"/>
              </a:defRPr>
            </a:lvl1pPr>
            <a:lvl2pPr indent="0" lvl="1" marL="0" algn="r">
              <a:buClr>
                <a:srgbClr val="888888"/>
              </a:buClr>
              <a:buSzPts val="1200"/>
              <a:buFont typeface="Calibri"/>
              <a:buNone/>
              <a:defRPr sz="1200">
                <a:solidFill>
                  <a:srgbClr val="888888"/>
                </a:solidFill>
                <a:latin typeface="Calibri"/>
                <a:ea typeface="Calibri"/>
                <a:cs typeface="Calibri"/>
                <a:sym typeface="Calibri"/>
              </a:defRPr>
            </a:lvl2pPr>
            <a:lvl3pPr indent="0" lvl="2" marL="0" algn="r">
              <a:buClr>
                <a:srgbClr val="888888"/>
              </a:buClr>
              <a:buSzPts val="1200"/>
              <a:buFont typeface="Calibri"/>
              <a:buNone/>
              <a:defRPr sz="1200">
                <a:solidFill>
                  <a:srgbClr val="888888"/>
                </a:solidFill>
                <a:latin typeface="Calibri"/>
                <a:ea typeface="Calibri"/>
                <a:cs typeface="Calibri"/>
                <a:sym typeface="Calibri"/>
              </a:defRPr>
            </a:lvl3pPr>
            <a:lvl4pPr indent="0" lvl="3" marL="0" algn="r">
              <a:buClr>
                <a:srgbClr val="888888"/>
              </a:buClr>
              <a:buSzPts val="1200"/>
              <a:buFont typeface="Calibri"/>
              <a:buNone/>
              <a:defRPr sz="1200">
                <a:solidFill>
                  <a:srgbClr val="888888"/>
                </a:solidFill>
                <a:latin typeface="Calibri"/>
                <a:ea typeface="Calibri"/>
                <a:cs typeface="Calibri"/>
                <a:sym typeface="Calibri"/>
              </a:defRPr>
            </a:lvl4pPr>
            <a:lvl5pPr indent="0" lvl="4" marL="0" algn="r">
              <a:buClr>
                <a:srgbClr val="888888"/>
              </a:buClr>
              <a:buSzPts val="1200"/>
              <a:buFont typeface="Calibri"/>
              <a:buNone/>
              <a:defRPr sz="1200">
                <a:solidFill>
                  <a:srgbClr val="888888"/>
                </a:solidFill>
                <a:latin typeface="Calibri"/>
                <a:ea typeface="Calibri"/>
                <a:cs typeface="Calibri"/>
                <a:sym typeface="Calibri"/>
              </a:defRPr>
            </a:lvl5pPr>
            <a:lvl6pPr indent="0" lvl="5" marL="0" algn="r">
              <a:buClr>
                <a:srgbClr val="888888"/>
              </a:buClr>
              <a:buSzPts val="1200"/>
              <a:buFont typeface="Calibri"/>
              <a:buNone/>
              <a:defRPr sz="1200">
                <a:solidFill>
                  <a:srgbClr val="888888"/>
                </a:solidFill>
                <a:latin typeface="Calibri"/>
                <a:ea typeface="Calibri"/>
                <a:cs typeface="Calibri"/>
                <a:sym typeface="Calibri"/>
              </a:defRPr>
            </a:lvl6pPr>
            <a:lvl7pPr indent="0" lvl="6" marL="0" algn="r">
              <a:buClr>
                <a:srgbClr val="888888"/>
              </a:buClr>
              <a:buSzPts val="1200"/>
              <a:buFont typeface="Calibri"/>
              <a:buNone/>
              <a:defRPr sz="1200">
                <a:solidFill>
                  <a:srgbClr val="888888"/>
                </a:solidFill>
                <a:latin typeface="Calibri"/>
                <a:ea typeface="Calibri"/>
                <a:cs typeface="Calibri"/>
                <a:sym typeface="Calibri"/>
              </a:defRPr>
            </a:lvl7pPr>
            <a:lvl8pPr indent="0" lvl="7" marL="0" algn="r">
              <a:buClr>
                <a:srgbClr val="888888"/>
              </a:buClr>
              <a:buSzPts val="1200"/>
              <a:buFont typeface="Calibri"/>
              <a:buNone/>
              <a:defRPr sz="1200">
                <a:solidFill>
                  <a:srgbClr val="888888"/>
                </a:solidFill>
                <a:latin typeface="Calibri"/>
                <a:ea typeface="Calibri"/>
                <a:cs typeface="Calibri"/>
                <a:sym typeface="Calibri"/>
              </a:defRPr>
            </a:lvl8pPr>
            <a:lvl9pPr indent="0" lvl="8" marL="0" algn="r">
              <a:buClr>
                <a:srgbClr val="888888"/>
              </a:buClr>
              <a:buSzPts val="1200"/>
              <a:buFont typeface="Calibri"/>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2" name="Shape 42"/>
        <p:cNvGrpSpPr/>
        <p:nvPr/>
      </p:nvGrpSpPr>
      <p:grpSpPr>
        <a:xfrm>
          <a:off x="0" y="0"/>
          <a:ext cx="0" cy="0"/>
          <a:chOff x="0" y="0"/>
          <a:chExt cx="0" cy="0"/>
        </a:xfrm>
      </p:grpSpPr>
      <p:sp>
        <p:nvSpPr>
          <p:cNvPr id="43" name="Google Shape;43;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34"/>
          <p:cNvSpPr/>
          <p:nvPr>
            <p:ph idx="2" type="pic"/>
          </p:nvPr>
        </p:nvSpPr>
        <p:spPr>
          <a:xfrm>
            <a:off x="5183188" y="987425"/>
            <a:ext cx="6172200" cy="4873625"/>
          </a:xfrm>
          <a:prstGeom prst="rect">
            <a:avLst/>
          </a:prstGeom>
          <a:noFill/>
          <a:ln>
            <a:noFill/>
          </a:ln>
        </p:spPr>
      </p:sp>
      <p:sp>
        <p:nvSpPr>
          <p:cNvPr id="45" name="Google Shape;45;p3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6" name="Google Shape;46;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3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6" name="Google Shape;56;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9" name="Shape 59"/>
        <p:cNvGrpSpPr/>
        <p:nvPr/>
      </p:nvGrpSpPr>
      <p:grpSpPr>
        <a:xfrm>
          <a:off x="0" y="0"/>
          <a:ext cx="0" cy="0"/>
          <a:chOff x="0" y="0"/>
          <a:chExt cx="0" cy="0"/>
        </a:xfrm>
      </p:grpSpPr>
      <p:sp>
        <p:nvSpPr>
          <p:cNvPr id="60" name="Google Shape;60;p3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3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2" name="Google Shape;62;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5" name="Shape 65"/>
        <p:cNvGrpSpPr/>
        <p:nvPr/>
      </p:nvGrpSpPr>
      <p:grpSpPr>
        <a:xfrm>
          <a:off x="0" y="0"/>
          <a:ext cx="0" cy="0"/>
          <a:chOff x="0" y="0"/>
          <a:chExt cx="0" cy="0"/>
        </a:xfrm>
      </p:grpSpPr>
      <p:sp>
        <p:nvSpPr>
          <p:cNvPr id="66" name="Google Shape;66;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3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4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0" name="Google Shape;80;p4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4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4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4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1.png"/><Relationship Id="rId5"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2.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39.png"/><Relationship Id="rId5"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6.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title"/>
          </p:nvPr>
        </p:nvSpPr>
        <p:spPr>
          <a:xfrm>
            <a:off x="7472119" y="568171"/>
            <a:ext cx="4144160" cy="3249227"/>
          </a:xfrm>
          <a:prstGeom prst="rect">
            <a:avLst/>
          </a:prstGeom>
          <a:noFill/>
          <a:ln>
            <a:noFill/>
          </a:ln>
        </p:spPr>
        <p:txBody>
          <a:bodyPr anchorCtr="0" anchor="ctr" bIns="121900" lIns="121900" spcFirstLastPara="1" rIns="121900" wrap="square" tIns="121900">
            <a:normAutofit/>
          </a:bodyPr>
          <a:lstStyle/>
          <a:p>
            <a:pPr indent="0" lvl="0" marL="0" rtl="0" algn="ctr">
              <a:lnSpc>
                <a:spcPct val="90000"/>
              </a:lnSpc>
              <a:spcBef>
                <a:spcPts val="0"/>
              </a:spcBef>
              <a:spcAft>
                <a:spcPts val="0"/>
              </a:spcAft>
              <a:buClr>
                <a:schemeClr val="dk1"/>
              </a:buClr>
              <a:buSzPts val="3600"/>
              <a:buFont typeface="Times New Roman"/>
              <a:buNone/>
            </a:pPr>
            <a:r>
              <a:rPr b="1" lang="en-US" sz="4400">
                <a:latin typeface="Times New Roman"/>
                <a:ea typeface="Times New Roman"/>
                <a:cs typeface="Times New Roman"/>
                <a:sym typeface="Times New Roman"/>
              </a:rPr>
              <a:t>Growth of Over the top(OTT) and Factors Affecting It</a:t>
            </a:r>
            <a:endParaRPr b="1" sz="4400">
              <a:latin typeface="Times New Roman"/>
              <a:ea typeface="Times New Roman"/>
              <a:cs typeface="Times New Roman"/>
              <a:sym typeface="Times New Roman"/>
            </a:endParaRPr>
          </a:p>
        </p:txBody>
      </p:sp>
      <p:sp>
        <p:nvSpPr>
          <p:cNvPr id="101" name="Google Shape;101;p1"/>
          <p:cNvSpPr txBox="1"/>
          <p:nvPr/>
        </p:nvSpPr>
        <p:spPr>
          <a:xfrm>
            <a:off x="917700" y="493367"/>
            <a:ext cx="10775600" cy="615513"/>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id="102" name="Google Shape;102;p1"/>
          <p:cNvPicPr preferRelativeResize="0"/>
          <p:nvPr/>
        </p:nvPicPr>
        <p:blipFill rotWithShape="1">
          <a:blip r:embed="rId3">
            <a:alphaModFix/>
          </a:blip>
          <a:srcRect b="0" l="0" r="0" t="0"/>
          <a:stretch/>
        </p:blipFill>
        <p:spPr>
          <a:xfrm>
            <a:off x="115410" y="568171"/>
            <a:ext cx="7279689" cy="5539666"/>
          </a:xfrm>
          <a:prstGeom prst="rect">
            <a:avLst/>
          </a:prstGeom>
          <a:noFill/>
          <a:ln>
            <a:noFill/>
          </a:ln>
        </p:spPr>
      </p:pic>
      <p:sp>
        <p:nvSpPr>
          <p:cNvPr id="103" name="Google Shape;103;p1"/>
          <p:cNvSpPr txBox="1"/>
          <p:nvPr/>
        </p:nvSpPr>
        <p:spPr>
          <a:xfrm>
            <a:off x="8657136" y="4028099"/>
            <a:ext cx="3036164"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Project by-</a:t>
            </a:r>
            <a:endParaRPr/>
          </a:p>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Komal Parab (12)</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Krishna Barfiwala (10)</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Maunika Shripati (19)</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Shweta Singh (21)</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EXPLORATROY DATA ANALYSIS </a:t>
            </a:r>
            <a:endParaRPr/>
          </a:p>
        </p:txBody>
      </p:sp>
      <p:sp>
        <p:nvSpPr>
          <p:cNvPr id="109" name="Google Shape;109;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000000"/>
              </a:buClr>
              <a:buSzPts val="1800"/>
              <a:buChar char="•"/>
            </a:pPr>
            <a:r>
              <a:rPr b="1" lang="en-US" sz="1800">
                <a:solidFill>
                  <a:srgbClr val="000000"/>
                </a:solidFill>
                <a:latin typeface="Times New Roman"/>
                <a:ea typeface="Times New Roman"/>
                <a:cs typeface="Times New Roman"/>
                <a:sym typeface="Times New Roman"/>
              </a:rPr>
              <a:t>AWARENESS ABOUT OTT PLATFORMS AND USAGE OF OTT PLATFORMS </a:t>
            </a:r>
            <a:endParaRPr sz="1800">
              <a:solidFill>
                <a:srgbClr val="000000"/>
              </a:solidFill>
              <a:latin typeface="Calibri"/>
              <a:ea typeface="Calibri"/>
              <a:cs typeface="Calibri"/>
              <a:sym typeface="Calibri"/>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0" lvl="0" marL="0" marR="0" rtl="0" algn="l">
              <a:lnSpc>
                <a:spcPct val="107000"/>
              </a:lnSpc>
              <a:spcBef>
                <a:spcPts val="0"/>
              </a:spcBef>
              <a:spcAft>
                <a:spcPts val="0"/>
              </a:spcAft>
              <a:buClr>
                <a:srgbClr val="000000"/>
              </a:buClr>
              <a:buSzPts val="1800"/>
              <a:buChar char="•"/>
            </a:pPr>
            <a:r>
              <a:rPr b="1" lang="en-US" sz="1800" u="sng">
                <a:solidFill>
                  <a:srgbClr val="000000"/>
                </a:solidFill>
                <a:latin typeface="Times New Roman"/>
                <a:ea typeface="Times New Roman"/>
                <a:cs typeface="Times New Roman"/>
                <a:sym typeface="Times New Roman"/>
              </a:rPr>
              <a:t>Interpretation</a:t>
            </a:r>
            <a:r>
              <a:rPr b="1" lang="en-US" sz="1800">
                <a:solidFill>
                  <a:srgbClr val="000000"/>
                </a:solidFill>
                <a:latin typeface="Times New Roman"/>
                <a:ea typeface="Times New Roman"/>
                <a:cs typeface="Times New Roman"/>
                <a:sym typeface="Times New Roman"/>
              </a:rPr>
              <a:t>:</a:t>
            </a:r>
            <a:endParaRPr sz="1800">
              <a:latin typeface="Calibri"/>
              <a:ea typeface="Calibri"/>
              <a:cs typeface="Calibri"/>
              <a:sym typeface="Calibri"/>
            </a:endParaRPr>
          </a:p>
          <a:p>
            <a:pPr indent="0" lvl="0" marL="0" marR="0" rtl="0" algn="l">
              <a:lnSpc>
                <a:spcPct val="107000"/>
              </a:lnSpc>
              <a:spcBef>
                <a:spcPts val="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 88% of the people are aware of OTT platforms of which 73.55% use them. From this it is seen that there are few people who do not use OTT platforms even though they are aware of them. 35% (220 people) of the sample do not use OTT. 87% of the viewers gain knowledge from the content they watch on OTT. </a:t>
            </a:r>
            <a:endParaRPr sz="1800">
              <a:latin typeface="Calibri"/>
              <a:ea typeface="Calibri"/>
              <a:cs typeface="Calibri"/>
              <a:sym typeface="Calibri"/>
            </a:endParaRPr>
          </a:p>
          <a:p>
            <a:pPr indent="0" lvl="0" marL="0" rtl="0" algn="l">
              <a:lnSpc>
                <a:spcPct val="90000"/>
              </a:lnSpc>
              <a:spcBef>
                <a:spcPts val="1000"/>
              </a:spcBef>
              <a:spcAft>
                <a:spcPts val="0"/>
              </a:spcAft>
              <a:buClr>
                <a:schemeClr val="dk1"/>
              </a:buClr>
              <a:buSzPts val="2800"/>
              <a:buNone/>
            </a:pPr>
            <a:r>
              <a:t/>
            </a:r>
            <a:endParaRPr/>
          </a:p>
        </p:txBody>
      </p:sp>
      <p:pic>
        <p:nvPicPr>
          <p:cNvPr id="110" name="Google Shape;110;p2"/>
          <p:cNvPicPr preferRelativeResize="0"/>
          <p:nvPr/>
        </p:nvPicPr>
        <p:blipFill rotWithShape="1">
          <a:blip r:embed="rId3">
            <a:alphaModFix/>
          </a:blip>
          <a:srcRect b="0" l="0" r="0" t="0"/>
          <a:stretch/>
        </p:blipFill>
        <p:spPr>
          <a:xfrm>
            <a:off x="557035" y="2362284"/>
            <a:ext cx="3686492" cy="2307367"/>
          </a:xfrm>
          <a:prstGeom prst="rect">
            <a:avLst/>
          </a:prstGeom>
          <a:noFill/>
          <a:ln>
            <a:noFill/>
          </a:ln>
        </p:spPr>
      </p:pic>
      <p:pic>
        <p:nvPicPr>
          <p:cNvPr id="111" name="Google Shape;111;p2"/>
          <p:cNvPicPr preferRelativeResize="0"/>
          <p:nvPr/>
        </p:nvPicPr>
        <p:blipFill rotWithShape="1">
          <a:blip r:embed="rId4">
            <a:alphaModFix/>
          </a:blip>
          <a:srcRect b="0" l="0" r="0" t="0"/>
          <a:stretch/>
        </p:blipFill>
        <p:spPr>
          <a:xfrm>
            <a:off x="4243526" y="2362281"/>
            <a:ext cx="3429035" cy="2307367"/>
          </a:xfrm>
          <a:prstGeom prst="rect">
            <a:avLst/>
          </a:prstGeom>
          <a:noFill/>
          <a:ln>
            <a:noFill/>
          </a:ln>
        </p:spPr>
      </p:pic>
      <p:pic>
        <p:nvPicPr>
          <p:cNvPr id="112" name="Google Shape;112;p2"/>
          <p:cNvPicPr preferRelativeResize="0"/>
          <p:nvPr/>
        </p:nvPicPr>
        <p:blipFill rotWithShape="1">
          <a:blip r:embed="rId5">
            <a:alphaModFix/>
          </a:blip>
          <a:srcRect b="0" l="0" r="0" t="0"/>
          <a:stretch/>
        </p:blipFill>
        <p:spPr>
          <a:xfrm>
            <a:off x="7672561" y="2362281"/>
            <a:ext cx="3504425" cy="230736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ph type="title"/>
          </p:nvPr>
        </p:nvSpPr>
        <p:spPr>
          <a:xfrm>
            <a:off x="839788" y="365125"/>
            <a:ext cx="10515600" cy="5212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
        <p:nvSpPr>
          <p:cNvPr id="118" name="Google Shape;118;p3"/>
          <p:cNvSpPr txBox="1"/>
          <p:nvPr>
            <p:ph idx="1" type="body"/>
          </p:nvPr>
        </p:nvSpPr>
        <p:spPr>
          <a:xfrm>
            <a:off x="16790" y="831657"/>
            <a:ext cx="3454103" cy="823912"/>
          </a:xfrm>
          <a:prstGeom prst="rect">
            <a:avLst/>
          </a:prstGeom>
          <a:noFill/>
          <a:ln>
            <a:noFill/>
          </a:ln>
        </p:spPr>
        <p:txBody>
          <a:bodyPr anchorCtr="0" anchor="b" bIns="45700" lIns="91425" spcFirstLastPara="1" rIns="91425" wrap="square" tIns="45700">
            <a:noAutofit/>
          </a:bodyPr>
          <a:lstStyle/>
          <a:p>
            <a:pPr indent="-285750" lvl="0" marL="285750" rtl="0" algn="l">
              <a:lnSpc>
                <a:spcPct val="90000"/>
              </a:lnSpc>
              <a:spcBef>
                <a:spcPts val="0"/>
              </a:spcBef>
              <a:spcAft>
                <a:spcPts val="0"/>
              </a:spcAft>
              <a:buClr>
                <a:srgbClr val="000000"/>
              </a:buClr>
              <a:buSzPts val="1800"/>
              <a:buFont typeface="Noto Sans Symbols"/>
              <a:buChar char="❑"/>
            </a:pPr>
            <a:r>
              <a:rPr b="1" lang="en-US" sz="1800">
                <a:solidFill>
                  <a:srgbClr val="000000"/>
                </a:solidFill>
                <a:latin typeface="Times New Roman"/>
                <a:ea typeface="Times New Roman"/>
                <a:cs typeface="Times New Roman"/>
                <a:sym typeface="Times New Roman"/>
              </a:rPr>
              <a:t>USING OTT PLATFORMS SINCE </a:t>
            </a:r>
            <a:endParaRPr sz="1800"/>
          </a:p>
        </p:txBody>
      </p:sp>
      <p:sp>
        <p:nvSpPr>
          <p:cNvPr id="119" name="Google Shape;119;p3"/>
          <p:cNvSpPr txBox="1"/>
          <p:nvPr>
            <p:ph idx="2" type="body"/>
          </p:nvPr>
        </p:nvSpPr>
        <p:spPr>
          <a:xfrm>
            <a:off x="161447" y="2022509"/>
            <a:ext cx="3718955" cy="3857785"/>
          </a:xfrm>
          <a:prstGeom prst="rect">
            <a:avLst/>
          </a:prstGeom>
          <a:noFill/>
          <a:ln>
            <a:noFill/>
          </a:ln>
        </p:spPr>
        <p:txBody>
          <a:bodyPr anchorCtr="0" anchor="t" bIns="45700" lIns="91425" spcFirstLastPara="1" rIns="91425" wrap="square" tIns="45700">
            <a:normAutofit/>
          </a:bodyPr>
          <a:lstStyle/>
          <a:p>
            <a:pPr indent="-114300" lvl="0" marL="228600" rtl="0" algn="l">
              <a:lnSpc>
                <a:spcPct val="90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Font typeface="Noto Sans Symbols"/>
              <a:buNone/>
            </a:pPr>
            <a:r>
              <a:t/>
            </a:r>
            <a:endParaRPr sz="1800">
              <a:solidFill>
                <a:srgbClr val="000000"/>
              </a:solidFill>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0000"/>
              </a:buClr>
              <a:buSzPts val="1800"/>
              <a:buFont typeface="Noto Sans Symbols"/>
              <a:buChar char="▪"/>
            </a:pPr>
            <a:r>
              <a:rPr lang="en-US" sz="1800">
                <a:solidFill>
                  <a:srgbClr val="000000"/>
                </a:solidFill>
                <a:latin typeface="Times New Roman"/>
                <a:ea typeface="Times New Roman"/>
                <a:cs typeface="Times New Roman"/>
                <a:sym typeface="Times New Roman"/>
              </a:rPr>
              <a:t>There is an increase of 39% subscriptions during Covid.</a:t>
            </a:r>
            <a:endParaRPr sz="1800">
              <a:latin typeface="Calibri"/>
              <a:ea typeface="Calibri"/>
              <a:cs typeface="Calibri"/>
              <a:sym typeface="Calibri"/>
            </a:endParaRPr>
          </a:p>
          <a:p>
            <a:pPr indent="0" lvl="0" marL="0" rtl="0" algn="l">
              <a:lnSpc>
                <a:spcPct val="90000"/>
              </a:lnSpc>
              <a:spcBef>
                <a:spcPts val="1000"/>
              </a:spcBef>
              <a:spcAft>
                <a:spcPts val="0"/>
              </a:spcAft>
              <a:buClr>
                <a:schemeClr val="dk1"/>
              </a:buClr>
              <a:buSzPts val="2800"/>
              <a:buNone/>
            </a:pPr>
            <a:r>
              <a:t/>
            </a:r>
            <a:endParaRPr/>
          </a:p>
        </p:txBody>
      </p:sp>
      <p:sp>
        <p:nvSpPr>
          <p:cNvPr id="120" name="Google Shape;120;p3"/>
          <p:cNvSpPr txBox="1"/>
          <p:nvPr>
            <p:ph idx="3" type="body"/>
          </p:nvPr>
        </p:nvSpPr>
        <p:spPr>
          <a:xfrm>
            <a:off x="3602105" y="854709"/>
            <a:ext cx="4472235" cy="582250"/>
          </a:xfrm>
          <a:prstGeom prst="rect">
            <a:avLst/>
          </a:prstGeom>
          <a:noFill/>
          <a:ln>
            <a:noFill/>
          </a:ln>
        </p:spPr>
        <p:txBody>
          <a:bodyPr anchorCtr="0" anchor="b" bIns="45700" lIns="91425" spcFirstLastPara="1" rIns="91425" wrap="square" tIns="45700">
            <a:normAutofit fontScale="85000" lnSpcReduction="10000"/>
          </a:bodyPr>
          <a:lstStyle/>
          <a:p>
            <a:pPr indent="-285750" lvl="0" marL="285750" marR="0" rtl="0" algn="l">
              <a:lnSpc>
                <a:spcPct val="107000"/>
              </a:lnSpc>
              <a:spcBef>
                <a:spcPts val="0"/>
              </a:spcBef>
              <a:spcAft>
                <a:spcPts val="0"/>
              </a:spcAft>
              <a:buClr>
                <a:srgbClr val="000000"/>
              </a:buClr>
              <a:buSzPct val="73529"/>
              <a:buFont typeface="Noto Sans Symbols"/>
              <a:buChar char="❑"/>
            </a:pPr>
            <a:r>
              <a:rPr b="1" lang="en-US" sz="1600">
                <a:solidFill>
                  <a:srgbClr val="000000"/>
                </a:solidFill>
                <a:latin typeface="Times New Roman"/>
                <a:ea typeface="Times New Roman"/>
                <a:cs typeface="Times New Roman"/>
                <a:sym typeface="Times New Roman"/>
              </a:rPr>
              <a:t>VIEWING HOURS BEFORE LOCKDOWN AND DURING LOCKDOWN DUE TO COVID-19  </a:t>
            </a:r>
            <a:endParaRPr sz="1600">
              <a:solidFill>
                <a:srgbClr val="000000"/>
              </a:solidFill>
              <a:latin typeface="Calibri"/>
              <a:ea typeface="Calibri"/>
              <a:cs typeface="Calibri"/>
              <a:sym typeface="Calibri"/>
            </a:endParaRPr>
          </a:p>
        </p:txBody>
      </p:sp>
      <p:sp>
        <p:nvSpPr>
          <p:cNvPr id="121" name="Google Shape;121;p3"/>
          <p:cNvSpPr txBox="1"/>
          <p:nvPr>
            <p:ph idx="4" type="body"/>
          </p:nvPr>
        </p:nvSpPr>
        <p:spPr>
          <a:xfrm>
            <a:off x="3717969" y="1963854"/>
            <a:ext cx="3956611" cy="4181383"/>
          </a:xfrm>
          <a:prstGeom prst="rect">
            <a:avLst/>
          </a:prstGeom>
          <a:noFill/>
          <a:ln>
            <a:noFill/>
          </a:ln>
        </p:spPr>
        <p:txBody>
          <a:bodyPr anchorCtr="0" anchor="t" bIns="45700" lIns="91425" spcFirstLastPara="1" rIns="91425" wrap="square" tIns="45700">
            <a:normAutofit/>
          </a:bodyPr>
          <a:lstStyle/>
          <a:p>
            <a:pPr indent="-114300" lvl="0" marL="228600" rtl="0" algn="l">
              <a:lnSpc>
                <a:spcPct val="90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0000"/>
              </a:buClr>
              <a:buSzPts val="1800"/>
              <a:buFont typeface="Noto Sans Symbols"/>
              <a:buChar char="▪"/>
            </a:pPr>
            <a:r>
              <a:rPr lang="en-US" sz="1800">
                <a:solidFill>
                  <a:srgbClr val="000000"/>
                </a:solidFill>
                <a:latin typeface="Times New Roman"/>
                <a:ea typeface="Times New Roman"/>
                <a:cs typeface="Times New Roman"/>
                <a:sym typeface="Times New Roman"/>
              </a:rPr>
              <a:t>The average number of viewing hours increased from 4.04 before Covid to 5.89 per week during Covid.</a:t>
            </a:r>
            <a:endParaRPr sz="1800">
              <a:latin typeface="Calibri"/>
              <a:ea typeface="Calibri"/>
              <a:cs typeface="Calibri"/>
              <a:sym typeface="Calibri"/>
            </a:endParaRPr>
          </a:p>
          <a:p>
            <a:pPr indent="-50800" lvl="0" marL="228600" rtl="0" algn="l">
              <a:lnSpc>
                <a:spcPct val="90000"/>
              </a:lnSpc>
              <a:spcBef>
                <a:spcPts val="1000"/>
              </a:spcBef>
              <a:spcAft>
                <a:spcPts val="0"/>
              </a:spcAft>
              <a:buClr>
                <a:schemeClr val="dk1"/>
              </a:buClr>
              <a:buSzPts val="2800"/>
              <a:buNone/>
            </a:pPr>
            <a:r>
              <a:t/>
            </a:r>
            <a:endParaRPr/>
          </a:p>
        </p:txBody>
      </p:sp>
      <p:pic>
        <p:nvPicPr>
          <p:cNvPr id="122" name="Google Shape;122;p3"/>
          <p:cNvPicPr preferRelativeResize="0"/>
          <p:nvPr/>
        </p:nvPicPr>
        <p:blipFill rotWithShape="1">
          <a:blip r:embed="rId3">
            <a:alphaModFix/>
          </a:blip>
          <a:srcRect b="0" l="0" r="0" t="0"/>
          <a:stretch/>
        </p:blipFill>
        <p:spPr>
          <a:xfrm>
            <a:off x="161447" y="1803692"/>
            <a:ext cx="3417903" cy="2752115"/>
          </a:xfrm>
          <a:prstGeom prst="rect">
            <a:avLst/>
          </a:prstGeom>
          <a:noFill/>
          <a:ln>
            <a:noFill/>
          </a:ln>
        </p:spPr>
      </p:pic>
      <p:pic>
        <p:nvPicPr>
          <p:cNvPr id="123" name="Google Shape;123;p3"/>
          <p:cNvPicPr preferRelativeResize="0"/>
          <p:nvPr/>
        </p:nvPicPr>
        <p:blipFill rotWithShape="1">
          <a:blip r:embed="rId4">
            <a:alphaModFix/>
          </a:blip>
          <a:srcRect b="0" l="0" r="0" t="0"/>
          <a:stretch/>
        </p:blipFill>
        <p:spPr>
          <a:xfrm>
            <a:off x="3940977" y="1655569"/>
            <a:ext cx="3888586" cy="2898491"/>
          </a:xfrm>
          <a:prstGeom prst="rect">
            <a:avLst/>
          </a:prstGeom>
          <a:noFill/>
          <a:ln>
            <a:noFill/>
          </a:ln>
        </p:spPr>
      </p:pic>
      <p:sp>
        <p:nvSpPr>
          <p:cNvPr id="124" name="Google Shape;124;p3"/>
          <p:cNvSpPr txBox="1"/>
          <p:nvPr/>
        </p:nvSpPr>
        <p:spPr>
          <a:xfrm>
            <a:off x="8191189" y="4374037"/>
            <a:ext cx="3705437" cy="244861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7000"/>
              </a:lnSpc>
              <a:spcBef>
                <a:spcPts val="0"/>
              </a:spcBef>
              <a:spcAft>
                <a:spcPts val="0"/>
              </a:spcAft>
              <a:buClr>
                <a:srgbClr val="000000"/>
              </a:buClr>
              <a:buSzPts val="1800"/>
              <a:buFont typeface="Noto Sans Symbols"/>
              <a:buChar char="▪"/>
            </a:pPr>
            <a:r>
              <a:rPr lang="en-US" sz="1800">
                <a:solidFill>
                  <a:srgbClr val="000000"/>
                </a:solidFill>
                <a:latin typeface="Times New Roman"/>
                <a:ea typeface="Times New Roman"/>
                <a:cs typeface="Times New Roman"/>
                <a:sym typeface="Times New Roman"/>
              </a:rPr>
              <a:t>Binge watch is an act of continuously watching for a long period of hours. </a:t>
            </a:r>
            <a:endParaRPr/>
          </a:p>
          <a:p>
            <a:pPr indent="-285750" lvl="0" marL="285750" marR="0" rtl="0" algn="l">
              <a:lnSpc>
                <a:spcPct val="107000"/>
              </a:lnSpc>
              <a:spcBef>
                <a:spcPts val="0"/>
              </a:spcBef>
              <a:spcAft>
                <a:spcPts val="0"/>
              </a:spcAft>
              <a:buClr>
                <a:srgbClr val="000000"/>
              </a:buClr>
              <a:buSzPts val="1800"/>
              <a:buFont typeface="Noto Sans Symbols"/>
              <a:buChar char="▪"/>
            </a:pPr>
            <a:r>
              <a:rPr lang="en-US" sz="1800">
                <a:solidFill>
                  <a:srgbClr val="000000"/>
                </a:solidFill>
                <a:latin typeface="Times New Roman"/>
                <a:ea typeface="Times New Roman"/>
                <a:cs typeface="Times New Roman"/>
                <a:sym typeface="Times New Roman"/>
              </a:rPr>
              <a:t>The percentage of Females who have gained weight is more than the percentage of Males who have gained weight due to Binge watching.</a:t>
            </a:r>
            <a:endParaRPr sz="1800">
              <a:solidFill>
                <a:schemeClr val="dk1"/>
              </a:solidFill>
              <a:latin typeface="Calibri"/>
              <a:ea typeface="Calibri"/>
              <a:cs typeface="Calibri"/>
              <a:sym typeface="Calibri"/>
            </a:endParaRPr>
          </a:p>
        </p:txBody>
      </p:sp>
      <p:pic>
        <p:nvPicPr>
          <p:cNvPr id="125" name="Google Shape;125;p3"/>
          <p:cNvPicPr preferRelativeResize="0"/>
          <p:nvPr/>
        </p:nvPicPr>
        <p:blipFill rotWithShape="1">
          <a:blip r:embed="rId5">
            <a:alphaModFix/>
          </a:blip>
          <a:srcRect b="0" l="0" r="0" t="0"/>
          <a:stretch/>
        </p:blipFill>
        <p:spPr>
          <a:xfrm>
            <a:off x="8191190" y="1572012"/>
            <a:ext cx="3532153" cy="2534087"/>
          </a:xfrm>
          <a:prstGeom prst="rect">
            <a:avLst/>
          </a:prstGeom>
          <a:noFill/>
          <a:ln>
            <a:noFill/>
          </a:ln>
        </p:spPr>
      </p:pic>
      <p:sp>
        <p:nvSpPr>
          <p:cNvPr id="126" name="Google Shape;126;p3"/>
          <p:cNvSpPr txBox="1"/>
          <p:nvPr/>
        </p:nvSpPr>
        <p:spPr>
          <a:xfrm>
            <a:off x="8125396" y="917611"/>
            <a:ext cx="3229992" cy="482632"/>
          </a:xfrm>
          <a:prstGeom prst="rect">
            <a:avLst/>
          </a:prstGeom>
          <a:noFill/>
          <a:ln>
            <a:noFill/>
          </a:ln>
        </p:spPr>
        <p:txBody>
          <a:bodyPr anchorCtr="0" anchor="b" bIns="45700" lIns="91425" spcFirstLastPara="1" rIns="91425" wrap="square" tIns="45700">
            <a:normAutofit fontScale="85000" lnSpcReduction="20000"/>
          </a:bodyPr>
          <a:lstStyle/>
          <a:p>
            <a:pPr indent="-285750" lvl="0" marL="285750" marR="0" rtl="0" algn="l">
              <a:lnSpc>
                <a:spcPct val="107000"/>
              </a:lnSpc>
              <a:spcBef>
                <a:spcPts val="0"/>
              </a:spcBef>
              <a:spcAft>
                <a:spcPts val="0"/>
              </a:spcAft>
              <a:buClr>
                <a:srgbClr val="000000"/>
              </a:buClr>
              <a:buSzPct val="73529"/>
              <a:buFont typeface="Noto Sans Symbols"/>
              <a:buChar char="❑"/>
            </a:pPr>
            <a:r>
              <a:rPr b="1" lang="en-US" sz="1600">
                <a:solidFill>
                  <a:srgbClr val="000000"/>
                </a:solidFill>
                <a:latin typeface="Times New Roman"/>
                <a:ea typeface="Times New Roman"/>
                <a:cs typeface="Times New Roman"/>
                <a:sym typeface="Times New Roman"/>
              </a:rPr>
              <a:t>GAINED WEIGHT DUE TO BINGE WATCHING</a:t>
            </a:r>
            <a:endParaRPr b="1" sz="1600">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4"/>
          <p:cNvSpPr txBox="1"/>
          <p:nvPr>
            <p:ph type="title"/>
          </p:nvPr>
        </p:nvSpPr>
        <p:spPr>
          <a:xfrm>
            <a:off x="839788" y="365125"/>
            <a:ext cx="10515600" cy="17220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
        <p:nvSpPr>
          <p:cNvPr id="132" name="Google Shape;132;p4"/>
          <p:cNvSpPr txBox="1"/>
          <p:nvPr>
            <p:ph idx="1" type="body"/>
          </p:nvPr>
        </p:nvSpPr>
        <p:spPr>
          <a:xfrm>
            <a:off x="538131" y="537328"/>
            <a:ext cx="5157787" cy="823912"/>
          </a:xfrm>
          <a:prstGeom prst="rect">
            <a:avLst/>
          </a:prstGeom>
          <a:noFill/>
          <a:ln>
            <a:noFill/>
          </a:ln>
        </p:spPr>
        <p:txBody>
          <a:bodyPr anchorCtr="0" anchor="b" bIns="45700" lIns="91425" spcFirstLastPara="1" rIns="91425" wrap="square" tIns="45700">
            <a:normAutofit/>
          </a:bodyPr>
          <a:lstStyle/>
          <a:p>
            <a:pPr indent="0" lvl="0" marL="0" marR="0" rtl="0" algn="l">
              <a:lnSpc>
                <a:spcPct val="107000"/>
              </a:lnSpc>
              <a:spcBef>
                <a:spcPts val="0"/>
              </a:spcBef>
              <a:spcAft>
                <a:spcPts val="0"/>
              </a:spcAft>
              <a:buClr>
                <a:schemeClr val="dk1"/>
              </a:buClr>
              <a:buSzPts val="1800"/>
              <a:buNone/>
            </a:pPr>
            <a:r>
              <a:rPr lang="en-US" sz="1800">
                <a:latin typeface="Times New Roman"/>
                <a:ea typeface="Times New Roman"/>
                <a:cs typeface="Times New Roman"/>
                <a:sym typeface="Times New Roman"/>
              </a:rPr>
              <a:t> </a:t>
            </a:r>
            <a:endParaRPr sz="1800">
              <a:latin typeface="Calibri"/>
              <a:ea typeface="Calibri"/>
              <a:cs typeface="Calibri"/>
              <a:sym typeface="Calibri"/>
            </a:endParaRPr>
          </a:p>
          <a:p>
            <a:pPr indent="-342900" lvl="0" marL="342900" marR="0" rtl="0" algn="l">
              <a:lnSpc>
                <a:spcPct val="107000"/>
              </a:lnSpc>
              <a:spcBef>
                <a:spcPts val="0"/>
              </a:spcBef>
              <a:spcAft>
                <a:spcPts val="0"/>
              </a:spcAft>
              <a:buClr>
                <a:srgbClr val="000000"/>
              </a:buClr>
              <a:buSzPts val="1000"/>
              <a:buFont typeface="Noto Sans Symbols"/>
              <a:buChar char="❑"/>
            </a:pPr>
            <a:r>
              <a:rPr b="1" lang="en-US">
                <a:solidFill>
                  <a:srgbClr val="000000"/>
                </a:solidFill>
                <a:latin typeface="Times New Roman"/>
                <a:ea typeface="Times New Roman"/>
                <a:cs typeface="Times New Roman"/>
                <a:sym typeface="Times New Roman"/>
              </a:rPr>
              <a:t>FUTURE OF OTT </a:t>
            </a:r>
            <a:endParaRPr>
              <a:solidFill>
                <a:srgbClr val="000000"/>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t/>
            </a:r>
            <a:endParaRPr/>
          </a:p>
        </p:txBody>
      </p:sp>
      <p:sp>
        <p:nvSpPr>
          <p:cNvPr id="133" name="Google Shape;133;p4"/>
          <p:cNvSpPr txBox="1"/>
          <p:nvPr>
            <p:ph idx="2" type="body"/>
          </p:nvPr>
        </p:nvSpPr>
        <p:spPr>
          <a:xfrm>
            <a:off x="254524" y="1159496"/>
            <a:ext cx="5743051" cy="5410985"/>
          </a:xfrm>
          <a:prstGeom prst="rect">
            <a:avLst/>
          </a:prstGeom>
          <a:noFill/>
          <a:ln>
            <a:noFill/>
          </a:ln>
        </p:spPr>
        <p:txBody>
          <a:bodyPr anchorCtr="0" anchor="t" bIns="45700" lIns="91425" spcFirstLastPara="1" rIns="91425" wrap="square" tIns="45700">
            <a:normAutofit/>
          </a:bodyPr>
          <a:lstStyle/>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57150" lvl="0" marL="57150" marR="0" rtl="0" algn="l">
              <a:lnSpc>
                <a:spcPct val="107000"/>
              </a:lnSpc>
              <a:spcBef>
                <a:spcPts val="0"/>
              </a:spcBef>
              <a:spcAft>
                <a:spcPts val="0"/>
              </a:spcAft>
              <a:buClr>
                <a:srgbClr val="000000"/>
              </a:buClr>
              <a:buSzPts val="1800"/>
              <a:buFont typeface="Noto Sans Symbols"/>
              <a:buChar char="▪"/>
            </a:pPr>
            <a:r>
              <a:rPr lang="en-US" sz="1800">
                <a:solidFill>
                  <a:srgbClr val="000000"/>
                </a:solidFill>
                <a:latin typeface="Times New Roman"/>
                <a:ea typeface="Times New Roman"/>
                <a:cs typeface="Times New Roman"/>
                <a:sym typeface="Times New Roman"/>
              </a:rPr>
              <a:t>Around 69% of the viewers are sure about continuing with OTT but only 48% feel that OTT will replace Television.</a:t>
            </a:r>
            <a:endParaRPr sz="1800">
              <a:latin typeface="Calibri"/>
              <a:ea typeface="Calibri"/>
              <a:cs typeface="Calibri"/>
              <a:sym typeface="Calibri"/>
            </a:endParaRPr>
          </a:p>
          <a:p>
            <a:pPr indent="-57150" lvl="0" marL="57150" marR="0" rtl="0" algn="l">
              <a:lnSpc>
                <a:spcPct val="107000"/>
              </a:lnSpc>
              <a:spcBef>
                <a:spcPts val="0"/>
              </a:spcBef>
              <a:spcAft>
                <a:spcPts val="0"/>
              </a:spcAft>
              <a:buClr>
                <a:srgbClr val="000000"/>
              </a:buClr>
              <a:buSzPts val="1800"/>
              <a:buFont typeface="Noto Sans Symbols"/>
              <a:buChar char="▪"/>
            </a:pPr>
            <a:r>
              <a:rPr lang="en-US" sz="1800">
                <a:solidFill>
                  <a:srgbClr val="000000"/>
                </a:solidFill>
                <a:latin typeface="Times New Roman"/>
                <a:ea typeface="Times New Roman"/>
                <a:cs typeface="Times New Roman"/>
                <a:sym typeface="Times New Roman"/>
              </a:rPr>
              <a:t>31% of the people are not sure about using OTT after Covid. </a:t>
            </a:r>
            <a:endParaRPr sz="1800">
              <a:latin typeface="Calibri"/>
              <a:ea typeface="Calibri"/>
              <a:cs typeface="Calibri"/>
              <a:sym typeface="Calibri"/>
            </a:endParaRPr>
          </a:p>
          <a:p>
            <a:pPr indent="-50800" lvl="0" marL="228600" rtl="0" algn="l">
              <a:lnSpc>
                <a:spcPct val="90000"/>
              </a:lnSpc>
              <a:spcBef>
                <a:spcPts val="1000"/>
              </a:spcBef>
              <a:spcAft>
                <a:spcPts val="0"/>
              </a:spcAft>
              <a:buClr>
                <a:schemeClr val="dk1"/>
              </a:buClr>
              <a:buSzPts val="2800"/>
              <a:buNone/>
            </a:pPr>
            <a:r>
              <a:t/>
            </a:r>
            <a:endParaRPr/>
          </a:p>
        </p:txBody>
      </p:sp>
      <p:sp>
        <p:nvSpPr>
          <p:cNvPr id="134" name="Google Shape;134;p4"/>
          <p:cNvSpPr txBox="1"/>
          <p:nvPr>
            <p:ph idx="3" type="body"/>
          </p:nvPr>
        </p:nvSpPr>
        <p:spPr>
          <a:xfrm>
            <a:off x="5852983" y="39270"/>
            <a:ext cx="5183188" cy="823912"/>
          </a:xfrm>
          <a:prstGeom prst="rect">
            <a:avLst/>
          </a:prstGeom>
          <a:noFill/>
          <a:ln>
            <a:noFill/>
          </a:ln>
        </p:spPr>
        <p:txBody>
          <a:bodyPr anchorCtr="0" anchor="b" bIns="45700" lIns="91425" spcFirstLastPara="1" rIns="91425" wrap="square" tIns="45700">
            <a:normAutofit/>
          </a:bodyPr>
          <a:lstStyle/>
          <a:p>
            <a:pPr indent="-342900" lvl="0" marL="342900" rtl="0" algn="l">
              <a:lnSpc>
                <a:spcPct val="90000"/>
              </a:lnSpc>
              <a:spcBef>
                <a:spcPts val="0"/>
              </a:spcBef>
              <a:spcAft>
                <a:spcPts val="0"/>
              </a:spcAft>
              <a:buClr>
                <a:srgbClr val="000000"/>
              </a:buClr>
              <a:buSzPts val="2100"/>
              <a:buFont typeface="Noto Sans Symbols"/>
              <a:buChar char="❑"/>
            </a:pPr>
            <a:r>
              <a:rPr b="1" lang="en-US" sz="2100">
                <a:solidFill>
                  <a:srgbClr val="000000"/>
                </a:solidFill>
                <a:latin typeface="Times New Roman"/>
                <a:ea typeface="Times New Roman"/>
                <a:cs typeface="Times New Roman"/>
                <a:sym typeface="Times New Roman"/>
              </a:rPr>
              <a:t>OTT PLATFORMS USED BY USERS </a:t>
            </a:r>
            <a:endParaRPr sz="2100">
              <a:solidFill>
                <a:srgbClr val="000000"/>
              </a:solidFill>
              <a:latin typeface="Calibri"/>
              <a:ea typeface="Calibri"/>
              <a:cs typeface="Calibri"/>
              <a:sym typeface="Calibri"/>
            </a:endParaRPr>
          </a:p>
        </p:txBody>
      </p:sp>
      <p:sp>
        <p:nvSpPr>
          <p:cNvPr id="135" name="Google Shape;135;p4"/>
          <p:cNvSpPr txBox="1"/>
          <p:nvPr>
            <p:ph idx="4" type="body"/>
          </p:nvPr>
        </p:nvSpPr>
        <p:spPr>
          <a:xfrm>
            <a:off x="5891753" y="1159496"/>
            <a:ext cx="5463635" cy="5030167"/>
          </a:xfrm>
          <a:prstGeom prst="rect">
            <a:avLst/>
          </a:prstGeom>
          <a:noFill/>
          <a:ln>
            <a:noFill/>
          </a:ln>
        </p:spPr>
        <p:txBody>
          <a:bodyPr anchorCtr="0" anchor="t" bIns="45700" lIns="91425" spcFirstLastPara="1" rIns="91425" wrap="square" tIns="45700">
            <a:normAutofit/>
          </a:bodyPr>
          <a:lstStyle/>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11430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0" lvl="0" marL="0" marR="0" rtl="0" algn="l">
              <a:lnSpc>
                <a:spcPct val="107000"/>
              </a:lnSpc>
              <a:spcBef>
                <a:spcPts val="0"/>
              </a:spcBef>
              <a:spcAft>
                <a:spcPts val="0"/>
              </a:spcAft>
              <a:buClr>
                <a:schemeClr val="dk1"/>
              </a:buClr>
              <a:buSzPts val="1800"/>
              <a:buNone/>
            </a:pPr>
            <a:r>
              <a:t/>
            </a:r>
            <a:endParaRPr sz="1800">
              <a:solidFill>
                <a:srgbClr val="000000"/>
              </a:solidFill>
              <a:latin typeface="Times New Roman"/>
              <a:ea typeface="Times New Roman"/>
              <a:cs typeface="Times New Roman"/>
              <a:sym typeface="Times New Roman"/>
            </a:endParaRPr>
          </a:p>
          <a:p>
            <a:pPr indent="-57150" lvl="0" marL="57150" marR="0" rtl="0" algn="l">
              <a:lnSpc>
                <a:spcPct val="107000"/>
              </a:lnSpc>
              <a:spcBef>
                <a:spcPts val="0"/>
              </a:spcBef>
              <a:spcAft>
                <a:spcPts val="0"/>
              </a:spcAft>
              <a:buClr>
                <a:srgbClr val="000000"/>
              </a:buClr>
              <a:buSzPts val="1800"/>
              <a:buFont typeface="Noto Sans Symbols"/>
              <a:buChar char="▪"/>
            </a:pPr>
            <a:r>
              <a:rPr lang="en-US" sz="1800">
                <a:solidFill>
                  <a:srgbClr val="000000"/>
                </a:solidFill>
                <a:latin typeface="Times New Roman"/>
                <a:ea typeface="Times New Roman"/>
                <a:cs typeface="Times New Roman"/>
                <a:sym typeface="Times New Roman"/>
              </a:rPr>
              <a:t>Amazon Prime, Disney+ Hotstar, Netflix, YouTube, MX Player are top 5 OTT platforms used by users.</a:t>
            </a:r>
            <a:endParaRPr sz="1800">
              <a:latin typeface="Calibri"/>
              <a:ea typeface="Calibri"/>
              <a:cs typeface="Calibri"/>
              <a:sym typeface="Calibri"/>
            </a:endParaRPr>
          </a:p>
          <a:p>
            <a:pPr indent="0" lvl="0" marL="0" rtl="0" algn="l">
              <a:lnSpc>
                <a:spcPct val="90000"/>
              </a:lnSpc>
              <a:spcBef>
                <a:spcPts val="1000"/>
              </a:spcBef>
              <a:spcAft>
                <a:spcPts val="0"/>
              </a:spcAft>
              <a:buClr>
                <a:schemeClr val="dk1"/>
              </a:buClr>
              <a:buSzPts val="2800"/>
              <a:buNone/>
            </a:pPr>
            <a:r>
              <a:t/>
            </a:r>
            <a:endParaRPr/>
          </a:p>
        </p:txBody>
      </p:sp>
      <p:pic>
        <p:nvPicPr>
          <p:cNvPr id="136" name="Google Shape;136;p4"/>
          <p:cNvPicPr preferRelativeResize="0"/>
          <p:nvPr/>
        </p:nvPicPr>
        <p:blipFill rotWithShape="1">
          <a:blip r:embed="rId3">
            <a:alphaModFix/>
          </a:blip>
          <a:srcRect b="0" l="0" r="0" t="0"/>
          <a:stretch/>
        </p:blipFill>
        <p:spPr>
          <a:xfrm>
            <a:off x="381066" y="1159496"/>
            <a:ext cx="4935652" cy="3289956"/>
          </a:xfrm>
          <a:prstGeom prst="rect">
            <a:avLst/>
          </a:prstGeom>
          <a:noFill/>
          <a:ln>
            <a:noFill/>
          </a:ln>
        </p:spPr>
      </p:pic>
      <p:pic>
        <p:nvPicPr>
          <p:cNvPr id="137" name="Google Shape;137;p4"/>
          <p:cNvPicPr preferRelativeResize="0"/>
          <p:nvPr/>
        </p:nvPicPr>
        <p:blipFill rotWithShape="1">
          <a:blip r:embed="rId4">
            <a:alphaModFix/>
          </a:blip>
          <a:srcRect b="0" l="0" r="0" t="0"/>
          <a:stretch/>
        </p:blipFill>
        <p:spPr>
          <a:xfrm>
            <a:off x="5891752" y="1257544"/>
            <a:ext cx="5967167" cy="364439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txBox="1"/>
          <p:nvPr>
            <p:ph type="title"/>
          </p:nvPr>
        </p:nvSpPr>
        <p:spPr>
          <a:xfrm>
            <a:off x="253900" y="0"/>
            <a:ext cx="11736800" cy="1499600"/>
          </a:xfrm>
          <a:prstGeom prst="rect">
            <a:avLst/>
          </a:prstGeom>
          <a:noFill/>
          <a:ln>
            <a:noFill/>
          </a:ln>
        </p:spPr>
        <p:txBody>
          <a:bodyPr anchorCtr="0" anchor="t" bIns="121900" lIns="121900" spcFirstLastPara="1" rIns="121900" wrap="square" tIns="121900">
            <a:normAutofit fontScale="90000"/>
          </a:bodyPr>
          <a:lstStyle/>
          <a:p>
            <a:pPr indent="0" lvl="0" marL="0" marR="573879" rtl="0" algn="l">
              <a:lnSpc>
                <a:spcPct val="104125"/>
              </a:lnSpc>
              <a:spcBef>
                <a:spcPts val="1156"/>
              </a:spcBef>
              <a:spcAft>
                <a:spcPts val="0"/>
              </a:spcAft>
              <a:buClr>
                <a:schemeClr val="dk1"/>
              </a:buClr>
              <a:buSzPct val="56896"/>
              <a:buFont typeface="Times New Roman"/>
              <a:buNone/>
            </a:pPr>
            <a:r>
              <a:rPr b="1" lang="en-US" sz="2577">
                <a:latin typeface="Times New Roman"/>
                <a:ea typeface="Times New Roman"/>
                <a:cs typeface="Times New Roman"/>
                <a:sym typeface="Times New Roman"/>
              </a:rPr>
              <a:t>PARETO ANALYSIS: </a:t>
            </a:r>
            <a:endParaRPr b="1" sz="2577">
              <a:latin typeface="Times New Roman"/>
              <a:ea typeface="Times New Roman"/>
              <a:cs typeface="Times New Roman"/>
              <a:sym typeface="Times New Roman"/>
            </a:endParaRPr>
          </a:p>
          <a:p>
            <a:pPr indent="0" lvl="0" marL="0" marR="573879" rtl="0" algn="l">
              <a:lnSpc>
                <a:spcPct val="104125"/>
              </a:lnSpc>
              <a:spcBef>
                <a:spcPts val="1156"/>
              </a:spcBef>
              <a:spcAft>
                <a:spcPts val="0"/>
              </a:spcAft>
              <a:buClr>
                <a:schemeClr val="dk1"/>
              </a:buClr>
              <a:buSzPct val="68750"/>
              <a:buFont typeface="Times New Roman"/>
              <a:buNone/>
            </a:pPr>
            <a:r>
              <a:rPr lang="en-US" sz="2133">
                <a:latin typeface="Times New Roman"/>
                <a:ea typeface="Times New Roman"/>
                <a:cs typeface="Times New Roman"/>
                <a:sym typeface="Times New Roman"/>
              </a:rPr>
              <a:t>Pareto analysis is based on the idea that 80% of a project's benefit can be achieved by doing 20% of the work or conversely 80% of problems are traced to 20% of the causes.</a:t>
            </a:r>
            <a:endParaRPr sz="2133">
              <a:latin typeface="Times New Roman"/>
              <a:ea typeface="Times New Roman"/>
              <a:cs typeface="Times New Roman"/>
              <a:sym typeface="Times New Roman"/>
            </a:endParaRPr>
          </a:p>
          <a:p>
            <a:pPr indent="0" lvl="0" marL="0" marR="573879" rtl="0" algn="l">
              <a:lnSpc>
                <a:spcPct val="104125"/>
              </a:lnSpc>
              <a:spcBef>
                <a:spcPts val="1156"/>
              </a:spcBef>
              <a:spcAft>
                <a:spcPts val="0"/>
              </a:spcAft>
              <a:buClr>
                <a:schemeClr val="dk1"/>
              </a:buClr>
              <a:buSzPct val="68750"/>
              <a:buFont typeface="Times New Roman"/>
              <a:buNone/>
            </a:pPr>
            <a:r>
              <a:rPr b="1" lang="en-US" sz="2133">
                <a:latin typeface="Times New Roman"/>
                <a:ea typeface="Times New Roman"/>
                <a:cs typeface="Times New Roman"/>
                <a:sym typeface="Times New Roman"/>
              </a:rPr>
              <a:t>Objective: </a:t>
            </a:r>
            <a:r>
              <a:rPr lang="en-US" sz="2133">
                <a:latin typeface="Times New Roman"/>
                <a:ea typeface="Times New Roman"/>
                <a:cs typeface="Times New Roman"/>
                <a:sym typeface="Times New Roman"/>
              </a:rPr>
              <a:t>To Identify reasons for not using OTT</a:t>
            </a:r>
            <a:endParaRPr sz="2133">
              <a:latin typeface="Times New Roman"/>
              <a:ea typeface="Times New Roman"/>
              <a:cs typeface="Times New Roman"/>
              <a:sym typeface="Times New Roman"/>
            </a:endParaRPr>
          </a:p>
        </p:txBody>
      </p:sp>
      <p:sp>
        <p:nvSpPr>
          <p:cNvPr id="143" name="Google Shape;143;p5"/>
          <p:cNvSpPr txBox="1"/>
          <p:nvPr>
            <p:ph idx="1" type="body"/>
          </p:nvPr>
        </p:nvSpPr>
        <p:spPr>
          <a:xfrm>
            <a:off x="201301" y="1649690"/>
            <a:ext cx="11642727" cy="5208310"/>
          </a:xfrm>
          <a:prstGeom prst="rect">
            <a:avLst/>
          </a:prstGeom>
          <a:noFill/>
          <a:ln>
            <a:noFill/>
          </a:ln>
        </p:spPr>
        <p:txBody>
          <a:bodyPr anchorCtr="0" anchor="t" bIns="121900" lIns="121900" spcFirstLastPara="1" rIns="121900" wrap="square" tIns="121900">
            <a:noAutofit/>
          </a:bodyPr>
          <a:lstStyle/>
          <a:p>
            <a:pPr indent="0" lvl="0" marL="0" rtl="0" algn="l">
              <a:lnSpc>
                <a:spcPct val="90000"/>
              </a:lnSpc>
              <a:spcBef>
                <a:spcPts val="0"/>
              </a:spcBef>
              <a:spcAft>
                <a:spcPts val="0"/>
              </a:spcAft>
              <a:buClr>
                <a:schemeClr val="dk1"/>
              </a:buClr>
              <a:buSzPts val="1800"/>
              <a:buNone/>
            </a:pPr>
            <a:r>
              <a:t/>
            </a:r>
            <a:endParaRPr sz="2000">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800"/>
              <a:buNone/>
            </a:pPr>
            <a:r>
              <a:rPr lang="en-US" sz="2000">
                <a:solidFill>
                  <a:schemeClr val="dk1"/>
                </a:solidFill>
                <a:latin typeface="Times New Roman"/>
                <a:ea typeface="Times New Roman"/>
                <a:cs typeface="Times New Roman"/>
                <a:sym typeface="Times New Roman"/>
              </a:rPr>
              <a:t>The variables used in the analysis are: </a:t>
            </a:r>
            <a:endParaRPr sz="2000">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800"/>
              <a:buNone/>
            </a:pPr>
            <a:r>
              <a:rPr lang="en-US"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100"/>
              <a:buNone/>
            </a:pPr>
            <a:r>
              <a:t/>
            </a:r>
            <a:endParaRPr sz="2000">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100"/>
              <a:buNone/>
            </a:pPr>
            <a:r>
              <a:t/>
            </a:r>
            <a:endParaRPr sz="2000">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100"/>
              <a:buNone/>
            </a:pPr>
            <a:r>
              <a:t/>
            </a:r>
            <a:endParaRPr sz="2000">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100"/>
              <a:buNone/>
            </a:pPr>
            <a:r>
              <a:t/>
            </a:r>
            <a:endParaRPr sz="2000">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100"/>
              <a:buNone/>
            </a:pPr>
            <a:r>
              <a:t/>
            </a:r>
            <a:endParaRPr sz="2000">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100"/>
              <a:buNone/>
            </a:pPr>
            <a:r>
              <a:t/>
            </a:r>
            <a:endParaRPr b="1" sz="2000" u="sng">
              <a:solidFill>
                <a:schemeClr val="dk1"/>
              </a:solidFill>
              <a:latin typeface="Times New Roman"/>
              <a:ea typeface="Times New Roman"/>
              <a:cs typeface="Times New Roman"/>
              <a:sym typeface="Times New Roman"/>
            </a:endParaRPr>
          </a:p>
          <a:p>
            <a:pPr indent="0" lvl="0" marL="0" rtl="0" algn="l">
              <a:lnSpc>
                <a:spcPct val="90000"/>
              </a:lnSpc>
              <a:spcBef>
                <a:spcPts val="1600"/>
              </a:spcBef>
              <a:spcAft>
                <a:spcPts val="0"/>
              </a:spcAft>
              <a:buClr>
                <a:schemeClr val="dk1"/>
              </a:buClr>
              <a:buSzPts val="1100"/>
              <a:buNone/>
            </a:pPr>
            <a:r>
              <a:t/>
            </a:r>
            <a:endParaRPr b="1" sz="2000" u="sng">
              <a:solidFill>
                <a:schemeClr val="dk1"/>
              </a:solidFill>
              <a:latin typeface="Times New Roman"/>
              <a:ea typeface="Times New Roman"/>
              <a:cs typeface="Times New Roman"/>
              <a:sym typeface="Times New Roman"/>
            </a:endParaRPr>
          </a:p>
          <a:p>
            <a:pPr indent="0" lvl="0" marL="0" rtl="0" algn="l">
              <a:lnSpc>
                <a:spcPct val="90000"/>
              </a:lnSpc>
              <a:spcBef>
                <a:spcPts val="1600"/>
              </a:spcBef>
              <a:spcAft>
                <a:spcPts val="0"/>
              </a:spcAft>
              <a:buClr>
                <a:schemeClr val="dk1"/>
              </a:buClr>
              <a:buSzPts val="1100"/>
              <a:buNone/>
            </a:pPr>
            <a:r>
              <a:t/>
            </a:r>
            <a:endParaRPr sz="2000">
              <a:solidFill>
                <a:schemeClr val="dk1"/>
              </a:solidFill>
              <a:latin typeface="Times New Roman"/>
              <a:ea typeface="Times New Roman"/>
              <a:cs typeface="Times New Roman"/>
              <a:sym typeface="Times New Roman"/>
            </a:endParaRPr>
          </a:p>
          <a:p>
            <a:pPr indent="0" lvl="0" marL="0" rtl="0" algn="l">
              <a:lnSpc>
                <a:spcPct val="90000"/>
              </a:lnSpc>
              <a:spcBef>
                <a:spcPts val="3200"/>
              </a:spcBef>
              <a:spcAft>
                <a:spcPts val="1600"/>
              </a:spcAft>
              <a:buClr>
                <a:schemeClr val="dk1"/>
              </a:buClr>
              <a:buSzPts val="1100"/>
              <a:buNone/>
            </a:pPr>
            <a:r>
              <a:rPr lang="en-US" sz="1800">
                <a:solidFill>
                  <a:schemeClr val="dk1"/>
                </a:solidFill>
                <a:latin typeface="Times New Roman"/>
                <a:ea typeface="Times New Roman"/>
                <a:cs typeface="Times New Roman"/>
                <a:sym typeface="Times New Roman"/>
              </a:rPr>
              <a:t>From Pareto Analysis, it is conclude that the main reasons for not using Ott are ‘Not Interested’, ‘Time consuming’, ‘Cost of subscription’, ‘Lack of Awareness’. To overcome these reasons, providers should focus on Awareness of OTT platforms, produce quality contnent and focus on providing different subsciption plans</a:t>
            </a:r>
            <a:r>
              <a:rPr lang="en-US"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p:txBody>
      </p:sp>
      <p:pic>
        <p:nvPicPr>
          <p:cNvPr id="144" name="Google Shape;144;p5"/>
          <p:cNvPicPr preferRelativeResize="0"/>
          <p:nvPr/>
        </p:nvPicPr>
        <p:blipFill rotWithShape="1">
          <a:blip r:embed="rId3">
            <a:alphaModFix/>
          </a:blip>
          <a:srcRect b="0" l="0" r="0" t="0"/>
          <a:stretch/>
        </p:blipFill>
        <p:spPr>
          <a:xfrm>
            <a:off x="887817" y="2547150"/>
            <a:ext cx="2694369" cy="2175680"/>
          </a:xfrm>
          <a:prstGeom prst="rect">
            <a:avLst/>
          </a:prstGeom>
          <a:noFill/>
          <a:ln>
            <a:noFill/>
          </a:ln>
        </p:spPr>
      </p:pic>
      <p:pic>
        <p:nvPicPr>
          <p:cNvPr id="145" name="Google Shape;145;p5"/>
          <p:cNvPicPr preferRelativeResize="0"/>
          <p:nvPr/>
        </p:nvPicPr>
        <p:blipFill rotWithShape="1">
          <a:blip r:embed="rId4">
            <a:alphaModFix/>
          </a:blip>
          <a:srcRect b="0" l="0" r="0" t="0"/>
          <a:stretch/>
        </p:blipFill>
        <p:spPr>
          <a:xfrm>
            <a:off x="5297864" y="1847653"/>
            <a:ext cx="6733784" cy="350677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6"/>
          <p:cNvSpPr txBox="1"/>
          <p:nvPr>
            <p:ph type="title"/>
          </p:nvPr>
        </p:nvSpPr>
        <p:spPr>
          <a:xfrm>
            <a:off x="336367" y="150467"/>
            <a:ext cx="11360800" cy="763600"/>
          </a:xfrm>
          <a:prstGeom prst="rect">
            <a:avLst/>
          </a:prstGeom>
          <a:noFill/>
          <a:ln>
            <a:noFill/>
          </a:ln>
        </p:spPr>
        <p:txBody>
          <a:bodyPr anchorCtr="0" anchor="t" bIns="121900" lIns="121900" spcFirstLastPara="1" rIns="121900" wrap="square" tIns="121900">
            <a:noAutofit/>
          </a:bodyPr>
          <a:lstStyle/>
          <a:p>
            <a:pPr indent="0" lvl="0" marL="0" marR="573879" rtl="0" algn="l">
              <a:lnSpc>
                <a:spcPct val="104125"/>
              </a:lnSpc>
              <a:spcBef>
                <a:spcPts val="1156"/>
              </a:spcBef>
              <a:spcAft>
                <a:spcPts val="0"/>
              </a:spcAft>
              <a:buClr>
                <a:schemeClr val="dk1"/>
              </a:buClr>
              <a:buSzPts val="2800"/>
              <a:buFont typeface="Times New Roman"/>
              <a:buNone/>
            </a:pPr>
            <a:r>
              <a:rPr b="1" lang="en-US" sz="2267">
                <a:latin typeface="Times New Roman"/>
                <a:ea typeface="Times New Roman"/>
                <a:cs typeface="Times New Roman"/>
                <a:sym typeface="Times New Roman"/>
              </a:rPr>
              <a:t>Objective: </a:t>
            </a:r>
            <a:r>
              <a:rPr lang="en-US" sz="2267">
                <a:latin typeface="Times New Roman"/>
                <a:ea typeface="Times New Roman"/>
                <a:cs typeface="Times New Roman"/>
                <a:sym typeface="Times New Roman"/>
              </a:rPr>
              <a:t>Reasons behind switching over to Online Video Streaming(OTT) from Traditional services.</a:t>
            </a:r>
            <a:endParaRPr sz="2267">
              <a:latin typeface="Times New Roman"/>
              <a:ea typeface="Times New Roman"/>
              <a:cs typeface="Times New Roman"/>
              <a:sym typeface="Times New Roman"/>
            </a:endParaRPr>
          </a:p>
          <a:p>
            <a:pPr indent="0" lvl="0" marL="0" marR="573879" rtl="0" algn="l">
              <a:lnSpc>
                <a:spcPct val="104125"/>
              </a:lnSpc>
              <a:spcBef>
                <a:spcPts val="1156"/>
              </a:spcBef>
              <a:spcAft>
                <a:spcPts val="0"/>
              </a:spcAft>
              <a:buClr>
                <a:schemeClr val="dk1"/>
              </a:buClr>
              <a:buSzPts val="1100"/>
              <a:buFont typeface="Calibri"/>
              <a:buNone/>
            </a:pPr>
            <a:r>
              <a:t/>
            </a:r>
            <a:endParaRPr b="1" sz="2267">
              <a:latin typeface="Times New Roman"/>
              <a:ea typeface="Times New Roman"/>
              <a:cs typeface="Times New Roman"/>
              <a:sym typeface="Times New Roman"/>
            </a:endParaRPr>
          </a:p>
        </p:txBody>
      </p:sp>
      <p:sp>
        <p:nvSpPr>
          <p:cNvPr id="151" name="Google Shape;151;p6"/>
          <p:cNvSpPr txBox="1"/>
          <p:nvPr>
            <p:ph idx="1" type="body"/>
          </p:nvPr>
        </p:nvSpPr>
        <p:spPr>
          <a:xfrm>
            <a:off x="257167" y="1171567"/>
            <a:ext cx="11519200" cy="54292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Clr>
                <a:schemeClr val="dk1"/>
              </a:buClr>
              <a:buSzPts val="1100"/>
              <a:buNone/>
            </a:pPr>
            <a:r>
              <a:rPr lang="en-US" sz="1867">
                <a:solidFill>
                  <a:schemeClr val="dk1"/>
                </a:solidFill>
                <a:latin typeface="Times New Roman"/>
                <a:ea typeface="Times New Roman"/>
                <a:cs typeface="Times New Roman"/>
                <a:sym typeface="Times New Roman"/>
              </a:rPr>
              <a:t>The variables used in the analysis are: </a:t>
            </a:r>
            <a:endParaRPr sz="1867">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867">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867">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867">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867">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867">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867">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867">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867">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867">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867">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867">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100"/>
              <a:buNone/>
            </a:pPr>
            <a:r>
              <a:t/>
            </a:r>
            <a:endParaRPr sz="1867">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100"/>
              <a:buNone/>
            </a:pPr>
            <a:r>
              <a:t/>
            </a:r>
            <a:endParaRPr sz="1867">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100"/>
              <a:buNone/>
            </a:pPr>
            <a:r>
              <a:rPr lang="en-US" sz="1867">
                <a:solidFill>
                  <a:schemeClr val="dk1"/>
                </a:solidFill>
                <a:latin typeface="Times New Roman"/>
                <a:ea typeface="Times New Roman"/>
                <a:cs typeface="Times New Roman"/>
                <a:sym typeface="Times New Roman"/>
              </a:rPr>
              <a:t>From Pareto Analysis, it is concluded that </a:t>
            </a:r>
            <a:r>
              <a:rPr lang="en-US" sz="1867">
                <a:solidFill>
                  <a:schemeClr val="dk1"/>
                </a:solidFill>
                <a:highlight>
                  <a:schemeClr val="lt1"/>
                </a:highlight>
                <a:latin typeface="Times New Roman"/>
                <a:ea typeface="Times New Roman"/>
                <a:cs typeface="Times New Roman"/>
                <a:sym typeface="Times New Roman"/>
              </a:rPr>
              <a:t> the main reasons behind the growth of OTT over traditional services are its </a:t>
            </a:r>
            <a:r>
              <a:rPr lang="en-US" sz="1867">
                <a:solidFill>
                  <a:schemeClr val="dk1"/>
                </a:solidFill>
                <a:latin typeface="Times New Roman"/>
                <a:ea typeface="Times New Roman"/>
                <a:cs typeface="Times New Roman"/>
                <a:sym typeface="Times New Roman"/>
              </a:rPr>
              <a:t>flexibility, convenience, more entertaining, the entire season can be watched at once, more interest in OTT content and availability of the latest movies.</a:t>
            </a:r>
            <a:endParaRPr sz="1867">
              <a:latin typeface="Times New Roman"/>
              <a:ea typeface="Times New Roman"/>
              <a:cs typeface="Times New Roman"/>
              <a:sym typeface="Times New Roman"/>
            </a:endParaRPr>
          </a:p>
        </p:txBody>
      </p:sp>
      <p:pic>
        <p:nvPicPr>
          <p:cNvPr id="152" name="Google Shape;152;p6"/>
          <p:cNvPicPr preferRelativeResize="0"/>
          <p:nvPr/>
        </p:nvPicPr>
        <p:blipFill rotWithShape="1">
          <a:blip r:embed="rId3">
            <a:alphaModFix/>
          </a:blip>
          <a:srcRect b="0" l="0" r="0" t="0"/>
          <a:stretch/>
        </p:blipFill>
        <p:spPr>
          <a:xfrm>
            <a:off x="752167" y="2105167"/>
            <a:ext cx="3073400" cy="2374900"/>
          </a:xfrm>
          <a:prstGeom prst="rect">
            <a:avLst/>
          </a:prstGeom>
          <a:noFill/>
          <a:ln>
            <a:noFill/>
          </a:ln>
        </p:spPr>
      </p:pic>
      <p:pic>
        <p:nvPicPr>
          <p:cNvPr id="153" name="Google Shape;153;p6"/>
          <p:cNvPicPr preferRelativeResize="0"/>
          <p:nvPr/>
        </p:nvPicPr>
        <p:blipFill rotWithShape="1">
          <a:blip r:embed="rId4">
            <a:alphaModFix/>
          </a:blip>
          <a:srcRect b="0" l="0" r="0" t="0"/>
          <a:stretch/>
        </p:blipFill>
        <p:spPr>
          <a:xfrm>
            <a:off x="4515800" y="1171567"/>
            <a:ext cx="6924033" cy="435951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txBox="1"/>
          <p:nvPr>
            <p:ph type="title"/>
          </p:nvPr>
        </p:nvSpPr>
        <p:spPr>
          <a:xfrm>
            <a:off x="415600" y="336933"/>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Clr>
                <a:schemeClr val="dk1"/>
              </a:buClr>
              <a:buSzPts val="1100"/>
              <a:buFont typeface="Times New Roman"/>
              <a:buNone/>
            </a:pPr>
            <a:r>
              <a:rPr b="1" lang="en-US">
                <a:latin typeface="Times New Roman"/>
                <a:ea typeface="Times New Roman"/>
                <a:cs typeface="Times New Roman"/>
                <a:sym typeface="Times New Roman"/>
              </a:rPr>
              <a:t>K-Means Cluster Analysis</a:t>
            </a:r>
            <a:endParaRPr b="1">
              <a:latin typeface="Times New Roman"/>
              <a:ea typeface="Times New Roman"/>
              <a:cs typeface="Times New Roman"/>
              <a:sym typeface="Times New Roman"/>
            </a:endParaRPr>
          </a:p>
        </p:txBody>
      </p:sp>
      <p:sp>
        <p:nvSpPr>
          <p:cNvPr id="159" name="Google Shape;159;p7"/>
          <p:cNvSpPr txBox="1"/>
          <p:nvPr>
            <p:ph idx="1" type="body"/>
          </p:nvPr>
        </p:nvSpPr>
        <p:spPr>
          <a:xfrm>
            <a:off x="415600" y="1536633"/>
            <a:ext cx="5333200" cy="4555200"/>
          </a:xfrm>
          <a:prstGeom prst="rect">
            <a:avLst/>
          </a:prstGeom>
          <a:noFill/>
          <a:ln>
            <a:noFill/>
          </a:ln>
        </p:spPr>
        <p:txBody>
          <a:bodyPr anchorCtr="0" anchor="t" bIns="121900" lIns="121900" spcFirstLastPara="1" rIns="121900" wrap="square" tIns="121900">
            <a:normAutofit/>
          </a:bodyPr>
          <a:lstStyle/>
          <a:p>
            <a:pPr indent="-431788" lvl="0" marL="609585" rtl="0" algn="l">
              <a:lnSpc>
                <a:spcPct val="115000"/>
              </a:lnSpc>
              <a:spcBef>
                <a:spcPts val="0"/>
              </a:spcBef>
              <a:spcAft>
                <a:spcPts val="0"/>
              </a:spcAft>
              <a:buClr>
                <a:schemeClr val="dk1"/>
              </a:buClr>
              <a:buSzPts val="1500"/>
              <a:buFont typeface="Noto Sans Symbols"/>
              <a:buChar char="▪"/>
            </a:pPr>
            <a:r>
              <a:rPr b="1" lang="en-US" sz="2000">
                <a:solidFill>
                  <a:schemeClr val="dk1"/>
                </a:solidFill>
                <a:latin typeface="Times New Roman"/>
                <a:ea typeface="Times New Roman"/>
                <a:cs typeface="Times New Roman"/>
                <a:sym typeface="Times New Roman"/>
              </a:rPr>
              <a:t>Objective</a:t>
            </a:r>
            <a:r>
              <a:rPr lang="en-US" sz="2000">
                <a:solidFill>
                  <a:schemeClr val="dk1"/>
                </a:solidFill>
                <a:latin typeface="Times New Roman"/>
                <a:ea typeface="Times New Roman"/>
                <a:cs typeface="Times New Roman"/>
                <a:sym typeface="Times New Roman"/>
              </a:rPr>
              <a:t>: To compare and classify the viewers based on the user's preference.</a:t>
            </a:r>
            <a:endParaRPr sz="2000">
              <a:solidFill>
                <a:schemeClr val="dk1"/>
              </a:solidFill>
              <a:latin typeface="Times New Roman"/>
              <a:ea typeface="Times New Roman"/>
              <a:cs typeface="Times New Roman"/>
              <a:sym typeface="Times New Roman"/>
            </a:endParaRPr>
          </a:p>
          <a:p>
            <a:pPr indent="-254000" lvl="0" marL="952485" rtl="0" algn="l">
              <a:lnSpc>
                <a:spcPct val="115000"/>
              </a:lnSpc>
              <a:spcBef>
                <a:spcPts val="0"/>
              </a:spcBef>
              <a:spcAft>
                <a:spcPts val="0"/>
              </a:spcAft>
              <a:buClr>
                <a:schemeClr val="dk1"/>
              </a:buClr>
              <a:buSzPts val="1400"/>
              <a:buFont typeface="Noto Sans Symbols"/>
              <a:buNone/>
            </a:pPr>
            <a:r>
              <a:t/>
            </a:r>
            <a:endParaRPr sz="2000">
              <a:solidFill>
                <a:schemeClr val="dk1"/>
              </a:solidFill>
              <a:latin typeface="Times New Roman"/>
              <a:ea typeface="Times New Roman"/>
              <a:cs typeface="Times New Roman"/>
              <a:sym typeface="Times New Roman"/>
            </a:endParaRPr>
          </a:p>
          <a:p>
            <a:pPr indent="-431788" lvl="0" marL="609585" rtl="0" algn="l">
              <a:lnSpc>
                <a:spcPct val="115000"/>
              </a:lnSpc>
              <a:spcBef>
                <a:spcPts val="0"/>
              </a:spcBef>
              <a:spcAft>
                <a:spcPts val="0"/>
              </a:spcAft>
              <a:buClr>
                <a:schemeClr val="dk1"/>
              </a:buClr>
              <a:buSzPts val="1500"/>
              <a:buFont typeface="Noto Sans Symbols"/>
              <a:buChar char="▪"/>
            </a:pPr>
            <a:r>
              <a:rPr b="1" lang="en-US" sz="2000">
                <a:solidFill>
                  <a:schemeClr val="dk1"/>
                </a:solidFill>
                <a:highlight>
                  <a:srgbClr val="FFFFFF"/>
                </a:highlight>
                <a:latin typeface="Times New Roman"/>
                <a:ea typeface="Times New Roman"/>
                <a:cs typeface="Times New Roman"/>
                <a:sym typeface="Times New Roman"/>
              </a:rPr>
              <a:t>K-means cluster analysis</a:t>
            </a:r>
            <a:r>
              <a:rPr lang="en-US" sz="2000">
                <a:solidFill>
                  <a:schemeClr val="dk1"/>
                </a:solidFill>
                <a:highlight>
                  <a:srgbClr val="FFFFFF"/>
                </a:highlight>
                <a:latin typeface="Times New Roman"/>
                <a:ea typeface="Times New Roman"/>
                <a:cs typeface="Times New Roman"/>
                <a:sym typeface="Times New Roman"/>
              </a:rPr>
              <a:t> is an algorithm that groups similar objects into groups called clusters. The endpoint of cluster analysis is a set of clusters, where each cluster is distinct from each other cluster.</a:t>
            </a:r>
            <a:endParaRPr sz="2000">
              <a:solidFill>
                <a:schemeClr val="dk1"/>
              </a:solidFill>
              <a:highlight>
                <a:srgbClr val="FFFFFF"/>
              </a:highlight>
              <a:latin typeface="Times New Roman"/>
              <a:ea typeface="Times New Roman"/>
              <a:cs typeface="Times New Roman"/>
              <a:sym typeface="Times New Roman"/>
            </a:endParaRPr>
          </a:p>
          <a:p>
            <a:pPr indent="-254000" lvl="0" marL="952485" rtl="0" algn="l">
              <a:lnSpc>
                <a:spcPct val="115000"/>
              </a:lnSpc>
              <a:spcBef>
                <a:spcPts val="0"/>
              </a:spcBef>
              <a:spcAft>
                <a:spcPts val="0"/>
              </a:spcAft>
              <a:buClr>
                <a:schemeClr val="dk1"/>
              </a:buClr>
              <a:buSzPts val="1400"/>
              <a:buFont typeface="Noto Sans Symbols"/>
              <a:buNone/>
            </a:pPr>
            <a:r>
              <a:t/>
            </a:r>
            <a:endParaRPr sz="2000">
              <a:solidFill>
                <a:schemeClr val="dk1"/>
              </a:solidFill>
              <a:highlight>
                <a:srgbClr val="FFFFFF"/>
              </a:highlight>
              <a:latin typeface="Times New Roman"/>
              <a:ea typeface="Times New Roman"/>
              <a:cs typeface="Times New Roman"/>
              <a:sym typeface="Times New Roman"/>
            </a:endParaRPr>
          </a:p>
          <a:p>
            <a:pPr indent="-406389" lvl="0" marL="609585" rtl="0" algn="l">
              <a:lnSpc>
                <a:spcPct val="115000"/>
              </a:lnSpc>
              <a:spcBef>
                <a:spcPts val="0"/>
              </a:spcBef>
              <a:spcAft>
                <a:spcPts val="0"/>
              </a:spcAft>
              <a:buClr>
                <a:schemeClr val="dk1"/>
              </a:buClr>
              <a:buSzPts val="1200"/>
              <a:buFont typeface="Noto Sans Symbols"/>
              <a:buChar char="▪"/>
            </a:pPr>
            <a:r>
              <a:rPr b="1" lang="en-US" sz="2000">
                <a:solidFill>
                  <a:schemeClr val="dk1"/>
                </a:solidFill>
                <a:highlight>
                  <a:srgbClr val="FFFFFF"/>
                </a:highlight>
                <a:latin typeface="Times New Roman"/>
                <a:ea typeface="Times New Roman"/>
                <a:cs typeface="Times New Roman"/>
                <a:sym typeface="Times New Roman"/>
              </a:rPr>
              <a:t>Assumptions:</a:t>
            </a:r>
            <a:r>
              <a:rPr lang="en-US" sz="2000">
                <a:solidFill>
                  <a:schemeClr val="dk1"/>
                </a:solidFill>
                <a:highlight>
                  <a:srgbClr val="FFFFFF"/>
                </a:highlight>
                <a:latin typeface="Times New Roman"/>
                <a:ea typeface="Times New Roman"/>
                <a:cs typeface="Times New Roman"/>
                <a:sym typeface="Times New Roman"/>
              </a:rPr>
              <a:t> </a:t>
            </a:r>
            <a:r>
              <a:rPr lang="en-US" sz="2000">
                <a:solidFill>
                  <a:srgbClr val="111111"/>
                </a:solidFill>
                <a:highlight>
                  <a:srgbClr val="FFFFFF"/>
                </a:highlight>
                <a:latin typeface="Times New Roman"/>
                <a:ea typeface="Times New Roman"/>
                <a:cs typeface="Times New Roman"/>
                <a:sym typeface="Times New Roman"/>
              </a:rPr>
              <a:t> The clusters are spherical and are of resemble in size</a:t>
            </a:r>
            <a:r>
              <a:rPr lang="en-US" sz="1800">
                <a:solidFill>
                  <a:srgbClr val="111111"/>
                </a:solidFill>
                <a:highlight>
                  <a:srgbClr val="FFFFFF"/>
                </a:highlight>
                <a:latin typeface="Roboto"/>
                <a:ea typeface="Roboto"/>
                <a:cs typeface="Roboto"/>
                <a:sym typeface="Roboto"/>
              </a:rPr>
              <a:t>.</a:t>
            </a:r>
            <a:endParaRPr sz="1600">
              <a:solidFill>
                <a:schemeClr val="dk1"/>
              </a:solidFill>
              <a:highlight>
                <a:srgbClr val="FFFFFF"/>
              </a:highlight>
              <a:latin typeface="Times New Roman"/>
              <a:ea typeface="Times New Roman"/>
              <a:cs typeface="Times New Roman"/>
              <a:sym typeface="Times New Roman"/>
            </a:endParaRPr>
          </a:p>
          <a:p>
            <a:pPr indent="0" lvl="0" marL="609585" rtl="0" algn="l">
              <a:lnSpc>
                <a:spcPct val="115000"/>
              </a:lnSpc>
              <a:spcBef>
                <a:spcPts val="0"/>
              </a:spcBef>
              <a:spcAft>
                <a:spcPts val="0"/>
              </a:spcAft>
              <a:buClr>
                <a:schemeClr val="dk1"/>
              </a:buClr>
              <a:buSzPts val="1400"/>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400"/>
              <a:buNone/>
            </a:pPr>
            <a:r>
              <a:t/>
            </a:r>
            <a:endParaRPr sz="1600">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1600"/>
              </a:spcAft>
              <a:buClr>
                <a:schemeClr val="dk1"/>
              </a:buClr>
              <a:buSzPts val="1400"/>
              <a:buNone/>
            </a:pPr>
            <a:r>
              <a:t/>
            </a:r>
            <a:endParaRPr/>
          </a:p>
        </p:txBody>
      </p:sp>
      <p:pic>
        <p:nvPicPr>
          <p:cNvPr id="160" name="Google Shape;160;p7"/>
          <p:cNvPicPr preferRelativeResize="0"/>
          <p:nvPr/>
        </p:nvPicPr>
        <p:blipFill rotWithShape="1">
          <a:blip r:embed="rId3">
            <a:alphaModFix/>
          </a:blip>
          <a:srcRect b="0" l="0" r="0" t="0"/>
          <a:stretch/>
        </p:blipFill>
        <p:spPr>
          <a:xfrm>
            <a:off x="6138300" y="2408833"/>
            <a:ext cx="5461000" cy="3683000"/>
          </a:xfrm>
          <a:prstGeom prst="rect">
            <a:avLst/>
          </a:prstGeom>
          <a:noFill/>
          <a:ln>
            <a:noFill/>
          </a:ln>
        </p:spPr>
      </p:pic>
      <p:sp>
        <p:nvSpPr>
          <p:cNvPr id="161" name="Google Shape;161;p7"/>
          <p:cNvSpPr txBox="1"/>
          <p:nvPr>
            <p:ph idx="2" type="body"/>
          </p:nvPr>
        </p:nvSpPr>
        <p:spPr>
          <a:xfrm>
            <a:off x="6096000" y="1536633"/>
            <a:ext cx="5680400" cy="4555200"/>
          </a:xfrm>
          <a:prstGeom prst="rect">
            <a:avLst/>
          </a:prstGeom>
          <a:noFill/>
          <a:ln>
            <a:noFill/>
          </a:ln>
        </p:spPr>
        <p:txBody>
          <a:bodyPr anchorCtr="0" anchor="t" bIns="121900" lIns="121900" spcFirstLastPara="1" rIns="121900" wrap="square" tIns="121900">
            <a:normAutofit/>
          </a:bodyPr>
          <a:lstStyle/>
          <a:p>
            <a:pPr indent="0" lvl="0" marL="0" rtl="0" algn="l">
              <a:lnSpc>
                <a:spcPct val="115000"/>
              </a:lnSpc>
              <a:spcBef>
                <a:spcPts val="0"/>
              </a:spcBef>
              <a:spcAft>
                <a:spcPts val="0"/>
              </a:spcAft>
              <a:buClr>
                <a:schemeClr val="dk1"/>
              </a:buClr>
              <a:buSzPts val="1100"/>
              <a:buNone/>
            </a:pPr>
            <a:r>
              <a:t/>
            </a:r>
            <a:endParaRPr sz="1733">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rPr lang="en-US" sz="1733">
                <a:solidFill>
                  <a:schemeClr val="dk1"/>
                </a:solidFill>
                <a:latin typeface="Times New Roman"/>
                <a:ea typeface="Times New Roman"/>
                <a:cs typeface="Times New Roman"/>
                <a:sym typeface="Times New Roman"/>
              </a:rPr>
              <a:t>Variables used in analysis are:</a:t>
            </a:r>
            <a:endParaRPr sz="1733">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txBox="1"/>
          <p:nvPr>
            <p:ph idx="1" type="body"/>
          </p:nvPr>
        </p:nvSpPr>
        <p:spPr>
          <a:xfrm>
            <a:off x="255345" y="273300"/>
            <a:ext cx="5592669" cy="5776000"/>
          </a:xfrm>
          <a:prstGeom prst="rect">
            <a:avLst/>
          </a:prstGeom>
          <a:noFill/>
          <a:ln>
            <a:noFill/>
          </a:ln>
        </p:spPr>
        <p:txBody>
          <a:bodyPr anchorCtr="0" anchor="t" bIns="121900" lIns="121900" spcFirstLastPara="1" rIns="121900" wrap="square" tIns="121900">
            <a:normAutofit/>
          </a:bodyPr>
          <a:lstStyle/>
          <a:p>
            <a:pPr indent="0" lvl="0" marL="0" rtl="0" algn="l">
              <a:lnSpc>
                <a:spcPct val="90000"/>
              </a:lnSpc>
              <a:spcBef>
                <a:spcPts val="0"/>
              </a:spcBef>
              <a:spcAft>
                <a:spcPts val="0"/>
              </a:spcAft>
              <a:buClr>
                <a:schemeClr val="dk1"/>
              </a:buClr>
              <a:buSzPts val="1800"/>
              <a:buNone/>
            </a:pPr>
            <a:r>
              <a:rPr lang="en-US" sz="1600">
                <a:solidFill>
                  <a:schemeClr val="dk1"/>
                </a:solidFill>
                <a:latin typeface="Times New Roman"/>
                <a:ea typeface="Times New Roman"/>
                <a:cs typeface="Times New Roman"/>
                <a:sym typeface="Times New Roman"/>
              </a:rPr>
              <a:t>Calculating optimum number of clusters using elbow method:</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0"/>
              </a:spcAft>
              <a:buClr>
                <a:schemeClr val="dk1"/>
              </a:buClr>
              <a:buSzPts val="1800"/>
              <a:buNone/>
            </a:pPr>
            <a:r>
              <a:rPr lang="en-US" sz="1400">
                <a:solidFill>
                  <a:schemeClr val="dk1"/>
                </a:solidFill>
                <a:highlight>
                  <a:srgbClr val="FFFFFF"/>
                </a:highlight>
                <a:latin typeface="Times New Roman"/>
                <a:ea typeface="Times New Roman"/>
                <a:cs typeface="Times New Roman"/>
                <a:sym typeface="Times New Roman"/>
              </a:rPr>
              <a:t>In this method, the number of clusters are varies within a certain range.For each number, within-cluster sum of square (wcss) value is calculated and stored in a list. These value are then plotted against the range of  number of clusters used before. The location of bend in the plot  indicates the appropriate number of clusters.</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600"/>
              </a:spcBef>
              <a:spcAft>
                <a:spcPts val="0"/>
              </a:spcAft>
              <a:buClr>
                <a:schemeClr val="dk1"/>
              </a:buClr>
              <a:buSzPts val="1100"/>
              <a:buNone/>
            </a:pPr>
            <a:r>
              <a:rPr lang="en-US" sz="1400">
                <a:solidFill>
                  <a:schemeClr val="dk1"/>
                </a:solidFill>
                <a:highlight>
                  <a:srgbClr val="FFFFFF"/>
                </a:highlight>
                <a:latin typeface="Times New Roman"/>
                <a:ea typeface="Times New Roman"/>
                <a:cs typeface="Times New Roman"/>
                <a:sym typeface="Times New Roman"/>
              </a:rPr>
              <a:t>From Fig 1. we choose the number of clusters as ‘3</a:t>
            </a:r>
            <a:endParaRPr/>
          </a:p>
        </p:txBody>
      </p:sp>
      <p:pic>
        <p:nvPicPr>
          <p:cNvPr id="167" name="Google Shape;167;p8"/>
          <p:cNvPicPr preferRelativeResize="0"/>
          <p:nvPr/>
        </p:nvPicPr>
        <p:blipFill rotWithShape="1">
          <a:blip r:embed="rId3">
            <a:alphaModFix/>
          </a:blip>
          <a:srcRect b="0" l="0" r="0" t="0"/>
          <a:stretch/>
        </p:blipFill>
        <p:spPr>
          <a:xfrm>
            <a:off x="179804" y="2681702"/>
            <a:ext cx="5070925" cy="3508186"/>
          </a:xfrm>
          <a:prstGeom prst="rect">
            <a:avLst/>
          </a:prstGeom>
          <a:noFill/>
          <a:ln>
            <a:noFill/>
          </a:ln>
        </p:spPr>
      </p:pic>
      <p:pic>
        <p:nvPicPr>
          <p:cNvPr id="168" name="Google Shape;168;p8"/>
          <p:cNvPicPr preferRelativeResize="0"/>
          <p:nvPr/>
        </p:nvPicPr>
        <p:blipFill rotWithShape="1">
          <a:blip r:embed="rId4">
            <a:alphaModFix/>
          </a:blip>
          <a:srcRect b="0" l="0" r="0" t="0"/>
          <a:stretch/>
        </p:blipFill>
        <p:spPr>
          <a:xfrm>
            <a:off x="5435106" y="4957884"/>
            <a:ext cx="6404055" cy="990600"/>
          </a:xfrm>
          <a:prstGeom prst="rect">
            <a:avLst/>
          </a:prstGeom>
          <a:noFill/>
          <a:ln>
            <a:noFill/>
          </a:ln>
        </p:spPr>
      </p:pic>
      <p:pic>
        <p:nvPicPr>
          <p:cNvPr id="169" name="Google Shape;169;p8"/>
          <p:cNvPicPr preferRelativeResize="0"/>
          <p:nvPr/>
        </p:nvPicPr>
        <p:blipFill rotWithShape="1">
          <a:blip r:embed="rId5">
            <a:alphaModFix/>
          </a:blip>
          <a:srcRect b="0" l="0" r="0" t="0"/>
          <a:stretch/>
        </p:blipFill>
        <p:spPr>
          <a:xfrm>
            <a:off x="5655956" y="1060830"/>
            <a:ext cx="6094428" cy="2810407"/>
          </a:xfrm>
          <a:prstGeom prst="rect">
            <a:avLst/>
          </a:prstGeom>
          <a:noFill/>
          <a:ln>
            <a:noFill/>
          </a:ln>
        </p:spPr>
      </p:pic>
      <p:sp>
        <p:nvSpPr>
          <p:cNvPr id="170" name="Google Shape;170;p8"/>
          <p:cNvSpPr txBox="1"/>
          <p:nvPr/>
        </p:nvSpPr>
        <p:spPr>
          <a:xfrm>
            <a:off x="2603241" y="6049300"/>
            <a:ext cx="18476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Fig 1.</a:t>
            </a:r>
            <a:endParaRPr sz="1400">
              <a:solidFill>
                <a:schemeClr val="dk1"/>
              </a:solidFill>
              <a:latin typeface="Times New Roman"/>
              <a:ea typeface="Times New Roman"/>
              <a:cs typeface="Times New Roman"/>
              <a:sym typeface="Times New Roman"/>
            </a:endParaRPr>
          </a:p>
        </p:txBody>
      </p:sp>
      <p:sp>
        <p:nvSpPr>
          <p:cNvPr id="171" name="Google Shape;171;p8"/>
          <p:cNvSpPr txBox="1"/>
          <p:nvPr/>
        </p:nvSpPr>
        <p:spPr>
          <a:xfrm>
            <a:off x="5923555" y="4435795"/>
            <a:ext cx="6094428" cy="38536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Times New Roman"/>
              <a:buNone/>
            </a:pPr>
            <a:r>
              <a:rPr lang="en-US" sz="1800">
                <a:solidFill>
                  <a:schemeClr val="dk1"/>
                </a:solidFill>
                <a:latin typeface="Times New Roman"/>
                <a:ea typeface="Times New Roman"/>
                <a:cs typeface="Times New Roman"/>
                <a:sym typeface="Times New Roman"/>
              </a:rPr>
              <a:t>Using the optimum no of clusters k-means model is trained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9"/>
          <p:cNvSpPr txBox="1"/>
          <p:nvPr>
            <p:ph idx="1" type="body"/>
          </p:nvPr>
        </p:nvSpPr>
        <p:spPr>
          <a:xfrm>
            <a:off x="415600" y="286167"/>
            <a:ext cx="8473876" cy="1212695"/>
          </a:xfrm>
          <a:prstGeom prst="rect">
            <a:avLst/>
          </a:prstGeom>
          <a:noFill/>
          <a:ln>
            <a:noFill/>
          </a:ln>
        </p:spPr>
        <p:txBody>
          <a:bodyPr anchorCtr="0" anchor="t" bIns="121900" lIns="121900" spcFirstLastPara="1" rIns="121900" wrap="square" tIns="121900">
            <a:normAutofit fontScale="92500" lnSpcReduction="20000"/>
          </a:bodyPr>
          <a:lstStyle/>
          <a:p>
            <a:pPr indent="0" lvl="0" marL="0" rtl="0" algn="l">
              <a:lnSpc>
                <a:spcPct val="115000"/>
              </a:lnSpc>
              <a:spcBef>
                <a:spcPts val="0"/>
              </a:spcBef>
              <a:spcAft>
                <a:spcPts val="0"/>
              </a:spcAft>
              <a:buClr>
                <a:schemeClr val="dk1"/>
              </a:buClr>
              <a:buSzPct val="112287"/>
              <a:buNone/>
            </a:pPr>
            <a:r>
              <a:rPr lang="en-US" sz="1733">
                <a:solidFill>
                  <a:schemeClr val="dk1"/>
                </a:solidFill>
                <a:latin typeface="Times New Roman"/>
                <a:ea typeface="Times New Roman"/>
                <a:cs typeface="Times New Roman"/>
                <a:sym typeface="Times New Roman"/>
              </a:rPr>
              <a:t>Calculation of cluster centroids  and addition of  cluster columns to original data:</a:t>
            </a:r>
            <a:endParaRPr sz="1733">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ct val="68620"/>
              <a:buNone/>
            </a:pPr>
            <a:r>
              <a:t/>
            </a:r>
            <a:endParaRPr sz="1733">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ct val="68620"/>
              <a:buNone/>
            </a:pPr>
            <a:r>
              <a:rPr lang="en-US" sz="1733">
                <a:solidFill>
                  <a:schemeClr val="dk1"/>
                </a:solidFill>
                <a:latin typeface="Times New Roman"/>
                <a:ea typeface="Times New Roman"/>
                <a:cs typeface="Times New Roman"/>
                <a:sym typeface="Times New Roman"/>
              </a:rPr>
              <a:t>The entire data is divided into 3 clusters and the clusters are named as </a:t>
            </a:r>
            <a:r>
              <a:rPr b="1" lang="en-US" sz="1733">
                <a:solidFill>
                  <a:schemeClr val="dk1"/>
                </a:solidFill>
                <a:latin typeface="Times New Roman"/>
                <a:ea typeface="Times New Roman"/>
                <a:cs typeface="Times New Roman"/>
                <a:sym typeface="Times New Roman"/>
              </a:rPr>
              <a:t>Minimal viewer,</a:t>
            </a:r>
            <a:r>
              <a:rPr lang="en-US" sz="1733">
                <a:solidFill>
                  <a:schemeClr val="dk1"/>
                </a:solidFill>
                <a:latin typeface="Times New Roman"/>
                <a:ea typeface="Times New Roman"/>
                <a:cs typeface="Times New Roman"/>
                <a:sym typeface="Times New Roman"/>
              </a:rPr>
              <a:t> </a:t>
            </a:r>
            <a:r>
              <a:rPr b="1" lang="en-US" sz="1733">
                <a:solidFill>
                  <a:schemeClr val="dk1"/>
                </a:solidFill>
                <a:latin typeface="Times New Roman"/>
                <a:ea typeface="Times New Roman"/>
                <a:cs typeface="Times New Roman"/>
                <a:sym typeface="Times New Roman"/>
              </a:rPr>
              <a:t>Normal viewer, Extreme viewer</a:t>
            </a:r>
            <a:r>
              <a:rPr lang="en-US" sz="1733">
                <a:solidFill>
                  <a:schemeClr val="dk1"/>
                </a:solidFill>
                <a:latin typeface="Times New Roman"/>
                <a:ea typeface="Times New Roman"/>
                <a:cs typeface="Times New Roman"/>
                <a:sym typeface="Times New Roman"/>
              </a:rPr>
              <a:t> </a:t>
            </a:r>
            <a:r>
              <a:rPr b="1" lang="en-US" sz="1733">
                <a:solidFill>
                  <a:schemeClr val="dk1"/>
                </a:solidFill>
                <a:latin typeface="Times New Roman"/>
                <a:ea typeface="Times New Roman"/>
                <a:cs typeface="Times New Roman"/>
                <a:sym typeface="Times New Roman"/>
              </a:rPr>
              <a:t>                                                                                                                                                                                    </a:t>
            </a:r>
            <a:endParaRPr/>
          </a:p>
        </p:txBody>
      </p:sp>
      <p:pic>
        <p:nvPicPr>
          <p:cNvPr id="177" name="Google Shape;177;p9"/>
          <p:cNvPicPr preferRelativeResize="0"/>
          <p:nvPr/>
        </p:nvPicPr>
        <p:blipFill rotWithShape="1">
          <a:blip r:embed="rId3">
            <a:alphaModFix/>
          </a:blip>
          <a:srcRect b="0" l="0" r="0" t="0"/>
          <a:stretch/>
        </p:blipFill>
        <p:spPr>
          <a:xfrm>
            <a:off x="1519400" y="1813309"/>
            <a:ext cx="6891633" cy="463776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idx="1" type="body"/>
          </p:nvPr>
        </p:nvSpPr>
        <p:spPr>
          <a:xfrm>
            <a:off x="415600" y="2849731"/>
            <a:ext cx="5333200" cy="1296141"/>
          </a:xfrm>
          <a:prstGeom prst="rect">
            <a:avLst/>
          </a:prstGeom>
          <a:noFill/>
          <a:ln>
            <a:noFill/>
          </a:ln>
        </p:spPr>
        <p:txBody>
          <a:bodyPr anchorCtr="0" anchor="t" bIns="91425" lIns="91425" spcFirstLastPara="1" rIns="91425" wrap="square" tIns="91425">
            <a:normAutofit/>
          </a:bodyPr>
          <a:lstStyle/>
          <a:p>
            <a:pPr indent="0" lvl="0" marL="186262" rtl="0" algn="l">
              <a:lnSpc>
                <a:spcPct val="90000"/>
              </a:lnSpc>
              <a:spcBef>
                <a:spcPts val="0"/>
              </a:spcBef>
              <a:spcAft>
                <a:spcPts val="0"/>
              </a:spcAft>
              <a:buClr>
                <a:srgbClr val="000000"/>
              </a:buClr>
              <a:buSzPts val="1400"/>
              <a:buNone/>
            </a:pPr>
            <a:r>
              <a:rPr b="0" i="0" lang="en-US" sz="1800" u="none" strike="noStrike">
                <a:solidFill>
                  <a:srgbClr val="000000"/>
                </a:solidFill>
                <a:latin typeface="Times New Roman"/>
                <a:ea typeface="Times New Roman"/>
                <a:cs typeface="Times New Roman"/>
                <a:sym typeface="Times New Roman"/>
              </a:rPr>
              <a:t>The table 1 shows that  extreme viewers spend more money on the subscriptions of different types of OTT platforms, also they prefer to watch a variety of  content, genre and they use more devices</a:t>
            </a:r>
            <a:endParaRPr/>
          </a:p>
        </p:txBody>
      </p:sp>
      <p:sp>
        <p:nvSpPr>
          <p:cNvPr id="183" name="Google Shape;183;p10"/>
          <p:cNvSpPr txBox="1"/>
          <p:nvPr>
            <p:ph idx="2" type="body"/>
          </p:nvPr>
        </p:nvSpPr>
        <p:spPr>
          <a:xfrm>
            <a:off x="6443200" y="3829141"/>
            <a:ext cx="5333200" cy="2262691"/>
          </a:xfrm>
          <a:prstGeom prst="rect">
            <a:avLst/>
          </a:prstGeom>
          <a:noFill/>
          <a:ln>
            <a:noFill/>
          </a:ln>
        </p:spPr>
        <p:txBody>
          <a:bodyPr anchorCtr="0" anchor="t" bIns="91425" lIns="91425" spcFirstLastPara="1" rIns="91425" wrap="square" tIns="91425">
            <a:normAutofit/>
          </a:bodyPr>
          <a:lstStyle/>
          <a:p>
            <a:pPr indent="0" lvl="0" marL="186262" rtl="0" algn="l">
              <a:lnSpc>
                <a:spcPct val="90000"/>
              </a:lnSpc>
              <a:spcBef>
                <a:spcPts val="0"/>
              </a:spcBef>
              <a:spcAft>
                <a:spcPts val="0"/>
              </a:spcAft>
              <a:buClr>
                <a:srgbClr val="000000"/>
              </a:buClr>
              <a:buSzPts val="1400"/>
              <a:buNone/>
            </a:pPr>
            <a:r>
              <a:rPr b="0" i="0" lang="en-US" sz="1800" u="none" strike="noStrike">
                <a:solidFill>
                  <a:srgbClr val="000000"/>
                </a:solidFill>
                <a:latin typeface="Times New Roman"/>
                <a:ea typeface="Times New Roman"/>
                <a:cs typeface="Times New Roman"/>
                <a:sym typeface="Times New Roman"/>
              </a:rPr>
              <a:t>Table 2 shows that minimal viewers have been using OTT platforms for less than three months and Extreme viewers have been using it for the past three years. Number of  Minimal viewers are more in the below 1 lakh income category whereas Extreme viewers are more in 8-12 lakhs income category. Also Extreme viewers prefer to watch regularly.</a:t>
            </a:r>
            <a:endParaRPr/>
          </a:p>
        </p:txBody>
      </p:sp>
      <p:pic>
        <p:nvPicPr>
          <p:cNvPr id="184" name="Google Shape;184;p10"/>
          <p:cNvPicPr preferRelativeResize="0"/>
          <p:nvPr/>
        </p:nvPicPr>
        <p:blipFill rotWithShape="1">
          <a:blip r:embed="rId3">
            <a:alphaModFix/>
          </a:blip>
          <a:srcRect b="0" l="0" r="0" t="0"/>
          <a:stretch/>
        </p:blipFill>
        <p:spPr>
          <a:xfrm>
            <a:off x="415600" y="594018"/>
            <a:ext cx="4543425" cy="2047875"/>
          </a:xfrm>
          <a:prstGeom prst="rect">
            <a:avLst/>
          </a:prstGeom>
          <a:noFill/>
          <a:ln>
            <a:noFill/>
          </a:ln>
        </p:spPr>
      </p:pic>
      <p:pic>
        <p:nvPicPr>
          <p:cNvPr id="185" name="Google Shape;185;p10"/>
          <p:cNvPicPr preferRelativeResize="0"/>
          <p:nvPr/>
        </p:nvPicPr>
        <p:blipFill rotWithShape="1">
          <a:blip r:embed="rId4">
            <a:alphaModFix/>
          </a:blip>
          <a:srcRect b="0" l="0" r="0" t="0"/>
          <a:stretch/>
        </p:blipFill>
        <p:spPr>
          <a:xfrm>
            <a:off x="6513990" y="99226"/>
            <a:ext cx="4419600" cy="3676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txBox="1"/>
          <p:nvPr>
            <p:ph type="title"/>
          </p:nvPr>
        </p:nvSpPr>
        <p:spPr>
          <a:xfrm>
            <a:off x="575801" y="272856"/>
            <a:ext cx="11360800" cy="7636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1600"/>
              </a:spcBef>
              <a:spcAft>
                <a:spcPts val="0"/>
              </a:spcAft>
              <a:buClr>
                <a:schemeClr val="dk1"/>
              </a:buClr>
              <a:buSzPts val="1100"/>
              <a:buFont typeface="Times New Roman"/>
              <a:buNone/>
            </a:pPr>
            <a:r>
              <a:rPr lang="en-US">
                <a:latin typeface="Times New Roman"/>
                <a:ea typeface="Times New Roman"/>
                <a:cs typeface="Times New Roman"/>
                <a:sym typeface="Times New Roman"/>
              </a:rPr>
              <a:t>XG Boost Analysis</a:t>
            </a:r>
            <a:endParaRPr>
              <a:latin typeface="Times New Roman"/>
              <a:ea typeface="Times New Roman"/>
              <a:cs typeface="Times New Roman"/>
              <a:sym typeface="Times New Roman"/>
            </a:endParaRPr>
          </a:p>
        </p:txBody>
      </p:sp>
      <p:pic>
        <p:nvPicPr>
          <p:cNvPr id="191" name="Google Shape;191;p11"/>
          <p:cNvPicPr preferRelativeResize="0"/>
          <p:nvPr/>
        </p:nvPicPr>
        <p:blipFill rotWithShape="1">
          <a:blip r:embed="rId3">
            <a:alphaModFix/>
          </a:blip>
          <a:srcRect b="0" l="0" r="0" t="0"/>
          <a:stretch/>
        </p:blipFill>
        <p:spPr>
          <a:xfrm>
            <a:off x="6352792" y="2518594"/>
            <a:ext cx="5261032" cy="3099781"/>
          </a:xfrm>
          <a:prstGeom prst="rect">
            <a:avLst/>
          </a:prstGeom>
          <a:noFill/>
          <a:ln>
            <a:noFill/>
          </a:ln>
        </p:spPr>
      </p:pic>
      <p:sp>
        <p:nvSpPr>
          <p:cNvPr id="192" name="Google Shape;192;p11"/>
          <p:cNvSpPr txBox="1"/>
          <p:nvPr>
            <p:ph idx="2" type="body"/>
          </p:nvPr>
        </p:nvSpPr>
        <p:spPr>
          <a:xfrm>
            <a:off x="6344239" y="1956062"/>
            <a:ext cx="5536676" cy="3798939"/>
          </a:xfrm>
          <a:prstGeom prst="rect">
            <a:avLst/>
          </a:prstGeom>
          <a:noFill/>
          <a:ln>
            <a:noFill/>
          </a:ln>
        </p:spPr>
        <p:txBody>
          <a:bodyPr anchorCtr="0" anchor="t" bIns="121900" lIns="121900" spcFirstLastPara="1" rIns="121900" wrap="square" tIns="121900">
            <a:normAutofit/>
          </a:bodyPr>
          <a:lstStyle/>
          <a:p>
            <a:pPr indent="0" lvl="0" marL="0" rtl="0" algn="l">
              <a:lnSpc>
                <a:spcPct val="115000"/>
              </a:lnSpc>
              <a:spcBef>
                <a:spcPts val="0"/>
              </a:spcBef>
              <a:spcAft>
                <a:spcPts val="0"/>
              </a:spcAft>
              <a:buClr>
                <a:schemeClr val="dk1"/>
              </a:buClr>
              <a:buSzPts val="1400"/>
              <a:buNone/>
            </a:pPr>
            <a:r>
              <a:rPr lang="en-US" sz="1600">
                <a:solidFill>
                  <a:schemeClr val="dk1"/>
                </a:solidFill>
                <a:latin typeface="Times New Roman"/>
                <a:ea typeface="Times New Roman"/>
                <a:cs typeface="Times New Roman"/>
                <a:sym typeface="Times New Roman"/>
              </a:rPr>
              <a:t>Variables used in analysis are:</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400"/>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400"/>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400"/>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400"/>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400"/>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400"/>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400"/>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400"/>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400"/>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400"/>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400"/>
              <a:buNone/>
            </a:pPr>
            <a:r>
              <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600">
              <a:solidFill>
                <a:schemeClr val="dk1"/>
              </a:solidFill>
              <a:latin typeface="Times New Roman"/>
              <a:ea typeface="Times New Roman"/>
              <a:cs typeface="Times New Roman"/>
              <a:sym typeface="Times New Roman"/>
            </a:endParaRPr>
          </a:p>
        </p:txBody>
      </p:sp>
      <p:sp>
        <p:nvSpPr>
          <p:cNvPr id="193" name="Google Shape;193;p11"/>
          <p:cNvSpPr txBox="1"/>
          <p:nvPr/>
        </p:nvSpPr>
        <p:spPr>
          <a:xfrm>
            <a:off x="415600" y="1832050"/>
            <a:ext cx="5928639" cy="4207947"/>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500"/>
              <a:buFont typeface="Noto Sans Symbols"/>
              <a:buChar char="▪"/>
            </a:pPr>
            <a:r>
              <a:rPr b="1" lang="en-US" sz="1800">
                <a:solidFill>
                  <a:schemeClr val="dk1"/>
                </a:solidFill>
                <a:latin typeface="Times New Roman"/>
                <a:ea typeface="Times New Roman"/>
                <a:cs typeface="Times New Roman"/>
                <a:sym typeface="Times New Roman"/>
              </a:rPr>
              <a:t>Objective </a:t>
            </a:r>
            <a:r>
              <a:rPr lang="en-US" sz="1800">
                <a:solidFill>
                  <a:schemeClr val="dk1"/>
                </a:solidFill>
                <a:latin typeface="Times New Roman"/>
                <a:ea typeface="Times New Roman"/>
                <a:cs typeface="Times New Roman"/>
                <a:sym typeface="Times New Roman"/>
              </a:rPr>
              <a:t>: To predict which type of subscribers will prefer the leading OTT platform(Amazon Prime).  </a:t>
            </a:r>
            <a:endParaRPr/>
          </a:p>
          <a:p>
            <a:pPr indent="0" lvl="0" marL="0" marR="0" rtl="0" algn="l">
              <a:lnSpc>
                <a:spcPct val="115000"/>
              </a:lnSpc>
              <a:spcBef>
                <a:spcPts val="0"/>
              </a:spcBef>
              <a:spcAft>
                <a:spcPts val="0"/>
              </a:spcAft>
              <a:buClr>
                <a:schemeClr val="dk1"/>
              </a:buClr>
              <a:buSzPts val="1500"/>
              <a:buFont typeface="Noto Sans Symbols"/>
              <a:buChar char="▪"/>
            </a:pPr>
            <a:r>
              <a:rPr b="1" lang="en-US" sz="1800">
                <a:solidFill>
                  <a:srgbClr val="111111"/>
                </a:solidFill>
                <a:highlight>
                  <a:srgbClr val="FFFFFF"/>
                </a:highlight>
                <a:latin typeface="Times New Roman"/>
                <a:ea typeface="Times New Roman"/>
                <a:cs typeface="Times New Roman"/>
                <a:sym typeface="Times New Roman"/>
              </a:rPr>
              <a:t>XGBoost </a:t>
            </a:r>
            <a:r>
              <a:rPr lang="en-US" sz="1800">
                <a:solidFill>
                  <a:srgbClr val="111111"/>
                </a:solidFill>
                <a:highlight>
                  <a:srgbClr val="FFFFFF"/>
                </a:highlight>
                <a:latin typeface="Times New Roman"/>
                <a:ea typeface="Times New Roman"/>
                <a:cs typeface="Times New Roman"/>
                <a:sym typeface="Times New Roman"/>
              </a:rPr>
              <a:t>is a scalable ensemble technique based on gradient boosting that has demonstrated to be a reliable and efficient machine learning challenge solver. This work proposes a practical analysis of how this novel technique works in terms of training speed, generalization performance and parameter setup.</a:t>
            </a:r>
            <a:endParaRPr/>
          </a:p>
          <a:p>
            <a:pPr indent="0" lvl="0" marL="0" marR="0" rtl="0" algn="l">
              <a:lnSpc>
                <a:spcPct val="115000"/>
              </a:lnSpc>
              <a:spcBef>
                <a:spcPts val="0"/>
              </a:spcBef>
              <a:spcAft>
                <a:spcPts val="0"/>
              </a:spcAft>
              <a:buClr>
                <a:schemeClr val="dk1"/>
              </a:buClr>
              <a:buSzPts val="1500"/>
              <a:buFont typeface="Noto Sans Symbols"/>
              <a:buChar char="▪"/>
            </a:pPr>
            <a:r>
              <a:rPr lang="en-US" sz="1800">
                <a:solidFill>
                  <a:schemeClr val="dk1"/>
                </a:solidFill>
                <a:latin typeface="Times New Roman"/>
                <a:ea typeface="Times New Roman"/>
                <a:cs typeface="Times New Roman"/>
                <a:sym typeface="Times New Roman"/>
              </a:rPr>
              <a:t>The target variable is stored in  ‘Y’ and features in ‘X’.                                                                                                              Y : User having subscription of Amazon Prime                                                                                                               Y  = 1  ;  if yes                                                                                                                        = 0   ; otherwise.                                </a:t>
            </a:r>
            <a:endParaRPr/>
          </a:p>
          <a:p>
            <a:pPr indent="95250" lvl="0" marL="0" marR="0" rtl="0" algn="l">
              <a:lnSpc>
                <a:spcPct val="115000"/>
              </a:lnSpc>
              <a:spcBef>
                <a:spcPts val="0"/>
              </a:spcBef>
              <a:spcAft>
                <a:spcPts val="0"/>
              </a:spcAft>
              <a:buClr>
                <a:schemeClr val="dk1"/>
              </a:buClr>
              <a:buSzPts val="1500"/>
              <a:buFont typeface="Noto Sans Symbols"/>
              <a:buNone/>
            </a:pPr>
            <a:r>
              <a:t/>
            </a:r>
            <a:endParaRPr sz="18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ph idx="1" type="body"/>
          </p:nvPr>
        </p:nvSpPr>
        <p:spPr>
          <a:xfrm>
            <a:off x="8810625" y="2124074"/>
            <a:ext cx="2926275" cy="3082133"/>
          </a:xfrm>
          <a:prstGeom prst="rect">
            <a:avLst/>
          </a:prstGeom>
          <a:noFill/>
          <a:ln>
            <a:noFill/>
          </a:ln>
        </p:spPr>
        <p:txBody>
          <a:bodyPr anchorCtr="0" anchor="t" bIns="121900" lIns="121900" spcFirstLastPara="1" rIns="121900" wrap="square" tIns="121900">
            <a:normAutofit/>
          </a:bodyPr>
          <a:lstStyle/>
          <a:p>
            <a:pPr indent="-285750" lvl="0" marL="285750" rtl="0" algn="l">
              <a:lnSpc>
                <a:spcPct val="115000"/>
              </a:lnSpc>
              <a:spcBef>
                <a:spcPts val="0"/>
              </a:spcBef>
              <a:spcAft>
                <a:spcPts val="0"/>
              </a:spcAft>
              <a:buClr>
                <a:schemeClr val="dk1"/>
              </a:buClr>
              <a:buSzPts val="1800"/>
              <a:buFont typeface="Noto Sans Symbols"/>
              <a:buChar char="▪"/>
            </a:pPr>
            <a:r>
              <a:rPr lang="en-US" sz="1600">
                <a:solidFill>
                  <a:schemeClr val="dk1"/>
                </a:solidFill>
                <a:latin typeface="Times New Roman"/>
                <a:ea typeface="Times New Roman"/>
                <a:cs typeface="Times New Roman"/>
                <a:sym typeface="Times New Roman"/>
              </a:rPr>
              <a:t>Splitting data into training and testing data sets.</a:t>
            </a:r>
            <a:endParaRPr sz="1600">
              <a:solidFill>
                <a:schemeClr val="dk1"/>
              </a:solidFill>
              <a:latin typeface="Times New Roman"/>
              <a:ea typeface="Times New Roman"/>
              <a:cs typeface="Times New Roman"/>
              <a:sym typeface="Times New Roman"/>
            </a:endParaRPr>
          </a:p>
          <a:p>
            <a:pPr indent="-171450" lvl="0" marL="285750" rtl="0" algn="l">
              <a:lnSpc>
                <a:spcPct val="115000"/>
              </a:lnSpc>
              <a:spcBef>
                <a:spcPts val="0"/>
              </a:spcBef>
              <a:spcAft>
                <a:spcPts val="0"/>
              </a:spcAft>
              <a:buClr>
                <a:schemeClr val="dk1"/>
              </a:buClr>
              <a:buSzPts val="1800"/>
              <a:buFont typeface="Noto Sans Symbols"/>
              <a:buNone/>
            </a:pPr>
            <a:r>
              <a:t/>
            </a:r>
            <a:endParaRPr sz="1600">
              <a:solidFill>
                <a:schemeClr val="dk1"/>
              </a:solidFill>
              <a:latin typeface="Times New Roman"/>
              <a:ea typeface="Times New Roman"/>
              <a:cs typeface="Times New Roman"/>
              <a:sym typeface="Times New Roman"/>
            </a:endParaRPr>
          </a:p>
          <a:p>
            <a:pPr indent="-285750" lvl="0" marL="285750" rtl="0" algn="l">
              <a:lnSpc>
                <a:spcPct val="115000"/>
              </a:lnSpc>
              <a:spcBef>
                <a:spcPts val="0"/>
              </a:spcBef>
              <a:spcAft>
                <a:spcPts val="0"/>
              </a:spcAft>
              <a:buClr>
                <a:schemeClr val="dk1"/>
              </a:buClr>
              <a:buSzPts val="1800"/>
              <a:buFont typeface="Noto Sans Symbols"/>
              <a:buChar char="▪"/>
            </a:pPr>
            <a:r>
              <a:rPr lang="en-US" sz="1600">
                <a:solidFill>
                  <a:schemeClr val="dk1"/>
                </a:solidFill>
                <a:latin typeface="Times New Roman"/>
                <a:ea typeface="Times New Roman"/>
                <a:cs typeface="Times New Roman"/>
                <a:sym typeface="Times New Roman"/>
              </a:rPr>
              <a:t>Training the XG Boost model on train dataset.</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733">
              <a:solidFill>
                <a:schemeClr val="dk1"/>
              </a:solidFill>
              <a:latin typeface="Times New Roman"/>
              <a:ea typeface="Times New Roman"/>
              <a:cs typeface="Times New Roman"/>
              <a:sym typeface="Times New Roman"/>
            </a:endParaRPr>
          </a:p>
        </p:txBody>
      </p:sp>
      <p:pic>
        <p:nvPicPr>
          <p:cNvPr id="199" name="Google Shape;199;p12"/>
          <p:cNvPicPr preferRelativeResize="0"/>
          <p:nvPr/>
        </p:nvPicPr>
        <p:blipFill rotWithShape="1">
          <a:blip r:embed="rId3">
            <a:alphaModFix/>
          </a:blip>
          <a:srcRect b="0" l="0" r="0" t="0"/>
          <a:stretch/>
        </p:blipFill>
        <p:spPr>
          <a:xfrm>
            <a:off x="576775" y="994239"/>
            <a:ext cx="8233850" cy="486952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3"/>
          <p:cNvSpPr txBox="1"/>
          <p:nvPr>
            <p:ph type="title"/>
          </p:nvPr>
        </p:nvSpPr>
        <p:spPr>
          <a:xfrm>
            <a:off x="839788" y="457200"/>
            <a:ext cx="3932237" cy="43834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
        <p:nvSpPr>
          <p:cNvPr id="205" name="Google Shape;205;p13"/>
          <p:cNvSpPr txBox="1"/>
          <p:nvPr>
            <p:ph idx="1" type="body"/>
          </p:nvPr>
        </p:nvSpPr>
        <p:spPr>
          <a:xfrm>
            <a:off x="537328" y="1781556"/>
            <a:ext cx="4234697" cy="4096749"/>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Calculation of  Correlation matrix, VIF and Confusion Matrix.</a:t>
            </a:r>
            <a:endParaRPr/>
          </a:p>
          <a:p>
            <a:pPr indent="-342900" lvl="0" marL="457200" rtl="0" algn="l">
              <a:lnSpc>
                <a:spcPct val="90000"/>
              </a:lnSpc>
              <a:spcBef>
                <a:spcPts val="16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Removal of  features which were highly correlated, and which are having high VIF then again running the model using remaining features.</a:t>
            </a:r>
            <a:endParaRPr/>
          </a:p>
          <a:p>
            <a:pPr indent="-342900" lvl="0" marL="457200" rtl="0" algn="l">
              <a:lnSpc>
                <a:spcPct val="90000"/>
              </a:lnSpc>
              <a:spcBef>
                <a:spcPts val="16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Top 15 features are selected using feature important function </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600"/>
              <a:buNone/>
            </a:pPr>
            <a:r>
              <a:t/>
            </a:r>
            <a:endParaRPr/>
          </a:p>
        </p:txBody>
      </p:sp>
      <p:pic>
        <p:nvPicPr>
          <p:cNvPr id="206" name="Google Shape;206;p13"/>
          <p:cNvPicPr preferRelativeResize="0"/>
          <p:nvPr/>
        </p:nvPicPr>
        <p:blipFill rotWithShape="1">
          <a:blip r:embed="rId3">
            <a:alphaModFix/>
          </a:blip>
          <a:srcRect b="0" l="0" r="0" t="0"/>
          <a:stretch/>
        </p:blipFill>
        <p:spPr>
          <a:xfrm>
            <a:off x="5191125" y="321733"/>
            <a:ext cx="6673528" cy="3882006"/>
          </a:xfrm>
          <a:prstGeom prst="rect">
            <a:avLst/>
          </a:prstGeom>
          <a:noFill/>
          <a:ln>
            <a:noFill/>
          </a:ln>
        </p:spPr>
      </p:pic>
      <p:pic>
        <p:nvPicPr>
          <p:cNvPr id="207" name="Google Shape;207;p13"/>
          <p:cNvPicPr preferRelativeResize="0"/>
          <p:nvPr/>
        </p:nvPicPr>
        <p:blipFill rotWithShape="1">
          <a:blip r:embed="rId4">
            <a:alphaModFix/>
          </a:blip>
          <a:srcRect b="0" l="0" r="0" t="0"/>
          <a:stretch/>
        </p:blipFill>
        <p:spPr>
          <a:xfrm>
            <a:off x="5191125" y="4324058"/>
            <a:ext cx="6673528" cy="205769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4"/>
          <p:cNvSpPr txBox="1"/>
          <p:nvPr>
            <p:ph idx="1" type="body"/>
          </p:nvPr>
        </p:nvSpPr>
        <p:spPr>
          <a:xfrm>
            <a:off x="415600" y="266432"/>
            <a:ext cx="6337625" cy="6496317"/>
          </a:xfrm>
          <a:prstGeom prst="rect">
            <a:avLst/>
          </a:prstGeom>
          <a:noFill/>
          <a:ln>
            <a:noFill/>
          </a:ln>
        </p:spPr>
        <p:txBody>
          <a:bodyPr anchorCtr="0" anchor="t" bIns="121900" lIns="121900" spcFirstLastPara="1" rIns="121900" wrap="square" tIns="121900">
            <a:noAutofit/>
          </a:bodyPr>
          <a:lstStyle/>
          <a:p>
            <a:pPr indent="-285750" lvl="0" marL="285750" rtl="0" algn="l">
              <a:lnSpc>
                <a:spcPct val="9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Table 3 is the final correlation matrix table.</a:t>
            </a:r>
            <a:endParaRPr sz="1800">
              <a:solidFill>
                <a:schemeClr val="dk1"/>
              </a:solidFill>
              <a:latin typeface="Times New Roman"/>
              <a:ea typeface="Times New Roman"/>
              <a:cs typeface="Times New Roman"/>
              <a:sym typeface="Times New Roman"/>
            </a:endParaRPr>
          </a:p>
          <a:p>
            <a:pPr indent="0" lvl="0" marL="0" rtl="0" algn="l">
              <a:lnSpc>
                <a:spcPct val="90000"/>
              </a:lnSpc>
              <a:spcBef>
                <a:spcPts val="1600"/>
              </a:spcBef>
              <a:spcAft>
                <a:spcPts val="0"/>
              </a:spcAft>
              <a:buClr>
                <a:schemeClr val="dk1"/>
              </a:buClr>
              <a:buSzPts val="1800"/>
              <a:buNone/>
            </a:pPr>
            <a:r>
              <a:t/>
            </a:r>
            <a:endParaRPr sz="1800">
              <a:solidFill>
                <a:schemeClr val="dk1"/>
              </a:solidFill>
              <a:latin typeface="Times New Roman"/>
              <a:ea typeface="Times New Roman"/>
              <a:cs typeface="Times New Roman"/>
              <a:sym typeface="Times New Roman"/>
            </a:endParaRPr>
          </a:p>
          <a:p>
            <a:pPr indent="0" lvl="0" marL="0" rtl="0" algn="l">
              <a:lnSpc>
                <a:spcPct val="90000"/>
              </a:lnSpc>
              <a:spcBef>
                <a:spcPts val="1600"/>
              </a:spcBef>
              <a:spcAft>
                <a:spcPts val="0"/>
              </a:spcAft>
              <a:buClr>
                <a:schemeClr val="dk1"/>
              </a:buClr>
              <a:buSzPts val="1800"/>
              <a:buNone/>
            </a:pPr>
            <a:r>
              <a:t/>
            </a:r>
            <a:endParaRPr sz="1800">
              <a:solidFill>
                <a:schemeClr val="dk1"/>
              </a:solidFill>
              <a:latin typeface="Times New Roman"/>
              <a:ea typeface="Times New Roman"/>
              <a:cs typeface="Times New Roman"/>
              <a:sym typeface="Times New Roman"/>
            </a:endParaRPr>
          </a:p>
          <a:p>
            <a:pPr indent="0" lvl="0" marL="0" rtl="0" algn="l">
              <a:lnSpc>
                <a:spcPct val="90000"/>
              </a:lnSpc>
              <a:spcBef>
                <a:spcPts val="1600"/>
              </a:spcBef>
              <a:spcAft>
                <a:spcPts val="0"/>
              </a:spcAft>
              <a:buClr>
                <a:schemeClr val="dk1"/>
              </a:buClr>
              <a:buSzPts val="1800"/>
              <a:buNone/>
            </a:pPr>
            <a:r>
              <a:t/>
            </a:r>
            <a:endParaRPr sz="1800">
              <a:solidFill>
                <a:schemeClr val="dk1"/>
              </a:solidFill>
              <a:latin typeface="Times New Roman"/>
              <a:ea typeface="Times New Roman"/>
              <a:cs typeface="Times New Roman"/>
              <a:sym typeface="Times New Roman"/>
            </a:endParaRPr>
          </a:p>
          <a:p>
            <a:pPr indent="0" lvl="0" marL="0" rtl="0" algn="l">
              <a:lnSpc>
                <a:spcPct val="90000"/>
              </a:lnSpc>
              <a:spcBef>
                <a:spcPts val="1600"/>
              </a:spcBef>
              <a:spcAft>
                <a:spcPts val="0"/>
              </a:spcAft>
              <a:buClr>
                <a:schemeClr val="dk1"/>
              </a:buClr>
              <a:buSzPts val="1800"/>
              <a:buNone/>
            </a:pPr>
            <a:r>
              <a:t/>
            </a:r>
            <a:endParaRPr sz="1800">
              <a:solidFill>
                <a:schemeClr val="dk1"/>
              </a:solidFill>
              <a:latin typeface="Times New Roman"/>
              <a:ea typeface="Times New Roman"/>
              <a:cs typeface="Times New Roman"/>
              <a:sym typeface="Times New Roman"/>
            </a:endParaRPr>
          </a:p>
          <a:p>
            <a:pPr indent="0" lvl="0" marL="0" rtl="0" algn="l">
              <a:lnSpc>
                <a:spcPct val="90000"/>
              </a:lnSpc>
              <a:spcBef>
                <a:spcPts val="1600"/>
              </a:spcBef>
              <a:spcAft>
                <a:spcPts val="0"/>
              </a:spcAft>
              <a:buClr>
                <a:schemeClr val="dk1"/>
              </a:buClr>
              <a:buSzPts val="1800"/>
              <a:buNone/>
            </a:pPr>
            <a:r>
              <a:t/>
            </a:r>
            <a:endParaRPr sz="1800">
              <a:solidFill>
                <a:schemeClr val="dk1"/>
              </a:solidFill>
              <a:latin typeface="Times New Roman"/>
              <a:ea typeface="Times New Roman"/>
              <a:cs typeface="Times New Roman"/>
              <a:sym typeface="Times New Roman"/>
            </a:endParaRPr>
          </a:p>
          <a:p>
            <a:pPr indent="0" lvl="0" marL="0" rtl="0" algn="l">
              <a:lnSpc>
                <a:spcPct val="90000"/>
              </a:lnSpc>
              <a:spcBef>
                <a:spcPts val="1600"/>
              </a:spcBef>
              <a:spcAft>
                <a:spcPts val="0"/>
              </a:spcAft>
              <a:buClr>
                <a:schemeClr val="dk1"/>
              </a:buClr>
              <a:buSzPts val="1800"/>
              <a:buNone/>
            </a:pPr>
            <a:r>
              <a:t/>
            </a:r>
            <a:endParaRPr sz="1800">
              <a:solidFill>
                <a:schemeClr val="dk1"/>
              </a:solidFill>
              <a:latin typeface="Times New Roman"/>
              <a:ea typeface="Times New Roman"/>
              <a:cs typeface="Times New Roman"/>
              <a:sym typeface="Times New Roman"/>
            </a:endParaRPr>
          </a:p>
          <a:p>
            <a:pPr indent="0" lvl="0" marL="0" rtl="0" algn="l">
              <a:lnSpc>
                <a:spcPct val="90000"/>
              </a:lnSpc>
              <a:spcBef>
                <a:spcPts val="1600"/>
              </a:spcBef>
              <a:spcAft>
                <a:spcPts val="0"/>
              </a:spcAft>
              <a:buClr>
                <a:schemeClr val="dk1"/>
              </a:buClr>
              <a:buSzPts val="1800"/>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800"/>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800"/>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800"/>
              <a:buNone/>
            </a:pPr>
            <a:r>
              <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800"/>
              <a:buNone/>
            </a:pPr>
            <a:r>
              <a:t/>
            </a:r>
            <a:endParaRPr sz="1800">
              <a:solidFill>
                <a:schemeClr val="dk1"/>
              </a:solidFill>
              <a:latin typeface="Times New Roman"/>
              <a:ea typeface="Times New Roman"/>
              <a:cs typeface="Times New Roman"/>
              <a:sym typeface="Times New Roman"/>
            </a:endParaRPr>
          </a:p>
          <a:p>
            <a:pPr indent="-285750" lvl="0" marL="285750" rtl="0" algn="l">
              <a:lnSpc>
                <a:spcPct val="115000"/>
              </a:lnSpc>
              <a:spcBef>
                <a:spcPts val="0"/>
              </a:spcBef>
              <a:spcAft>
                <a:spcPts val="0"/>
              </a:spcAft>
              <a:buClr>
                <a:schemeClr val="dk1"/>
              </a:buClr>
              <a:buSzPts val="1100"/>
              <a:buFont typeface="Noto Sans Symbols"/>
              <a:buChar char="▪"/>
            </a:pPr>
            <a:r>
              <a:rPr lang="en-US" sz="1800">
                <a:solidFill>
                  <a:schemeClr val="dk1"/>
                </a:solidFill>
                <a:latin typeface="Times New Roman"/>
                <a:ea typeface="Times New Roman"/>
                <a:cs typeface="Times New Roman"/>
                <a:sym typeface="Times New Roman"/>
              </a:rPr>
              <a:t>Table 4 is indicating final VIF matrix,VIF for all the variables is under 8 hence there is little or no multicollinearity</a:t>
            </a:r>
            <a:endParaRPr sz="1800">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1600"/>
              </a:spcAft>
              <a:buClr>
                <a:schemeClr val="dk1"/>
              </a:buClr>
              <a:buSzPts val="1800"/>
              <a:buNone/>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p:txBody>
      </p:sp>
      <p:pic>
        <p:nvPicPr>
          <p:cNvPr id="213" name="Google Shape;213;p14"/>
          <p:cNvPicPr preferRelativeResize="0"/>
          <p:nvPr/>
        </p:nvPicPr>
        <p:blipFill rotWithShape="1">
          <a:blip r:embed="rId3">
            <a:alphaModFix/>
          </a:blip>
          <a:srcRect b="0" l="0" r="0" t="0"/>
          <a:stretch/>
        </p:blipFill>
        <p:spPr>
          <a:xfrm>
            <a:off x="7270256" y="3535474"/>
            <a:ext cx="3853650" cy="3227275"/>
          </a:xfrm>
          <a:prstGeom prst="rect">
            <a:avLst/>
          </a:prstGeom>
          <a:noFill/>
          <a:ln>
            <a:noFill/>
          </a:ln>
        </p:spPr>
      </p:pic>
      <p:pic>
        <p:nvPicPr>
          <p:cNvPr id="214" name="Google Shape;214;p14"/>
          <p:cNvPicPr preferRelativeResize="0"/>
          <p:nvPr/>
        </p:nvPicPr>
        <p:blipFill rotWithShape="1">
          <a:blip r:embed="rId4">
            <a:alphaModFix/>
          </a:blip>
          <a:srcRect b="6124" l="0" r="0" t="0"/>
          <a:stretch/>
        </p:blipFill>
        <p:spPr>
          <a:xfrm>
            <a:off x="415600" y="645101"/>
            <a:ext cx="10300025" cy="2783899"/>
          </a:xfrm>
          <a:prstGeom prst="rect">
            <a:avLst/>
          </a:prstGeom>
          <a:noFill/>
          <a:ln>
            <a:noFill/>
          </a:ln>
        </p:spPr>
      </p:pic>
      <p:sp>
        <p:nvSpPr>
          <p:cNvPr id="215" name="Google Shape;215;p14"/>
          <p:cNvSpPr txBox="1"/>
          <p:nvPr/>
        </p:nvSpPr>
        <p:spPr>
          <a:xfrm>
            <a:off x="4467225" y="3576792"/>
            <a:ext cx="20669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Table 3</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5"/>
          <p:cNvSpPr txBox="1"/>
          <p:nvPr>
            <p:ph idx="1" type="body"/>
          </p:nvPr>
        </p:nvSpPr>
        <p:spPr>
          <a:xfrm>
            <a:off x="415600" y="167733"/>
            <a:ext cx="11360800" cy="6325200"/>
          </a:xfrm>
          <a:prstGeom prst="rect">
            <a:avLst/>
          </a:prstGeom>
          <a:noFill/>
          <a:ln>
            <a:noFill/>
          </a:ln>
        </p:spPr>
        <p:txBody>
          <a:bodyPr anchorCtr="0" anchor="t" bIns="121900" lIns="121900" spcFirstLastPara="1" rIns="121900" wrap="square" tIns="121900">
            <a:normAutofit/>
          </a:bodyPr>
          <a:lstStyle/>
          <a:p>
            <a:pPr indent="-285750" lvl="0" marL="285750" rtl="0" algn="l">
              <a:lnSpc>
                <a:spcPct val="90000"/>
              </a:lnSpc>
              <a:spcBef>
                <a:spcPts val="0"/>
              </a:spcBef>
              <a:spcAft>
                <a:spcPts val="0"/>
              </a:spcAft>
              <a:buClr>
                <a:schemeClr val="dk1"/>
              </a:buClr>
              <a:buSzPts val="1800"/>
              <a:buFont typeface="Noto Sans Symbols"/>
              <a:buChar char="▪"/>
            </a:pPr>
            <a:r>
              <a:rPr lang="en-US" sz="1733">
                <a:solidFill>
                  <a:schemeClr val="dk1"/>
                </a:solidFill>
                <a:latin typeface="Times New Roman"/>
                <a:ea typeface="Times New Roman"/>
                <a:cs typeface="Times New Roman"/>
                <a:sym typeface="Times New Roman"/>
              </a:rPr>
              <a:t>Table 5 is the confusion matrix for training data set:</a:t>
            </a:r>
            <a:r>
              <a:rPr lang="en-US"/>
              <a:t>            </a:t>
            </a:r>
            <a:r>
              <a:rPr lang="en-US" sz="1733">
                <a:solidFill>
                  <a:schemeClr val="dk1"/>
                </a:solidFill>
                <a:latin typeface="Times New Roman"/>
                <a:ea typeface="Times New Roman"/>
                <a:cs typeface="Times New Roman"/>
                <a:sym typeface="Times New Roman"/>
              </a:rPr>
              <a:t> Table 6 is the confusion matrix for testing data set:</a:t>
            </a:r>
            <a:r>
              <a:rPr lang="en-US"/>
              <a:t>                                  </a:t>
            </a:r>
            <a:endParaRPr/>
          </a:p>
          <a:p>
            <a:pPr indent="0" lvl="0" marL="0" rtl="0" algn="l">
              <a:lnSpc>
                <a:spcPct val="90000"/>
              </a:lnSpc>
              <a:spcBef>
                <a:spcPts val="1600"/>
              </a:spcBef>
              <a:spcAft>
                <a:spcPts val="0"/>
              </a:spcAft>
              <a:buClr>
                <a:schemeClr val="dk1"/>
              </a:buClr>
              <a:buSzPts val="1800"/>
              <a:buNone/>
            </a:pPr>
            <a:r>
              <a:t/>
            </a:r>
            <a:endParaRPr/>
          </a:p>
          <a:p>
            <a:pPr indent="0" lvl="0" marL="0" rtl="0" algn="l">
              <a:lnSpc>
                <a:spcPct val="90000"/>
              </a:lnSpc>
              <a:spcBef>
                <a:spcPts val="1600"/>
              </a:spcBef>
              <a:spcAft>
                <a:spcPts val="0"/>
              </a:spcAft>
              <a:buClr>
                <a:schemeClr val="dk1"/>
              </a:buClr>
              <a:buSzPts val="1800"/>
              <a:buNone/>
            </a:pPr>
            <a:r>
              <a:t/>
            </a:r>
            <a:endParaRPr/>
          </a:p>
          <a:p>
            <a:pPr indent="0" lvl="0" marL="0" rtl="0" algn="l">
              <a:lnSpc>
                <a:spcPct val="90000"/>
              </a:lnSpc>
              <a:spcBef>
                <a:spcPts val="1600"/>
              </a:spcBef>
              <a:spcAft>
                <a:spcPts val="0"/>
              </a:spcAft>
              <a:buClr>
                <a:schemeClr val="dk1"/>
              </a:buClr>
              <a:buSzPts val="1800"/>
              <a:buNone/>
            </a:pPr>
            <a:r>
              <a:t/>
            </a:r>
            <a:endParaRPr/>
          </a:p>
          <a:p>
            <a:pPr indent="0" lvl="0" marL="0" rtl="0" algn="l">
              <a:lnSpc>
                <a:spcPct val="90000"/>
              </a:lnSpc>
              <a:spcBef>
                <a:spcPts val="1600"/>
              </a:spcBef>
              <a:spcAft>
                <a:spcPts val="0"/>
              </a:spcAft>
              <a:buClr>
                <a:schemeClr val="dk1"/>
              </a:buClr>
              <a:buSzPts val="1800"/>
              <a:buNone/>
            </a:pPr>
            <a:r>
              <a:rPr lang="en-US" sz="933"/>
              <a:t>                                                      </a:t>
            </a:r>
            <a:endParaRPr sz="933"/>
          </a:p>
          <a:p>
            <a:pPr indent="0" lvl="0" marL="0" rtl="0" algn="l">
              <a:lnSpc>
                <a:spcPct val="115000"/>
              </a:lnSpc>
              <a:spcBef>
                <a:spcPts val="1600"/>
              </a:spcBef>
              <a:spcAft>
                <a:spcPts val="0"/>
              </a:spcAft>
              <a:buClr>
                <a:schemeClr val="dk1"/>
              </a:buClr>
              <a:buSzPts val="1800"/>
              <a:buNone/>
            </a:pPr>
            <a:r>
              <a:t/>
            </a:r>
            <a:endParaRPr sz="1600">
              <a:solidFill>
                <a:schemeClr val="dk1"/>
              </a:solidFill>
              <a:latin typeface="Times New Roman"/>
              <a:ea typeface="Times New Roman"/>
              <a:cs typeface="Times New Roman"/>
              <a:sym typeface="Times New Roman"/>
            </a:endParaRPr>
          </a:p>
          <a:p>
            <a:pPr indent="-285750" lvl="0" marL="285750" rtl="0" algn="l">
              <a:lnSpc>
                <a:spcPct val="115000"/>
              </a:lnSpc>
              <a:spcBef>
                <a:spcPts val="0"/>
              </a:spcBef>
              <a:spcAft>
                <a:spcPts val="0"/>
              </a:spcAft>
              <a:buClr>
                <a:schemeClr val="dk1"/>
              </a:buClr>
              <a:buSzPts val="1800"/>
              <a:buFont typeface="Noto Sans Symbols"/>
              <a:buChar char="▪"/>
            </a:pPr>
            <a:r>
              <a:rPr lang="en-US" sz="1600">
                <a:solidFill>
                  <a:schemeClr val="dk1"/>
                </a:solidFill>
                <a:latin typeface="Times New Roman"/>
                <a:ea typeface="Times New Roman"/>
                <a:cs typeface="Times New Roman"/>
                <a:sym typeface="Times New Roman"/>
              </a:rPr>
              <a:t>The Accuracy of the training set is 78.87% &amp; the testing set is 75.61% .</a:t>
            </a:r>
            <a:endParaRPr sz="1600">
              <a:solidFill>
                <a:schemeClr val="dk1"/>
              </a:solidFill>
              <a:latin typeface="Times New Roman"/>
              <a:ea typeface="Times New Roman"/>
              <a:cs typeface="Times New Roman"/>
              <a:sym typeface="Times New Roman"/>
            </a:endParaRPr>
          </a:p>
          <a:p>
            <a:pPr indent="-285750" lvl="0" marL="285750" rtl="0" algn="l">
              <a:lnSpc>
                <a:spcPct val="115000"/>
              </a:lnSpc>
              <a:spcBef>
                <a:spcPts val="0"/>
              </a:spcBef>
              <a:spcAft>
                <a:spcPts val="0"/>
              </a:spcAft>
              <a:buClr>
                <a:schemeClr val="dk1"/>
              </a:buClr>
              <a:buSzPts val="1800"/>
              <a:buFont typeface="Noto Sans Symbols"/>
              <a:buChar char="▪"/>
            </a:pPr>
            <a:r>
              <a:rPr lang="en-US" sz="1600">
                <a:solidFill>
                  <a:schemeClr val="dk1"/>
                </a:solidFill>
                <a:latin typeface="Times New Roman"/>
                <a:ea typeface="Times New Roman"/>
                <a:cs typeface="Times New Roman"/>
                <a:sym typeface="Times New Roman"/>
              </a:rPr>
              <a:t>Hence the results of the testing set are very close to the results of the training set                                                                                                               hence we can say that our model is a good fit and ready for future prediction.</a:t>
            </a:r>
            <a:endParaRPr sz="1600">
              <a:solidFill>
                <a:schemeClr val="dk1"/>
              </a:solidFill>
              <a:latin typeface="Times New Roman"/>
              <a:ea typeface="Times New Roman"/>
              <a:cs typeface="Times New Roman"/>
              <a:sym typeface="Times New Roman"/>
            </a:endParaRPr>
          </a:p>
          <a:p>
            <a:pPr indent="-285750" lvl="0" marL="285750" rtl="0" algn="l">
              <a:lnSpc>
                <a:spcPct val="115000"/>
              </a:lnSpc>
              <a:spcBef>
                <a:spcPts val="0"/>
              </a:spcBef>
              <a:spcAft>
                <a:spcPts val="0"/>
              </a:spcAft>
              <a:buClr>
                <a:schemeClr val="dk1"/>
              </a:buClr>
              <a:buSzPts val="1800"/>
              <a:buFont typeface="Noto Sans Symbols"/>
              <a:buChar char="▪"/>
            </a:pPr>
            <a:r>
              <a:rPr lang="en-US" sz="1733">
                <a:solidFill>
                  <a:schemeClr val="dk1"/>
                </a:solidFill>
                <a:latin typeface="Times New Roman"/>
                <a:ea typeface="Times New Roman"/>
                <a:cs typeface="Times New Roman"/>
                <a:sym typeface="Times New Roman"/>
              </a:rPr>
              <a:t>Significant features for this model are given in the table 7 along                                                                                                                  with their significance.</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t/>
            </a:r>
            <a:endParaRPr sz="1733">
              <a:solidFill>
                <a:schemeClr val="dk1"/>
              </a:solidFill>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ts val="1800"/>
              <a:buNone/>
            </a:pPr>
            <a:r>
              <a:t/>
            </a:r>
            <a:endParaRPr sz="1600"/>
          </a:p>
          <a:p>
            <a:pPr indent="0" lvl="0" marL="0" rtl="0" algn="l">
              <a:lnSpc>
                <a:spcPct val="90000"/>
              </a:lnSpc>
              <a:spcBef>
                <a:spcPts val="1600"/>
              </a:spcBef>
              <a:spcAft>
                <a:spcPts val="1600"/>
              </a:spcAft>
              <a:buClr>
                <a:schemeClr val="dk1"/>
              </a:buClr>
              <a:buSzPts val="1800"/>
              <a:buNone/>
            </a:pPr>
            <a:r>
              <a:rPr lang="en-US"/>
              <a:t>                                                    </a:t>
            </a:r>
            <a:endParaRPr/>
          </a:p>
        </p:txBody>
      </p:sp>
      <p:pic>
        <p:nvPicPr>
          <p:cNvPr id="221" name="Google Shape;221;p15"/>
          <p:cNvPicPr preferRelativeResize="0"/>
          <p:nvPr/>
        </p:nvPicPr>
        <p:blipFill rotWithShape="1">
          <a:blip r:embed="rId3">
            <a:alphaModFix/>
          </a:blip>
          <a:srcRect b="17579" l="0" r="0" t="0"/>
          <a:stretch/>
        </p:blipFill>
        <p:spPr>
          <a:xfrm>
            <a:off x="525633" y="647285"/>
            <a:ext cx="4292600" cy="1852724"/>
          </a:xfrm>
          <a:prstGeom prst="rect">
            <a:avLst/>
          </a:prstGeom>
          <a:noFill/>
          <a:ln>
            <a:noFill/>
          </a:ln>
        </p:spPr>
      </p:pic>
      <p:pic>
        <p:nvPicPr>
          <p:cNvPr id="222" name="Google Shape;222;p15"/>
          <p:cNvPicPr preferRelativeResize="0"/>
          <p:nvPr/>
        </p:nvPicPr>
        <p:blipFill rotWithShape="1">
          <a:blip r:embed="rId4">
            <a:alphaModFix/>
          </a:blip>
          <a:srcRect b="17208" l="0" r="0" t="0"/>
          <a:stretch/>
        </p:blipFill>
        <p:spPr>
          <a:xfrm>
            <a:off x="6095985" y="659985"/>
            <a:ext cx="4686300" cy="1840024"/>
          </a:xfrm>
          <a:prstGeom prst="rect">
            <a:avLst/>
          </a:prstGeom>
          <a:noFill/>
          <a:ln>
            <a:noFill/>
          </a:ln>
        </p:spPr>
      </p:pic>
      <p:pic>
        <p:nvPicPr>
          <p:cNvPr id="223" name="Google Shape;223;p15"/>
          <p:cNvPicPr preferRelativeResize="0"/>
          <p:nvPr/>
        </p:nvPicPr>
        <p:blipFill rotWithShape="1">
          <a:blip r:embed="rId5">
            <a:alphaModFix/>
          </a:blip>
          <a:srcRect b="10053" l="0" r="0" t="0"/>
          <a:stretch/>
        </p:blipFill>
        <p:spPr>
          <a:xfrm>
            <a:off x="7393641" y="2906733"/>
            <a:ext cx="3263900" cy="3187092"/>
          </a:xfrm>
          <a:prstGeom prst="rect">
            <a:avLst/>
          </a:prstGeom>
          <a:noFill/>
          <a:ln>
            <a:noFill/>
          </a:ln>
        </p:spPr>
      </p:pic>
      <p:sp>
        <p:nvSpPr>
          <p:cNvPr id="224" name="Google Shape;224;p15"/>
          <p:cNvSpPr txBox="1"/>
          <p:nvPr/>
        </p:nvSpPr>
        <p:spPr>
          <a:xfrm>
            <a:off x="1979578" y="2500009"/>
            <a:ext cx="914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Table 5</a:t>
            </a:r>
            <a:endParaRPr/>
          </a:p>
        </p:txBody>
      </p:sp>
      <p:sp>
        <p:nvSpPr>
          <p:cNvPr id="225" name="Google Shape;225;p15"/>
          <p:cNvSpPr txBox="1"/>
          <p:nvPr/>
        </p:nvSpPr>
        <p:spPr>
          <a:xfrm>
            <a:off x="8117178" y="2460751"/>
            <a:ext cx="914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Table 6</a:t>
            </a:r>
            <a:endParaRPr sz="1800">
              <a:solidFill>
                <a:schemeClr val="dk1"/>
              </a:solidFill>
              <a:latin typeface="Calibri"/>
              <a:ea typeface="Calibri"/>
              <a:cs typeface="Calibri"/>
              <a:sym typeface="Calibri"/>
            </a:endParaRPr>
          </a:p>
        </p:txBody>
      </p:sp>
      <p:sp>
        <p:nvSpPr>
          <p:cNvPr id="226" name="Google Shape;226;p15"/>
          <p:cNvSpPr txBox="1"/>
          <p:nvPr/>
        </p:nvSpPr>
        <p:spPr>
          <a:xfrm>
            <a:off x="8439135" y="5985809"/>
            <a:ext cx="9024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Table 7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0" name="Shape 230"/>
        <p:cNvGrpSpPr/>
        <p:nvPr/>
      </p:nvGrpSpPr>
      <p:grpSpPr>
        <a:xfrm>
          <a:off x="0" y="0"/>
          <a:ext cx="0" cy="0"/>
          <a:chOff x="0" y="0"/>
          <a:chExt cx="0" cy="0"/>
        </a:xfrm>
      </p:grpSpPr>
      <p:sp>
        <p:nvSpPr>
          <p:cNvPr id="231" name="Google Shape;231;p16"/>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 name="Google Shape;232;p16"/>
          <p:cNvSpPr txBox="1"/>
          <p:nvPr>
            <p:ph type="title"/>
          </p:nvPr>
        </p:nvSpPr>
        <p:spPr>
          <a:xfrm>
            <a:off x="533401" y="0"/>
            <a:ext cx="6686550" cy="104326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Binary Logistic Regression</a:t>
            </a:r>
            <a:endParaRPr b="1">
              <a:latin typeface="Times New Roman"/>
              <a:ea typeface="Times New Roman"/>
              <a:cs typeface="Times New Roman"/>
              <a:sym typeface="Times New Roman"/>
            </a:endParaRPr>
          </a:p>
        </p:txBody>
      </p:sp>
      <p:sp>
        <p:nvSpPr>
          <p:cNvPr id="233" name="Google Shape;233;p16"/>
          <p:cNvSpPr txBox="1"/>
          <p:nvPr>
            <p:ph idx="1" type="body"/>
          </p:nvPr>
        </p:nvSpPr>
        <p:spPr>
          <a:xfrm>
            <a:off x="533401" y="1500326"/>
            <a:ext cx="6448424" cy="4719499"/>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000000"/>
              </a:buClr>
              <a:buSzPts val="2000"/>
              <a:buChar char="•"/>
            </a:pPr>
            <a:r>
              <a:rPr b="1" lang="en-US" sz="2000">
                <a:solidFill>
                  <a:srgbClr val="000000"/>
                </a:solidFill>
                <a:latin typeface="Times New Roman"/>
                <a:ea typeface="Times New Roman"/>
                <a:cs typeface="Times New Roman"/>
                <a:sym typeface="Times New Roman"/>
              </a:rPr>
              <a:t>Objective: </a:t>
            </a:r>
            <a:r>
              <a:rPr lang="en-US" sz="2000">
                <a:solidFill>
                  <a:srgbClr val="000000"/>
                </a:solidFill>
                <a:latin typeface="Times New Roman"/>
                <a:ea typeface="Times New Roman"/>
                <a:cs typeface="Times New Roman"/>
                <a:sym typeface="Times New Roman"/>
              </a:rPr>
              <a:t>To study the socio- demographic factors that affect the usage of OTT platforms. </a:t>
            </a:r>
            <a:endParaRPr sz="2000">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b="1" i="0" sz="2000">
              <a:solidFill>
                <a:srgbClr val="202124"/>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202124"/>
              </a:buClr>
              <a:buSzPts val="2000"/>
              <a:buChar char="•"/>
            </a:pPr>
            <a:r>
              <a:rPr b="1" i="0" lang="en-US" sz="2000">
                <a:solidFill>
                  <a:srgbClr val="202124"/>
                </a:solidFill>
                <a:latin typeface="Times New Roman"/>
                <a:ea typeface="Times New Roman"/>
                <a:cs typeface="Times New Roman"/>
                <a:sym typeface="Times New Roman"/>
              </a:rPr>
              <a:t>Logistic regression</a:t>
            </a:r>
            <a:r>
              <a:rPr b="0" i="0" lang="en-US" sz="2000">
                <a:solidFill>
                  <a:srgbClr val="202124"/>
                </a:solidFill>
                <a:latin typeface="Times New Roman"/>
                <a:ea typeface="Times New Roman"/>
                <a:cs typeface="Times New Roman"/>
                <a:sym typeface="Times New Roman"/>
              </a:rPr>
              <a:t> is the statistical technique used to predict the relationship between predictors (independent variables) and a predicted variable (the dependent variable). </a:t>
            </a:r>
            <a:endParaRPr/>
          </a:p>
          <a:p>
            <a:pPr indent="-101600" lvl="0" marL="228600" rtl="0" algn="l">
              <a:lnSpc>
                <a:spcPct val="90000"/>
              </a:lnSpc>
              <a:spcBef>
                <a:spcPts val="1000"/>
              </a:spcBef>
              <a:spcAft>
                <a:spcPts val="0"/>
              </a:spcAft>
              <a:buClr>
                <a:schemeClr val="dk1"/>
              </a:buClr>
              <a:buSzPts val="2000"/>
              <a:buNone/>
            </a:pPr>
            <a:r>
              <a:t/>
            </a:r>
            <a:endParaRPr b="1" i="0" sz="2000" u="none" strike="noStrike">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Char char="•"/>
            </a:pPr>
            <a:r>
              <a:rPr b="1" i="0" lang="en-US" sz="2000" u="none" strike="noStrike">
                <a:latin typeface="Times New Roman"/>
                <a:ea typeface="Times New Roman"/>
                <a:cs typeface="Times New Roman"/>
                <a:sym typeface="Times New Roman"/>
              </a:rPr>
              <a:t>Assumptions</a:t>
            </a:r>
            <a:r>
              <a:rPr b="0" i="0" lang="en-US" sz="2000" u="none" strike="noStrike">
                <a:latin typeface="Times New Roman"/>
                <a:ea typeface="Times New Roman"/>
                <a:cs typeface="Times New Roman"/>
                <a:sym typeface="Times New Roman"/>
              </a:rPr>
              <a:t>: Independent samples, Dependent variables should be binary, Little or no multicollinearity, Logistic regression assumes linearity of independent variables, Large sample size, No outliers.</a:t>
            </a:r>
            <a:endParaRPr sz="20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                                                   </a:t>
            </a:r>
            <a:endParaRPr/>
          </a:p>
          <a:p>
            <a:pPr indent="-228600" lvl="0" marL="228600" rtl="0" algn="l">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Since all the VIF values for the variables are &gt; 1 and &lt; 5 which suggests the absence of multicollinearity. </a:t>
            </a:r>
            <a:endParaRPr sz="2000">
              <a:latin typeface="Times New Roman"/>
              <a:ea typeface="Times New Roman"/>
              <a:cs typeface="Times New Roman"/>
              <a:sym typeface="Times New Roman"/>
            </a:endParaRPr>
          </a:p>
        </p:txBody>
      </p:sp>
      <p:graphicFrame>
        <p:nvGraphicFramePr>
          <p:cNvPr id="234" name="Google Shape;234;p16"/>
          <p:cNvGraphicFramePr/>
          <p:nvPr/>
        </p:nvGraphicFramePr>
        <p:xfrm>
          <a:off x="7629567" y="1355685"/>
          <a:ext cx="3000000" cy="3000000"/>
        </p:xfrm>
        <a:graphic>
          <a:graphicData uri="http://schemas.openxmlformats.org/drawingml/2006/table">
            <a:tbl>
              <a:tblPr bandRow="1" firstCol="1" firstRow="1">
                <a:noFill/>
                <a:tableStyleId>{97142C27-F887-42DE-9121-6C567777D5FA}</a:tableStyleId>
              </a:tblPr>
              <a:tblGrid>
                <a:gridCol w="2006275"/>
                <a:gridCol w="1127400"/>
              </a:tblGrid>
              <a:tr h="427200">
                <a:tc>
                  <a:txBody>
                    <a:bodyPr/>
                    <a:lstStyle/>
                    <a:p>
                      <a:pPr indent="0" lvl="0" marL="0" marR="0" rtl="0" algn="ctr">
                        <a:lnSpc>
                          <a:spcPct val="107000"/>
                        </a:lnSpc>
                        <a:spcBef>
                          <a:spcPts val="0"/>
                        </a:spcBef>
                        <a:spcAft>
                          <a:spcPts val="0"/>
                        </a:spcAft>
                        <a:buNone/>
                      </a:pPr>
                      <a:r>
                        <a:rPr lang="en-US" sz="2000" u="none" cap="none" strike="noStrike"/>
                        <a:t>        VARIABLE</a:t>
                      </a:r>
                      <a:endParaRPr sz="1700" u="none" cap="none" strike="noStrike">
                        <a:latin typeface="Calibri"/>
                        <a:ea typeface="Calibri"/>
                        <a:cs typeface="Calibri"/>
                        <a:sym typeface="Calibri"/>
                      </a:endParaRPr>
                    </a:p>
                  </a:txBody>
                  <a:tcPr marT="97150" marB="97150" marR="97150" marL="97150"/>
                </a:tc>
                <a:tc>
                  <a:txBody>
                    <a:bodyPr/>
                    <a:lstStyle/>
                    <a:p>
                      <a:pPr indent="0" lvl="0" marL="0" marR="0" rtl="0" algn="ctr">
                        <a:lnSpc>
                          <a:spcPct val="107000"/>
                        </a:lnSpc>
                        <a:spcBef>
                          <a:spcPts val="0"/>
                        </a:spcBef>
                        <a:spcAft>
                          <a:spcPts val="0"/>
                        </a:spcAft>
                        <a:buNone/>
                      </a:pPr>
                      <a:r>
                        <a:rPr lang="en-US" sz="2000" u="none" cap="none" strike="noStrike"/>
                        <a:t>VIF</a:t>
                      </a:r>
                      <a:endParaRPr sz="1700" u="none" cap="none" strike="noStrike">
                        <a:latin typeface="Calibri"/>
                        <a:ea typeface="Calibri"/>
                        <a:cs typeface="Calibri"/>
                        <a:sym typeface="Calibri"/>
                      </a:endParaRPr>
                    </a:p>
                  </a:txBody>
                  <a:tcPr marT="97150" marB="97150" marR="97150" marL="97150"/>
                </a:tc>
              </a:tr>
              <a:tr h="427200">
                <a:tc>
                  <a:txBody>
                    <a:bodyPr/>
                    <a:lstStyle/>
                    <a:p>
                      <a:pPr indent="0" lvl="0" marL="0" marR="323850" rtl="0" algn="l">
                        <a:lnSpc>
                          <a:spcPct val="107000"/>
                        </a:lnSpc>
                        <a:spcBef>
                          <a:spcPts val="0"/>
                        </a:spcBef>
                        <a:spcAft>
                          <a:spcPts val="0"/>
                        </a:spcAft>
                        <a:buNone/>
                      </a:pPr>
                      <a:r>
                        <a:rPr lang="en-US" sz="2000" u="none" cap="none" strike="noStrike"/>
                        <a:t>Gender</a:t>
                      </a:r>
                      <a:endParaRPr sz="1700" u="none" cap="none" strike="noStrike">
                        <a:latin typeface="Calibri"/>
                        <a:ea typeface="Calibri"/>
                        <a:cs typeface="Calibri"/>
                        <a:sym typeface="Calibri"/>
                      </a:endParaRPr>
                    </a:p>
                  </a:txBody>
                  <a:tcPr marT="97150" marB="97150" marR="97150" marL="97150"/>
                </a:tc>
                <a:tc>
                  <a:txBody>
                    <a:bodyPr/>
                    <a:lstStyle/>
                    <a:p>
                      <a:pPr indent="0" lvl="0" marL="0" marR="0" rtl="0" algn="ctr">
                        <a:lnSpc>
                          <a:spcPct val="107000"/>
                        </a:lnSpc>
                        <a:spcBef>
                          <a:spcPts val="0"/>
                        </a:spcBef>
                        <a:spcAft>
                          <a:spcPts val="0"/>
                        </a:spcAft>
                        <a:buNone/>
                      </a:pPr>
                      <a:r>
                        <a:rPr lang="en-US" sz="2000" u="none" cap="none" strike="noStrike"/>
                        <a:t>1.08</a:t>
                      </a:r>
                      <a:endParaRPr sz="1700" u="none" cap="none" strike="noStrike">
                        <a:latin typeface="Calibri"/>
                        <a:ea typeface="Calibri"/>
                        <a:cs typeface="Calibri"/>
                        <a:sym typeface="Calibri"/>
                      </a:endParaRPr>
                    </a:p>
                  </a:txBody>
                  <a:tcPr marT="97150" marB="97150" marR="97150" marL="97150"/>
                </a:tc>
              </a:tr>
              <a:tr h="427200">
                <a:tc>
                  <a:txBody>
                    <a:bodyPr/>
                    <a:lstStyle/>
                    <a:p>
                      <a:pPr indent="0" lvl="0" marL="0" marR="0" rtl="0" algn="l">
                        <a:lnSpc>
                          <a:spcPct val="107000"/>
                        </a:lnSpc>
                        <a:spcBef>
                          <a:spcPts val="0"/>
                        </a:spcBef>
                        <a:spcAft>
                          <a:spcPts val="0"/>
                        </a:spcAft>
                        <a:buNone/>
                      </a:pPr>
                      <a:r>
                        <a:rPr lang="en-US" sz="2000" u="none" cap="none" strike="noStrike"/>
                        <a:t>Age</a:t>
                      </a:r>
                      <a:endParaRPr sz="1700" u="none" cap="none" strike="noStrike">
                        <a:latin typeface="Calibri"/>
                        <a:ea typeface="Calibri"/>
                        <a:cs typeface="Calibri"/>
                        <a:sym typeface="Calibri"/>
                      </a:endParaRPr>
                    </a:p>
                  </a:txBody>
                  <a:tcPr marT="97150" marB="97150" marR="97150" marL="97150"/>
                </a:tc>
                <a:tc>
                  <a:txBody>
                    <a:bodyPr/>
                    <a:lstStyle/>
                    <a:p>
                      <a:pPr indent="0" lvl="0" marL="0" marR="0" rtl="0" algn="ctr">
                        <a:lnSpc>
                          <a:spcPct val="107000"/>
                        </a:lnSpc>
                        <a:spcBef>
                          <a:spcPts val="0"/>
                        </a:spcBef>
                        <a:spcAft>
                          <a:spcPts val="0"/>
                        </a:spcAft>
                        <a:buNone/>
                      </a:pPr>
                      <a:r>
                        <a:rPr lang="en-US" sz="2000" u="none" cap="none" strike="noStrike"/>
                        <a:t>2.2</a:t>
                      </a:r>
                      <a:endParaRPr sz="1700" u="none" cap="none" strike="noStrike">
                        <a:latin typeface="Calibri"/>
                        <a:ea typeface="Calibri"/>
                        <a:cs typeface="Calibri"/>
                        <a:sym typeface="Calibri"/>
                      </a:endParaRPr>
                    </a:p>
                  </a:txBody>
                  <a:tcPr marT="97150" marB="97150" marR="97150" marL="97150"/>
                </a:tc>
              </a:tr>
              <a:tr h="427200">
                <a:tc>
                  <a:txBody>
                    <a:bodyPr/>
                    <a:lstStyle/>
                    <a:p>
                      <a:pPr indent="0" lvl="0" marL="0" marR="0" rtl="0" algn="l">
                        <a:lnSpc>
                          <a:spcPct val="107000"/>
                        </a:lnSpc>
                        <a:spcBef>
                          <a:spcPts val="0"/>
                        </a:spcBef>
                        <a:spcAft>
                          <a:spcPts val="0"/>
                        </a:spcAft>
                        <a:buNone/>
                      </a:pPr>
                      <a:r>
                        <a:rPr lang="en-US" sz="2000" u="none" cap="none" strike="noStrike"/>
                        <a:t>Marital status</a:t>
                      </a:r>
                      <a:endParaRPr sz="1700" u="none" cap="none" strike="noStrike">
                        <a:latin typeface="Calibri"/>
                        <a:ea typeface="Calibri"/>
                        <a:cs typeface="Calibri"/>
                        <a:sym typeface="Calibri"/>
                      </a:endParaRPr>
                    </a:p>
                  </a:txBody>
                  <a:tcPr marT="97150" marB="97150" marR="97150" marL="97150"/>
                </a:tc>
                <a:tc>
                  <a:txBody>
                    <a:bodyPr/>
                    <a:lstStyle/>
                    <a:p>
                      <a:pPr indent="0" lvl="0" marL="0" marR="0" rtl="0" algn="ctr">
                        <a:lnSpc>
                          <a:spcPct val="107000"/>
                        </a:lnSpc>
                        <a:spcBef>
                          <a:spcPts val="0"/>
                        </a:spcBef>
                        <a:spcAft>
                          <a:spcPts val="0"/>
                        </a:spcAft>
                        <a:buNone/>
                      </a:pPr>
                      <a:r>
                        <a:rPr lang="en-US" sz="2000" u="none" cap="none" strike="noStrike"/>
                        <a:t>1.94</a:t>
                      </a:r>
                      <a:endParaRPr sz="1700" u="none" cap="none" strike="noStrike">
                        <a:latin typeface="Calibri"/>
                        <a:ea typeface="Calibri"/>
                        <a:cs typeface="Calibri"/>
                        <a:sym typeface="Calibri"/>
                      </a:endParaRPr>
                    </a:p>
                  </a:txBody>
                  <a:tcPr marT="97150" marB="97150" marR="97150" marL="97150"/>
                </a:tc>
              </a:tr>
              <a:tr h="427200">
                <a:tc>
                  <a:txBody>
                    <a:bodyPr/>
                    <a:lstStyle/>
                    <a:p>
                      <a:pPr indent="0" lvl="0" marL="0" marR="0" rtl="0" algn="l">
                        <a:lnSpc>
                          <a:spcPct val="107000"/>
                        </a:lnSpc>
                        <a:spcBef>
                          <a:spcPts val="0"/>
                        </a:spcBef>
                        <a:spcAft>
                          <a:spcPts val="0"/>
                        </a:spcAft>
                        <a:buNone/>
                      </a:pPr>
                      <a:r>
                        <a:rPr lang="en-US" sz="2000" u="none" cap="none" strike="noStrike"/>
                        <a:t>Education</a:t>
                      </a:r>
                      <a:endParaRPr sz="1700" u="none" cap="none" strike="noStrike">
                        <a:latin typeface="Calibri"/>
                        <a:ea typeface="Calibri"/>
                        <a:cs typeface="Calibri"/>
                        <a:sym typeface="Calibri"/>
                      </a:endParaRPr>
                    </a:p>
                  </a:txBody>
                  <a:tcPr marT="97150" marB="97150" marR="97150" marL="97150"/>
                </a:tc>
                <a:tc>
                  <a:txBody>
                    <a:bodyPr/>
                    <a:lstStyle/>
                    <a:p>
                      <a:pPr indent="0" lvl="0" marL="0" marR="0" rtl="0" algn="ctr">
                        <a:lnSpc>
                          <a:spcPct val="107000"/>
                        </a:lnSpc>
                        <a:spcBef>
                          <a:spcPts val="0"/>
                        </a:spcBef>
                        <a:spcAft>
                          <a:spcPts val="0"/>
                        </a:spcAft>
                        <a:buNone/>
                      </a:pPr>
                      <a:r>
                        <a:rPr lang="en-US" sz="2000" u="none" cap="none" strike="noStrike"/>
                        <a:t>1.19</a:t>
                      </a:r>
                      <a:endParaRPr sz="1700" u="none" cap="none" strike="noStrike">
                        <a:latin typeface="Calibri"/>
                        <a:ea typeface="Calibri"/>
                        <a:cs typeface="Calibri"/>
                        <a:sym typeface="Calibri"/>
                      </a:endParaRPr>
                    </a:p>
                  </a:txBody>
                  <a:tcPr marT="97150" marB="97150" marR="97150" marL="97150"/>
                </a:tc>
              </a:tr>
              <a:tr h="427200">
                <a:tc>
                  <a:txBody>
                    <a:bodyPr/>
                    <a:lstStyle/>
                    <a:p>
                      <a:pPr indent="0" lvl="0" marL="0" marR="0" rtl="0" algn="l">
                        <a:lnSpc>
                          <a:spcPct val="107000"/>
                        </a:lnSpc>
                        <a:spcBef>
                          <a:spcPts val="0"/>
                        </a:spcBef>
                        <a:spcAft>
                          <a:spcPts val="0"/>
                        </a:spcAft>
                        <a:buNone/>
                      </a:pPr>
                      <a:r>
                        <a:rPr lang="en-US" sz="2000" u="none" cap="none" strike="noStrike"/>
                        <a:t>Employment</a:t>
                      </a:r>
                      <a:endParaRPr sz="1700" u="none" cap="none" strike="noStrike">
                        <a:latin typeface="Calibri"/>
                        <a:ea typeface="Calibri"/>
                        <a:cs typeface="Calibri"/>
                        <a:sym typeface="Calibri"/>
                      </a:endParaRPr>
                    </a:p>
                  </a:txBody>
                  <a:tcPr marT="97150" marB="97150" marR="97150" marL="97150"/>
                </a:tc>
                <a:tc>
                  <a:txBody>
                    <a:bodyPr/>
                    <a:lstStyle/>
                    <a:p>
                      <a:pPr indent="0" lvl="0" marL="0" marR="0" rtl="0" algn="ctr">
                        <a:lnSpc>
                          <a:spcPct val="107000"/>
                        </a:lnSpc>
                        <a:spcBef>
                          <a:spcPts val="0"/>
                        </a:spcBef>
                        <a:spcAft>
                          <a:spcPts val="0"/>
                        </a:spcAft>
                        <a:buNone/>
                      </a:pPr>
                      <a:r>
                        <a:rPr lang="en-US" sz="2000" u="none" cap="none" strike="noStrike"/>
                        <a:t>1.42</a:t>
                      </a:r>
                      <a:endParaRPr sz="1700" u="none" cap="none" strike="noStrike">
                        <a:latin typeface="Calibri"/>
                        <a:ea typeface="Calibri"/>
                        <a:cs typeface="Calibri"/>
                        <a:sym typeface="Calibri"/>
                      </a:endParaRPr>
                    </a:p>
                  </a:txBody>
                  <a:tcPr marT="97150" marB="97150" marR="97150" marL="97150"/>
                </a:tc>
              </a:tr>
              <a:tr h="427200">
                <a:tc>
                  <a:txBody>
                    <a:bodyPr/>
                    <a:lstStyle/>
                    <a:p>
                      <a:pPr indent="0" lvl="0" marL="0" marR="0" rtl="0" algn="l">
                        <a:lnSpc>
                          <a:spcPct val="107000"/>
                        </a:lnSpc>
                        <a:spcBef>
                          <a:spcPts val="0"/>
                        </a:spcBef>
                        <a:spcAft>
                          <a:spcPts val="0"/>
                        </a:spcAft>
                        <a:buNone/>
                      </a:pPr>
                      <a:r>
                        <a:rPr lang="en-US" sz="2000" u="none" cap="none" strike="noStrike"/>
                        <a:t>Members family</a:t>
                      </a:r>
                      <a:endParaRPr sz="1700" u="none" cap="none" strike="noStrike">
                        <a:latin typeface="Calibri"/>
                        <a:ea typeface="Calibri"/>
                        <a:cs typeface="Calibri"/>
                        <a:sym typeface="Calibri"/>
                      </a:endParaRPr>
                    </a:p>
                  </a:txBody>
                  <a:tcPr marT="97150" marB="97150" marR="97150" marL="97150"/>
                </a:tc>
                <a:tc>
                  <a:txBody>
                    <a:bodyPr/>
                    <a:lstStyle/>
                    <a:p>
                      <a:pPr indent="0" lvl="0" marL="0" marR="0" rtl="0" algn="ctr">
                        <a:lnSpc>
                          <a:spcPct val="107000"/>
                        </a:lnSpc>
                        <a:spcBef>
                          <a:spcPts val="0"/>
                        </a:spcBef>
                        <a:spcAft>
                          <a:spcPts val="0"/>
                        </a:spcAft>
                        <a:buNone/>
                      </a:pPr>
                      <a:r>
                        <a:rPr lang="en-US" sz="2000" u="none" cap="none" strike="noStrike"/>
                        <a:t>1.03</a:t>
                      </a:r>
                      <a:endParaRPr sz="1700" u="none" cap="none" strike="noStrike">
                        <a:latin typeface="Calibri"/>
                        <a:ea typeface="Calibri"/>
                        <a:cs typeface="Calibri"/>
                        <a:sym typeface="Calibri"/>
                      </a:endParaRPr>
                    </a:p>
                  </a:txBody>
                  <a:tcPr marT="97150" marB="97150" marR="97150" marL="97150"/>
                </a:tc>
              </a:tr>
              <a:tr h="427200">
                <a:tc>
                  <a:txBody>
                    <a:bodyPr/>
                    <a:lstStyle/>
                    <a:p>
                      <a:pPr indent="0" lvl="0" marL="0" marR="0" rtl="0" algn="l">
                        <a:lnSpc>
                          <a:spcPct val="107000"/>
                        </a:lnSpc>
                        <a:spcBef>
                          <a:spcPts val="0"/>
                        </a:spcBef>
                        <a:spcAft>
                          <a:spcPts val="0"/>
                        </a:spcAft>
                        <a:buNone/>
                      </a:pPr>
                      <a:r>
                        <a:rPr lang="en-US" sz="2000" u="none" cap="none" strike="noStrike"/>
                        <a:t>Living area</a:t>
                      </a:r>
                      <a:endParaRPr sz="1700" u="none" cap="none" strike="noStrike">
                        <a:latin typeface="Calibri"/>
                        <a:ea typeface="Calibri"/>
                        <a:cs typeface="Calibri"/>
                        <a:sym typeface="Calibri"/>
                      </a:endParaRPr>
                    </a:p>
                  </a:txBody>
                  <a:tcPr marT="97150" marB="97150" marR="97150" marL="97150"/>
                </a:tc>
                <a:tc>
                  <a:txBody>
                    <a:bodyPr/>
                    <a:lstStyle/>
                    <a:p>
                      <a:pPr indent="0" lvl="0" marL="0" marR="0" rtl="0" algn="ctr">
                        <a:lnSpc>
                          <a:spcPct val="107000"/>
                        </a:lnSpc>
                        <a:spcBef>
                          <a:spcPts val="0"/>
                        </a:spcBef>
                        <a:spcAft>
                          <a:spcPts val="0"/>
                        </a:spcAft>
                        <a:buNone/>
                      </a:pPr>
                      <a:r>
                        <a:rPr lang="en-US" sz="2000" u="none" cap="none" strike="noStrike"/>
                        <a:t>1.03</a:t>
                      </a:r>
                      <a:endParaRPr sz="1700" u="none" cap="none" strike="noStrike">
                        <a:latin typeface="Calibri"/>
                        <a:ea typeface="Calibri"/>
                        <a:cs typeface="Calibri"/>
                        <a:sym typeface="Calibri"/>
                      </a:endParaRPr>
                    </a:p>
                  </a:txBody>
                  <a:tcPr marT="97150" marB="97150" marR="97150" marL="97150"/>
                </a:tc>
              </a:tr>
              <a:tr h="427200">
                <a:tc>
                  <a:txBody>
                    <a:bodyPr/>
                    <a:lstStyle/>
                    <a:p>
                      <a:pPr indent="0" lvl="0" marL="0" marR="0" rtl="0" algn="l">
                        <a:lnSpc>
                          <a:spcPct val="107000"/>
                        </a:lnSpc>
                        <a:spcBef>
                          <a:spcPts val="0"/>
                        </a:spcBef>
                        <a:spcAft>
                          <a:spcPts val="0"/>
                        </a:spcAft>
                        <a:buNone/>
                      </a:pPr>
                      <a:r>
                        <a:rPr lang="en-US" sz="2000" u="none" cap="none" strike="noStrike"/>
                        <a:t>Family Income</a:t>
                      </a:r>
                      <a:endParaRPr sz="1700" u="none" cap="none" strike="noStrike">
                        <a:latin typeface="Calibri"/>
                        <a:ea typeface="Calibri"/>
                        <a:cs typeface="Calibri"/>
                        <a:sym typeface="Calibri"/>
                      </a:endParaRPr>
                    </a:p>
                  </a:txBody>
                  <a:tcPr marT="97150" marB="97150" marR="97150" marL="97150"/>
                </a:tc>
                <a:tc>
                  <a:txBody>
                    <a:bodyPr/>
                    <a:lstStyle/>
                    <a:p>
                      <a:pPr indent="0" lvl="0" marL="0" marR="0" rtl="0" algn="ctr">
                        <a:lnSpc>
                          <a:spcPct val="107000"/>
                        </a:lnSpc>
                        <a:spcBef>
                          <a:spcPts val="0"/>
                        </a:spcBef>
                        <a:spcAft>
                          <a:spcPts val="0"/>
                        </a:spcAft>
                        <a:buNone/>
                      </a:pPr>
                      <a:r>
                        <a:rPr lang="en-US" sz="2000" u="none" cap="none" strike="noStrike"/>
                        <a:t>1.13</a:t>
                      </a:r>
                      <a:endParaRPr sz="1700" u="none" cap="none" strike="noStrike">
                        <a:latin typeface="Calibri"/>
                        <a:ea typeface="Calibri"/>
                        <a:cs typeface="Calibri"/>
                        <a:sym typeface="Calibri"/>
                      </a:endParaRPr>
                    </a:p>
                  </a:txBody>
                  <a:tcPr marT="97150" marB="97150" marR="97150" marL="97150"/>
                </a:tc>
              </a:tr>
              <a:tr h="427200">
                <a:tc>
                  <a:txBody>
                    <a:bodyPr/>
                    <a:lstStyle/>
                    <a:p>
                      <a:pPr indent="0" lvl="0" marL="0" marR="0" rtl="0" algn="l">
                        <a:lnSpc>
                          <a:spcPct val="107000"/>
                        </a:lnSpc>
                        <a:spcBef>
                          <a:spcPts val="0"/>
                        </a:spcBef>
                        <a:spcAft>
                          <a:spcPts val="0"/>
                        </a:spcAft>
                        <a:buNone/>
                      </a:pPr>
                      <a:r>
                        <a:rPr lang="en-US" sz="2000" u="none" cap="none" strike="noStrike"/>
                        <a:t>Aware of OTT</a:t>
                      </a:r>
                      <a:endParaRPr sz="1700" u="none" cap="none" strike="noStrike">
                        <a:latin typeface="Calibri"/>
                        <a:ea typeface="Calibri"/>
                        <a:cs typeface="Calibri"/>
                        <a:sym typeface="Calibri"/>
                      </a:endParaRPr>
                    </a:p>
                  </a:txBody>
                  <a:tcPr marT="97150" marB="97150" marR="97150" marL="97150"/>
                </a:tc>
                <a:tc>
                  <a:txBody>
                    <a:bodyPr/>
                    <a:lstStyle/>
                    <a:p>
                      <a:pPr indent="0" lvl="0" marL="0" marR="0" rtl="0" algn="ctr">
                        <a:lnSpc>
                          <a:spcPct val="107000"/>
                        </a:lnSpc>
                        <a:spcBef>
                          <a:spcPts val="0"/>
                        </a:spcBef>
                        <a:spcAft>
                          <a:spcPts val="0"/>
                        </a:spcAft>
                        <a:buNone/>
                      </a:pPr>
                      <a:r>
                        <a:rPr lang="en-US" sz="2000" u="none" cap="none" strike="noStrike"/>
                        <a:t>1.25</a:t>
                      </a:r>
                      <a:endParaRPr sz="1700" u="none" cap="none" strike="noStrike">
                        <a:latin typeface="Calibri"/>
                        <a:ea typeface="Calibri"/>
                        <a:cs typeface="Calibri"/>
                        <a:sym typeface="Calibri"/>
                      </a:endParaRPr>
                    </a:p>
                  </a:txBody>
                  <a:tcPr marT="97150" marB="97150" marR="97150" marL="971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7"/>
          <p:cNvSpPr txBox="1"/>
          <p:nvPr>
            <p:ph type="title"/>
          </p:nvPr>
        </p:nvSpPr>
        <p:spPr>
          <a:xfrm>
            <a:off x="839788" y="365125"/>
            <a:ext cx="10515600" cy="22967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
        <p:nvSpPr>
          <p:cNvPr id="240" name="Google Shape;240;p17"/>
          <p:cNvSpPr txBox="1"/>
          <p:nvPr>
            <p:ph idx="1" type="body"/>
          </p:nvPr>
        </p:nvSpPr>
        <p:spPr>
          <a:xfrm>
            <a:off x="814389" y="291848"/>
            <a:ext cx="5183187" cy="1399306"/>
          </a:xfrm>
          <a:prstGeom prst="rect">
            <a:avLst/>
          </a:prstGeom>
          <a:noFill/>
          <a:ln>
            <a:noFill/>
          </a:ln>
        </p:spPr>
        <p:txBody>
          <a:bodyPr anchorCtr="0" anchor="b" bIns="45700" lIns="91425" spcFirstLastPara="1" rIns="91425" wrap="square" tIns="45700">
            <a:normAutofit lnSpcReduction="10000"/>
          </a:bodyPr>
          <a:lstStyle/>
          <a:p>
            <a:pPr indent="-285750" lvl="0" marL="285750" rtl="0" algn="l">
              <a:lnSpc>
                <a:spcPct val="90000"/>
              </a:lnSpc>
              <a:spcBef>
                <a:spcPts val="0"/>
              </a:spcBef>
              <a:spcAft>
                <a:spcPts val="0"/>
              </a:spcAft>
              <a:buClr>
                <a:srgbClr val="000000"/>
              </a:buClr>
              <a:buSzPts val="2800"/>
              <a:buFont typeface="Noto Sans Symbols"/>
              <a:buChar char="❑"/>
            </a:pPr>
            <a:r>
              <a:rPr lang="en-US" sz="2800">
                <a:solidFill>
                  <a:srgbClr val="000000"/>
                </a:solidFill>
                <a:latin typeface="Times New Roman"/>
                <a:ea typeface="Times New Roman"/>
                <a:cs typeface="Times New Roman"/>
                <a:sym typeface="Times New Roman"/>
              </a:rPr>
              <a:t>FORWARD LIKELIHOOD RATIO SELECTION: </a:t>
            </a:r>
            <a:endParaRPr/>
          </a:p>
        </p:txBody>
      </p:sp>
      <p:sp>
        <p:nvSpPr>
          <p:cNvPr id="241" name="Google Shape;241;p17"/>
          <p:cNvSpPr txBox="1"/>
          <p:nvPr>
            <p:ph idx="2" type="body"/>
          </p:nvPr>
        </p:nvSpPr>
        <p:spPr>
          <a:xfrm>
            <a:off x="630316" y="2228295"/>
            <a:ext cx="5367260" cy="3961368"/>
          </a:xfrm>
          <a:prstGeom prst="rect">
            <a:avLst/>
          </a:prstGeom>
          <a:noFill/>
          <a:ln>
            <a:noFill/>
          </a:ln>
        </p:spPr>
        <p:txBody>
          <a:bodyPr anchorCtr="0" anchor="t" bIns="45700" lIns="91425" spcFirstLastPara="1" rIns="91425" wrap="square" tIns="45700">
            <a:normAutofit fontScale="70000" lnSpcReduction="20000"/>
          </a:bodyPr>
          <a:lstStyle/>
          <a:p>
            <a:pPr indent="-104140" lvl="0" marL="228600" rtl="0" algn="l">
              <a:lnSpc>
                <a:spcPct val="90000"/>
              </a:lnSpc>
              <a:spcBef>
                <a:spcPts val="0"/>
              </a:spcBef>
              <a:spcAft>
                <a:spcPts val="0"/>
              </a:spcAft>
              <a:buClr>
                <a:schemeClr val="dk1"/>
              </a:buClr>
              <a:buSzPct val="100000"/>
              <a:buNone/>
            </a:pPr>
            <a:r>
              <a:t/>
            </a:r>
            <a:endParaRPr/>
          </a:p>
          <a:p>
            <a:pPr indent="-10414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104140" lvl="0" marL="228600" rtl="0" algn="l">
              <a:lnSpc>
                <a:spcPct val="90000"/>
              </a:lnSpc>
              <a:spcBef>
                <a:spcPts val="1000"/>
              </a:spcBef>
              <a:spcAft>
                <a:spcPts val="0"/>
              </a:spcAft>
              <a:buClr>
                <a:schemeClr val="dk1"/>
              </a:buClr>
              <a:buSzPct val="100000"/>
              <a:buNone/>
            </a:pPr>
            <a:r>
              <a:t/>
            </a:r>
            <a:endParaRPr/>
          </a:p>
          <a:p>
            <a:pPr indent="-104140" lvl="0" marL="228600" rtl="0" algn="l">
              <a:lnSpc>
                <a:spcPct val="90000"/>
              </a:lnSpc>
              <a:spcBef>
                <a:spcPts val="1000"/>
              </a:spcBef>
              <a:spcAft>
                <a:spcPts val="0"/>
              </a:spcAft>
              <a:buClr>
                <a:schemeClr val="dk1"/>
              </a:buClr>
              <a:buSzPct val="100000"/>
              <a:buNone/>
            </a:pPr>
            <a:r>
              <a:t/>
            </a:r>
            <a:endParaRPr/>
          </a:p>
          <a:p>
            <a:pPr indent="-10414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sz="2800">
              <a:solidFill>
                <a:srgbClr val="000000"/>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0000"/>
              </a:buClr>
              <a:buSzPct val="100000"/>
              <a:buFont typeface="Noto Sans Symbols"/>
              <a:buChar char="▪"/>
            </a:pPr>
            <a:r>
              <a:rPr lang="en-US" sz="2800">
                <a:solidFill>
                  <a:srgbClr val="000000"/>
                </a:solidFill>
                <a:latin typeface="Times New Roman"/>
                <a:ea typeface="Times New Roman"/>
                <a:cs typeface="Times New Roman"/>
                <a:sym typeface="Times New Roman"/>
              </a:rPr>
              <a:t>There happens to be 4 steps as described in the above table. Awareness about OTT, Age and Family Income are highly significant whereas Members in a family are significant but not as high as the above variables.</a:t>
            </a:r>
            <a:endParaRPr/>
          </a:p>
          <a:p>
            <a:pPr indent="-104140" lvl="0" marL="228600" rtl="0" algn="l">
              <a:lnSpc>
                <a:spcPct val="90000"/>
              </a:lnSpc>
              <a:spcBef>
                <a:spcPts val="1000"/>
              </a:spcBef>
              <a:spcAft>
                <a:spcPts val="0"/>
              </a:spcAft>
              <a:buClr>
                <a:schemeClr val="dk1"/>
              </a:buClr>
              <a:buSzPct val="100000"/>
              <a:buNone/>
            </a:pPr>
            <a:r>
              <a:t/>
            </a:r>
            <a:endParaRPr/>
          </a:p>
        </p:txBody>
      </p:sp>
      <p:sp>
        <p:nvSpPr>
          <p:cNvPr id="242" name="Google Shape;242;p17"/>
          <p:cNvSpPr txBox="1"/>
          <p:nvPr>
            <p:ph idx="3" type="body"/>
          </p:nvPr>
        </p:nvSpPr>
        <p:spPr>
          <a:xfrm>
            <a:off x="6110477" y="867242"/>
            <a:ext cx="5183188" cy="823912"/>
          </a:xfrm>
          <a:prstGeom prst="rect">
            <a:avLst/>
          </a:prstGeom>
          <a:noFill/>
          <a:ln>
            <a:noFill/>
          </a:ln>
        </p:spPr>
        <p:txBody>
          <a:bodyPr anchorCtr="0" anchor="b" bIns="45700" lIns="91425" spcFirstLastPara="1" rIns="91425" wrap="square" tIns="45700">
            <a:normAutofit lnSpcReduction="10000"/>
          </a:bodyPr>
          <a:lstStyle/>
          <a:p>
            <a:pPr indent="-342900" lvl="0" marL="342900" rtl="0" algn="l">
              <a:lnSpc>
                <a:spcPct val="90000"/>
              </a:lnSpc>
              <a:spcBef>
                <a:spcPts val="0"/>
              </a:spcBef>
              <a:spcAft>
                <a:spcPts val="0"/>
              </a:spcAft>
              <a:buClr>
                <a:srgbClr val="000000"/>
              </a:buClr>
              <a:buSzPts val="2800"/>
              <a:buFont typeface="Noto Sans Symbols"/>
              <a:buChar char="❑"/>
            </a:pPr>
            <a:r>
              <a:rPr lang="en-US" sz="2800">
                <a:solidFill>
                  <a:srgbClr val="000000"/>
                </a:solidFill>
                <a:latin typeface="Times New Roman"/>
                <a:ea typeface="Times New Roman"/>
                <a:cs typeface="Times New Roman"/>
                <a:sym typeface="Times New Roman"/>
              </a:rPr>
              <a:t>SIGNIFICANCE OF THE NEW MODEL: </a:t>
            </a:r>
            <a:endParaRPr/>
          </a:p>
        </p:txBody>
      </p:sp>
      <p:sp>
        <p:nvSpPr>
          <p:cNvPr id="243" name="Google Shape;243;p17"/>
          <p:cNvSpPr txBox="1"/>
          <p:nvPr>
            <p:ph idx="4" type="body"/>
          </p:nvPr>
        </p:nvSpPr>
        <p:spPr>
          <a:xfrm>
            <a:off x="6172200" y="1963592"/>
            <a:ext cx="4933765" cy="4226071"/>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rgbClr val="000000"/>
              </a:buClr>
              <a:buSzPct val="100000"/>
              <a:buFont typeface="Noto Sans Symbols"/>
              <a:buChar char="▪"/>
            </a:pPr>
            <a:r>
              <a:rPr lang="en-US" sz="2800">
                <a:solidFill>
                  <a:srgbClr val="000000"/>
                </a:solidFill>
                <a:latin typeface="Times New Roman"/>
                <a:ea typeface="Times New Roman"/>
                <a:cs typeface="Times New Roman"/>
                <a:sym typeface="Times New Roman"/>
              </a:rPr>
              <a:t>H</a:t>
            </a:r>
            <a:r>
              <a:rPr baseline="-25000" lang="en-US" sz="2800">
                <a:solidFill>
                  <a:srgbClr val="000000"/>
                </a:solidFill>
                <a:latin typeface="Times New Roman"/>
                <a:ea typeface="Times New Roman"/>
                <a:cs typeface="Times New Roman"/>
                <a:sym typeface="Times New Roman"/>
              </a:rPr>
              <a:t>0</a:t>
            </a:r>
            <a:r>
              <a:rPr lang="en-US" sz="2800">
                <a:solidFill>
                  <a:srgbClr val="000000"/>
                </a:solidFill>
                <a:latin typeface="Times New Roman"/>
                <a:ea typeface="Times New Roman"/>
                <a:cs typeface="Times New Roman"/>
                <a:sym typeface="Times New Roman"/>
              </a:rPr>
              <a:t>: β</a:t>
            </a:r>
            <a:r>
              <a:rPr baseline="-25000" lang="en-US" sz="2800">
                <a:solidFill>
                  <a:srgbClr val="000000"/>
                </a:solidFill>
                <a:latin typeface="Times New Roman"/>
                <a:ea typeface="Times New Roman"/>
                <a:cs typeface="Times New Roman"/>
                <a:sym typeface="Times New Roman"/>
              </a:rPr>
              <a:t>1</a:t>
            </a:r>
            <a:r>
              <a:rPr lang="en-US" sz="2800">
                <a:solidFill>
                  <a:srgbClr val="000000"/>
                </a:solidFill>
                <a:latin typeface="Times New Roman"/>
                <a:ea typeface="Times New Roman"/>
                <a:cs typeface="Times New Roman"/>
                <a:sym typeface="Times New Roman"/>
              </a:rPr>
              <a:t>= β</a:t>
            </a:r>
            <a:r>
              <a:rPr baseline="-25000" lang="en-US" sz="2800">
                <a:solidFill>
                  <a:srgbClr val="000000"/>
                </a:solidFill>
                <a:latin typeface="Times New Roman"/>
                <a:ea typeface="Times New Roman"/>
                <a:cs typeface="Times New Roman"/>
                <a:sym typeface="Times New Roman"/>
              </a:rPr>
              <a:t>2</a:t>
            </a:r>
            <a:r>
              <a:rPr lang="en-US" sz="2800">
                <a:solidFill>
                  <a:srgbClr val="000000"/>
                </a:solidFill>
                <a:latin typeface="Times New Roman"/>
                <a:ea typeface="Times New Roman"/>
                <a:cs typeface="Times New Roman"/>
                <a:sym typeface="Times New Roman"/>
              </a:rPr>
              <a:t>=β</a:t>
            </a:r>
            <a:r>
              <a:rPr baseline="-25000" lang="en-US" sz="2800">
                <a:solidFill>
                  <a:srgbClr val="000000"/>
                </a:solidFill>
                <a:latin typeface="Times New Roman"/>
                <a:ea typeface="Times New Roman"/>
                <a:cs typeface="Times New Roman"/>
                <a:sym typeface="Times New Roman"/>
              </a:rPr>
              <a:t>3</a:t>
            </a:r>
            <a:r>
              <a:rPr lang="en-US" sz="2800">
                <a:solidFill>
                  <a:srgbClr val="000000"/>
                </a:solidFill>
                <a:latin typeface="Times New Roman"/>
                <a:ea typeface="Times New Roman"/>
                <a:cs typeface="Times New Roman"/>
                <a:sym typeface="Times New Roman"/>
              </a:rPr>
              <a:t>= β</a:t>
            </a:r>
            <a:r>
              <a:rPr baseline="-25000" lang="en-US" sz="2800">
                <a:solidFill>
                  <a:srgbClr val="000000"/>
                </a:solidFill>
                <a:latin typeface="Times New Roman"/>
                <a:ea typeface="Times New Roman"/>
                <a:cs typeface="Times New Roman"/>
                <a:sym typeface="Times New Roman"/>
              </a:rPr>
              <a:t>4</a:t>
            </a:r>
            <a:r>
              <a:rPr lang="en-US" sz="2800">
                <a:solidFill>
                  <a:srgbClr val="000000"/>
                </a:solidFill>
                <a:latin typeface="Times New Roman"/>
                <a:ea typeface="Times New Roman"/>
                <a:cs typeface="Times New Roman"/>
                <a:sym typeface="Times New Roman"/>
              </a:rPr>
              <a:t> = 0</a:t>
            </a:r>
            <a:endParaRPr/>
          </a:p>
          <a:p>
            <a:pPr indent="0" lvl="0" marL="0" rtl="0" algn="l">
              <a:lnSpc>
                <a:spcPct val="90000"/>
              </a:lnSpc>
              <a:spcBef>
                <a:spcPts val="1000"/>
              </a:spcBef>
              <a:spcAft>
                <a:spcPts val="0"/>
              </a:spcAft>
              <a:buClr>
                <a:srgbClr val="000000"/>
              </a:buClr>
              <a:buSzPct val="100000"/>
              <a:buNone/>
            </a:pPr>
            <a:r>
              <a:rPr lang="en-US">
                <a:solidFill>
                  <a:srgbClr val="000000"/>
                </a:solidFill>
                <a:latin typeface="Times New Roman"/>
                <a:ea typeface="Times New Roman"/>
                <a:cs typeface="Times New Roman"/>
                <a:sym typeface="Times New Roman"/>
              </a:rPr>
              <a:t>    </a:t>
            </a:r>
            <a:r>
              <a:rPr lang="en-US" sz="2800">
                <a:solidFill>
                  <a:srgbClr val="000000"/>
                </a:solidFill>
                <a:latin typeface="Times New Roman"/>
                <a:ea typeface="Times New Roman"/>
                <a:cs typeface="Times New Roman"/>
                <a:sym typeface="Times New Roman"/>
              </a:rPr>
              <a:t>H</a:t>
            </a:r>
            <a:r>
              <a:rPr baseline="-25000" lang="en-US" sz="2800">
                <a:solidFill>
                  <a:srgbClr val="000000"/>
                </a:solidFill>
                <a:latin typeface="Times New Roman"/>
                <a:ea typeface="Times New Roman"/>
                <a:cs typeface="Times New Roman"/>
                <a:sym typeface="Times New Roman"/>
              </a:rPr>
              <a:t>1</a:t>
            </a:r>
            <a:r>
              <a:rPr lang="en-US" sz="2800">
                <a:solidFill>
                  <a:srgbClr val="000000"/>
                </a:solidFill>
                <a:latin typeface="Times New Roman"/>
                <a:ea typeface="Times New Roman"/>
                <a:cs typeface="Times New Roman"/>
                <a:sym typeface="Times New Roman"/>
              </a:rPr>
              <a:t>: at least one β</a:t>
            </a:r>
            <a:r>
              <a:rPr baseline="-25000" lang="en-US" sz="2800">
                <a:solidFill>
                  <a:srgbClr val="000000"/>
                </a:solidFill>
                <a:latin typeface="Times New Roman"/>
                <a:ea typeface="Times New Roman"/>
                <a:cs typeface="Times New Roman"/>
                <a:sym typeface="Times New Roman"/>
              </a:rPr>
              <a:t>i</a:t>
            </a:r>
            <a:r>
              <a:rPr lang="en-US" sz="2800">
                <a:solidFill>
                  <a:srgbClr val="000000"/>
                </a:solidFill>
                <a:latin typeface="Times New Roman"/>
                <a:ea typeface="Times New Roman"/>
                <a:cs typeface="Times New Roman"/>
                <a:sym typeface="Times New Roman"/>
              </a:rPr>
              <a:t> ≠ 0 (i=1,2,3,4)</a:t>
            </a:r>
            <a:endParaRPr/>
          </a:p>
          <a:p>
            <a:pPr indent="-104140" lvl="0" marL="228600" rtl="0" algn="l">
              <a:lnSpc>
                <a:spcPct val="90000"/>
              </a:lnSpc>
              <a:spcBef>
                <a:spcPts val="1000"/>
              </a:spcBef>
              <a:spcAft>
                <a:spcPts val="0"/>
              </a:spcAft>
              <a:buClr>
                <a:schemeClr val="dk1"/>
              </a:buClr>
              <a:buSzPct val="100000"/>
              <a:buFont typeface="Noto Sans Symbols"/>
              <a:buNone/>
            </a:pPr>
            <a:r>
              <a:t/>
            </a:r>
            <a:endParaRPr sz="2800">
              <a:latin typeface="Calibri"/>
              <a:ea typeface="Calibri"/>
              <a:cs typeface="Calibri"/>
              <a:sym typeface="Calibri"/>
            </a:endParaRPr>
          </a:p>
          <a:p>
            <a:pPr indent="-104140" lvl="0" marL="228600" rtl="0" algn="l">
              <a:lnSpc>
                <a:spcPct val="90000"/>
              </a:lnSpc>
              <a:spcBef>
                <a:spcPts val="1000"/>
              </a:spcBef>
              <a:spcAft>
                <a:spcPts val="0"/>
              </a:spcAft>
              <a:buClr>
                <a:schemeClr val="dk1"/>
              </a:buClr>
              <a:buSzPct val="100000"/>
              <a:buFont typeface="Noto Sans Symbols"/>
              <a:buNone/>
            </a:pPr>
            <a:r>
              <a:t/>
            </a:r>
            <a:endParaRPr>
              <a:latin typeface="Calibri"/>
              <a:ea typeface="Calibri"/>
              <a:cs typeface="Calibri"/>
              <a:sym typeface="Calibri"/>
            </a:endParaRPr>
          </a:p>
          <a:p>
            <a:pPr indent="-104140" lvl="0" marL="228600" rtl="0" algn="l">
              <a:lnSpc>
                <a:spcPct val="90000"/>
              </a:lnSpc>
              <a:spcBef>
                <a:spcPts val="1000"/>
              </a:spcBef>
              <a:spcAft>
                <a:spcPts val="0"/>
              </a:spcAft>
              <a:buClr>
                <a:schemeClr val="dk1"/>
              </a:buClr>
              <a:buSzPct val="100000"/>
              <a:buFont typeface="Noto Sans Symbols"/>
              <a:buNone/>
            </a:pPr>
            <a:r>
              <a:t/>
            </a:r>
            <a:endParaRPr sz="2800">
              <a:latin typeface="Calibri"/>
              <a:ea typeface="Calibri"/>
              <a:cs typeface="Calibri"/>
              <a:sym typeface="Calibri"/>
            </a:endParaRPr>
          </a:p>
          <a:p>
            <a:pPr indent="-104140" lvl="0" marL="228600" rtl="0" algn="l">
              <a:lnSpc>
                <a:spcPct val="90000"/>
              </a:lnSpc>
              <a:spcBef>
                <a:spcPts val="1000"/>
              </a:spcBef>
              <a:spcAft>
                <a:spcPts val="0"/>
              </a:spcAft>
              <a:buClr>
                <a:schemeClr val="dk1"/>
              </a:buClr>
              <a:buSzPct val="100000"/>
              <a:buFont typeface="Noto Sans Symbols"/>
              <a:buNone/>
            </a:pPr>
            <a:r>
              <a:t/>
            </a:r>
            <a:endParaRPr>
              <a:latin typeface="Calibri"/>
              <a:ea typeface="Calibri"/>
              <a:cs typeface="Calibri"/>
              <a:sym typeface="Calibri"/>
            </a:endParaRPr>
          </a:p>
          <a:p>
            <a:pPr indent="-104140" lvl="0" marL="228600" rtl="0" algn="l">
              <a:lnSpc>
                <a:spcPct val="90000"/>
              </a:lnSpc>
              <a:spcBef>
                <a:spcPts val="1000"/>
              </a:spcBef>
              <a:spcAft>
                <a:spcPts val="0"/>
              </a:spcAft>
              <a:buClr>
                <a:schemeClr val="dk1"/>
              </a:buClr>
              <a:buSzPct val="100000"/>
              <a:buFont typeface="Noto Sans Symbols"/>
              <a:buNone/>
            </a:pPr>
            <a:r>
              <a:t/>
            </a:r>
            <a:endParaRPr sz="2800">
              <a:latin typeface="Calibri"/>
              <a:ea typeface="Calibri"/>
              <a:cs typeface="Calibri"/>
              <a:sym typeface="Calibri"/>
            </a:endParaRPr>
          </a:p>
          <a:p>
            <a:pPr indent="-104140" lvl="0" marL="228600" rtl="0" algn="l">
              <a:lnSpc>
                <a:spcPct val="90000"/>
              </a:lnSpc>
              <a:spcBef>
                <a:spcPts val="1000"/>
              </a:spcBef>
              <a:spcAft>
                <a:spcPts val="0"/>
              </a:spcAft>
              <a:buClr>
                <a:schemeClr val="dk1"/>
              </a:buClr>
              <a:buSzPct val="100000"/>
              <a:buFont typeface="Noto Sans Symbols"/>
              <a:buNone/>
            </a:pPr>
            <a:r>
              <a:t/>
            </a:r>
            <a:endParaRPr sz="2800">
              <a:latin typeface="Calibri"/>
              <a:ea typeface="Calibri"/>
              <a:cs typeface="Calibri"/>
              <a:sym typeface="Calibri"/>
            </a:endParaRPr>
          </a:p>
          <a:p>
            <a:pPr indent="-228600" lvl="0" marL="228600" rtl="0" algn="l">
              <a:lnSpc>
                <a:spcPct val="90000"/>
              </a:lnSpc>
              <a:spcBef>
                <a:spcPts val="1000"/>
              </a:spcBef>
              <a:spcAft>
                <a:spcPts val="0"/>
              </a:spcAft>
              <a:buClr>
                <a:srgbClr val="000000"/>
              </a:buClr>
              <a:buSzPct val="100000"/>
              <a:buFont typeface="Noto Sans Symbols"/>
              <a:buChar char="▪"/>
            </a:pPr>
            <a:r>
              <a:rPr lang="en-US" sz="2800">
                <a:solidFill>
                  <a:srgbClr val="000000"/>
                </a:solidFill>
                <a:latin typeface="Times New Roman"/>
                <a:ea typeface="Times New Roman"/>
                <a:cs typeface="Times New Roman"/>
                <a:sym typeface="Times New Roman"/>
              </a:rPr>
              <a:t>Since P-value&lt; 0.05, we reject H</a:t>
            </a:r>
            <a:r>
              <a:rPr baseline="-25000" lang="en-US" sz="2800">
                <a:solidFill>
                  <a:srgbClr val="000000"/>
                </a:solidFill>
                <a:latin typeface="Times New Roman"/>
                <a:ea typeface="Times New Roman"/>
                <a:cs typeface="Times New Roman"/>
                <a:sym typeface="Times New Roman"/>
              </a:rPr>
              <a:t>0</a:t>
            </a:r>
            <a:r>
              <a:rPr lang="en-US" sz="2800">
                <a:solidFill>
                  <a:srgbClr val="000000"/>
                </a:solidFill>
                <a:latin typeface="Times New Roman"/>
                <a:ea typeface="Times New Roman"/>
                <a:cs typeface="Times New Roman"/>
                <a:sym typeface="Times New Roman"/>
              </a:rPr>
              <a:t> and conclude that the model is fitting the data significantly better than a null model with no predictors. </a:t>
            </a:r>
            <a:endParaRPr sz="2800">
              <a:latin typeface="Calibri"/>
              <a:ea typeface="Calibri"/>
              <a:cs typeface="Calibri"/>
              <a:sym typeface="Calibri"/>
            </a:endParaRPr>
          </a:p>
          <a:p>
            <a:pPr indent="-104140" lvl="0" marL="228600" rtl="0" algn="l">
              <a:lnSpc>
                <a:spcPct val="90000"/>
              </a:lnSpc>
              <a:spcBef>
                <a:spcPts val="1000"/>
              </a:spcBef>
              <a:spcAft>
                <a:spcPts val="0"/>
              </a:spcAft>
              <a:buClr>
                <a:schemeClr val="dk1"/>
              </a:buClr>
              <a:buSzPct val="100000"/>
              <a:buNone/>
            </a:pPr>
            <a:r>
              <a:t/>
            </a:r>
            <a:endParaRPr/>
          </a:p>
        </p:txBody>
      </p:sp>
      <p:pic>
        <p:nvPicPr>
          <p:cNvPr id="244" name="Google Shape;244;p17"/>
          <p:cNvPicPr preferRelativeResize="0"/>
          <p:nvPr/>
        </p:nvPicPr>
        <p:blipFill rotWithShape="1">
          <a:blip r:embed="rId3">
            <a:alphaModFix/>
          </a:blip>
          <a:srcRect b="0" l="0" r="0" t="0"/>
          <a:stretch/>
        </p:blipFill>
        <p:spPr>
          <a:xfrm>
            <a:off x="924975" y="2129593"/>
            <a:ext cx="4777942" cy="2079386"/>
          </a:xfrm>
          <a:prstGeom prst="rect">
            <a:avLst/>
          </a:prstGeom>
          <a:noFill/>
          <a:ln>
            <a:noFill/>
          </a:ln>
        </p:spPr>
      </p:pic>
      <p:pic>
        <p:nvPicPr>
          <p:cNvPr id="245" name="Google Shape;245;p17"/>
          <p:cNvPicPr preferRelativeResize="0"/>
          <p:nvPr/>
        </p:nvPicPr>
        <p:blipFill rotWithShape="1">
          <a:blip r:embed="rId4">
            <a:alphaModFix/>
          </a:blip>
          <a:srcRect b="0" l="0" r="0" t="0"/>
          <a:stretch/>
        </p:blipFill>
        <p:spPr>
          <a:xfrm>
            <a:off x="6292235" y="2683845"/>
            <a:ext cx="4121273" cy="183488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8"/>
          <p:cNvSpPr txBox="1"/>
          <p:nvPr>
            <p:ph type="title"/>
          </p:nvPr>
        </p:nvSpPr>
        <p:spPr>
          <a:xfrm>
            <a:off x="839788" y="365125"/>
            <a:ext cx="10515600" cy="29539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
        <p:nvSpPr>
          <p:cNvPr id="251" name="Google Shape;251;p18"/>
          <p:cNvSpPr txBox="1"/>
          <p:nvPr>
            <p:ph idx="1" type="body"/>
          </p:nvPr>
        </p:nvSpPr>
        <p:spPr>
          <a:xfrm>
            <a:off x="629592" y="5002"/>
            <a:ext cx="5157787" cy="823912"/>
          </a:xfrm>
          <a:prstGeom prst="rect">
            <a:avLst/>
          </a:prstGeom>
          <a:noFill/>
          <a:ln>
            <a:noFill/>
          </a:ln>
        </p:spPr>
        <p:txBody>
          <a:bodyPr anchorCtr="0" anchor="b" bIns="45700" lIns="91425" spcFirstLastPara="1" rIns="91425" wrap="square" tIns="45700">
            <a:normAutofit/>
          </a:bodyPr>
          <a:lstStyle/>
          <a:p>
            <a:pPr indent="-285750" lvl="0" marL="285750" rtl="0" algn="l">
              <a:lnSpc>
                <a:spcPct val="90000"/>
              </a:lnSpc>
              <a:spcBef>
                <a:spcPts val="0"/>
              </a:spcBef>
              <a:spcAft>
                <a:spcPts val="0"/>
              </a:spcAft>
              <a:buClr>
                <a:srgbClr val="000000"/>
              </a:buClr>
              <a:buSzPts val="2800"/>
              <a:buFont typeface="Noto Sans Symbols"/>
              <a:buChar char="❑"/>
            </a:pPr>
            <a:r>
              <a:rPr lang="en-US" sz="2800">
                <a:solidFill>
                  <a:srgbClr val="000000"/>
                </a:solidFill>
                <a:latin typeface="Times New Roman"/>
                <a:ea typeface="Times New Roman"/>
                <a:cs typeface="Times New Roman"/>
                <a:sym typeface="Times New Roman"/>
              </a:rPr>
              <a:t>VARIATION EXPLAINED </a:t>
            </a:r>
            <a:endParaRPr sz="2800">
              <a:latin typeface="Calibri"/>
              <a:ea typeface="Calibri"/>
              <a:cs typeface="Calibri"/>
              <a:sym typeface="Calibri"/>
            </a:endParaRPr>
          </a:p>
        </p:txBody>
      </p:sp>
      <p:sp>
        <p:nvSpPr>
          <p:cNvPr id="252" name="Google Shape;252;p18"/>
          <p:cNvSpPr txBox="1"/>
          <p:nvPr>
            <p:ph idx="2" type="body"/>
          </p:nvPr>
        </p:nvSpPr>
        <p:spPr>
          <a:xfrm>
            <a:off x="629592" y="77563"/>
            <a:ext cx="5957638" cy="6562596"/>
          </a:xfrm>
          <a:prstGeom prst="rect">
            <a:avLst/>
          </a:prstGeom>
          <a:noFill/>
          <a:ln>
            <a:noFill/>
          </a:ln>
        </p:spPr>
        <p:txBody>
          <a:bodyPr anchorCtr="0" anchor="t" bIns="45700" lIns="91425" spcFirstLastPara="1" rIns="91425" wrap="square" tIns="45700">
            <a:normAutofit fontScale="85000" lnSpcReduction="20000"/>
          </a:bodyPr>
          <a:lstStyle/>
          <a:p>
            <a:pPr indent="-131445" lvl="0" marL="228600" rtl="0" algn="l">
              <a:lnSpc>
                <a:spcPct val="90000"/>
              </a:lnSpc>
              <a:spcBef>
                <a:spcPts val="0"/>
              </a:spcBef>
              <a:spcAft>
                <a:spcPts val="0"/>
              </a:spcAft>
              <a:buClr>
                <a:schemeClr val="dk1"/>
              </a:buClr>
              <a:buSzPct val="1000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sz="18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0000"/>
              </a:buClr>
              <a:buSzPct val="100000"/>
              <a:buFont typeface="Noto Sans Symbols"/>
              <a:buChar char="▪"/>
            </a:pPr>
            <a:r>
              <a:rPr lang="en-US" sz="1900">
                <a:solidFill>
                  <a:srgbClr val="000000"/>
                </a:solidFill>
                <a:latin typeface="Times New Roman"/>
                <a:ea typeface="Times New Roman"/>
                <a:cs typeface="Times New Roman"/>
                <a:sym typeface="Times New Roman"/>
              </a:rPr>
              <a:t>The total variation in the model explained ranges from 25.5% to 36.5%. The independent variables explain roughly 36.5% of the variation in the dependent variables.</a:t>
            </a:r>
            <a:endParaRPr/>
          </a:p>
          <a:p>
            <a:pPr indent="-126047" lvl="0" marL="228600" rtl="0" algn="l">
              <a:lnSpc>
                <a:spcPct val="90000"/>
              </a:lnSpc>
              <a:spcBef>
                <a:spcPts val="1000"/>
              </a:spcBef>
              <a:spcAft>
                <a:spcPts val="0"/>
              </a:spcAft>
              <a:buClr>
                <a:schemeClr val="dk1"/>
              </a:buClr>
              <a:buSzPct val="100000"/>
              <a:buFont typeface="Noto Sans Symbols"/>
              <a:buNone/>
            </a:pPr>
            <a:r>
              <a:t/>
            </a:r>
            <a:endParaRPr sz="1900">
              <a:latin typeface="Times New Roman"/>
              <a:ea typeface="Times New Roman"/>
              <a:cs typeface="Times New Roman"/>
              <a:sym typeface="Times New Roman"/>
            </a:endParaRPr>
          </a:p>
          <a:p>
            <a:pPr indent="-131445" lvl="0" marL="228600" rtl="0" algn="l">
              <a:lnSpc>
                <a:spcPct val="90000"/>
              </a:lnSpc>
              <a:spcBef>
                <a:spcPts val="1000"/>
              </a:spcBef>
              <a:spcAft>
                <a:spcPts val="0"/>
              </a:spcAft>
              <a:buClr>
                <a:schemeClr val="dk1"/>
              </a:buClr>
              <a:buSzPct val="100000"/>
              <a:buFont typeface="Noto Sans Symbols"/>
              <a:buNone/>
            </a:pPr>
            <a:r>
              <a:t/>
            </a:r>
            <a:endParaRPr sz="1800">
              <a:latin typeface="Times New Roman"/>
              <a:ea typeface="Times New Roman"/>
              <a:cs typeface="Times New Roman"/>
              <a:sym typeface="Times New Roman"/>
            </a:endParaRPr>
          </a:p>
          <a:p>
            <a:pPr indent="-131445" lvl="0" marL="228600" rtl="0" algn="l">
              <a:lnSpc>
                <a:spcPct val="90000"/>
              </a:lnSpc>
              <a:spcBef>
                <a:spcPts val="1000"/>
              </a:spcBef>
              <a:spcAft>
                <a:spcPts val="0"/>
              </a:spcAft>
              <a:buClr>
                <a:schemeClr val="dk1"/>
              </a:buClr>
              <a:buSzPct val="100000"/>
              <a:buFont typeface="Noto Sans Symbols"/>
              <a:buNone/>
            </a:pPr>
            <a:r>
              <a:t/>
            </a:r>
            <a:endParaRPr sz="1800">
              <a:latin typeface="Times New Roman"/>
              <a:ea typeface="Times New Roman"/>
              <a:cs typeface="Times New Roman"/>
              <a:sym typeface="Times New Roman"/>
            </a:endParaRPr>
          </a:p>
          <a:p>
            <a:pPr indent="-131445" lvl="0" marL="228600" rtl="0" algn="l">
              <a:lnSpc>
                <a:spcPct val="90000"/>
              </a:lnSpc>
              <a:spcBef>
                <a:spcPts val="1000"/>
              </a:spcBef>
              <a:spcAft>
                <a:spcPts val="0"/>
              </a:spcAft>
              <a:buClr>
                <a:schemeClr val="dk1"/>
              </a:buClr>
              <a:buSzPct val="100000"/>
              <a:buFont typeface="Noto Sans Symbols"/>
              <a:buNone/>
            </a:pPr>
            <a:r>
              <a:t/>
            </a:r>
            <a:endParaRPr sz="1800">
              <a:latin typeface="Times New Roman"/>
              <a:ea typeface="Times New Roman"/>
              <a:cs typeface="Times New Roman"/>
              <a:sym typeface="Times New Roman"/>
            </a:endParaRPr>
          </a:p>
          <a:p>
            <a:pPr indent="-131445" lvl="0" marL="228600" rtl="0" algn="l">
              <a:lnSpc>
                <a:spcPct val="90000"/>
              </a:lnSpc>
              <a:spcBef>
                <a:spcPts val="1000"/>
              </a:spcBef>
              <a:spcAft>
                <a:spcPts val="0"/>
              </a:spcAft>
              <a:buClr>
                <a:schemeClr val="dk1"/>
              </a:buClr>
              <a:buSzPct val="100000"/>
              <a:buFont typeface="Noto Sans Symbols"/>
              <a:buNone/>
            </a:pPr>
            <a:r>
              <a:t/>
            </a:r>
            <a:endParaRPr sz="1800">
              <a:latin typeface="Times New Roman"/>
              <a:ea typeface="Times New Roman"/>
              <a:cs typeface="Times New Roman"/>
              <a:sym typeface="Times New Roman"/>
            </a:endParaRPr>
          </a:p>
          <a:p>
            <a:pPr indent="-131445" lvl="0" marL="228600" rtl="0" algn="l">
              <a:lnSpc>
                <a:spcPct val="90000"/>
              </a:lnSpc>
              <a:spcBef>
                <a:spcPts val="1000"/>
              </a:spcBef>
              <a:spcAft>
                <a:spcPts val="0"/>
              </a:spcAft>
              <a:buClr>
                <a:schemeClr val="dk1"/>
              </a:buClr>
              <a:buSzPct val="100000"/>
              <a:buFont typeface="Noto Sans Symbols"/>
              <a:buNone/>
            </a:pPr>
            <a:r>
              <a:t/>
            </a:r>
            <a:endParaRPr sz="1800">
              <a:latin typeface="Times New Roman"/>
              <a:ea typeface="Times New Roman"/>
              <a:cs typeface="Times New Roman"/>
              <a:sym typeface="Times New Roman"/>
            </a:endParaRPr>
          </a:p>
          <a:p>
            <a:pPr indent="-131445" lvl="0" marL="228600" rtl="0" algn="l">
              <a:lnSpc>
                <a:spcPct val="90000"/>
              </a:lnSpc>
              <a:spcBef>
                <a:spcPts val="1000"/>
              </a:spcBef>
              <a:spcAft>
                <a:spcPts val="0"/>
              </a:spcAft>
              <a:buClr>
                <a:schemeClr val="dk1"/>
              </a:buClr>
              <a:buSzPct val="100000"/>
              <a:buFont typeface="Noto Sans Symbols"/>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sz="1800">
              <a:latin typeface="Times New Roman"/>
              <a:ea typeface="Times New Roman"/>
              <a:cs typeface="Times New Roman"/>
              <a:sym typeface="Times New Roman"/>
            </a:endParaRPr>
          </a:p>
          <a:p>
            <a:pPr indent="-285750" lvl="0" marL="514350" rtl="0" algn="l">
              <a:lnSpc>
                <a:spcPct val="90000"/>
              </a:lnSpc>
              <a:spcBef>
                <a:spcPts val="1000"/>
              </a:spcBef>
              <a:spcAft>
                <a:spcPts val="0"/>
              </a:spcAft>
              <a:buClr>
                <a:srgbClr val="202122"/>
              </a:buClr>
              <a:buSzPct val="100000"/>
              <a:buFont typeface="Noto Sans Symbols"/>
              <a:buChar char="▪"/>
            </a:pPr>
            <a:r>
              <a:rPr b="0" i="0" lang="en-US" sz="1800" u="none" strike="noStrike">
                <a:solidFill>
                  <a:srgbClr val="202122"/>
                </a:solidFill>
                <a:latin typeface="Times New Roman"/>
                <a:ea typeface="Times New Roman"/>
                <a:cs typeface="Times New Roman"/>
                <a:sym typeface="Times New Roman"/>
              </a:rPr>
              <a:t>H</a:t>
            </a:r>
            <a:r>
              <a:rPr b="0" baseline="-25000" i="0" lang="en-US" sz="1800" u="none" strike="noStrike">
                <a:solidFill>
                  <a:srgbClr val="202122"/>
                </a:solidFill>
                <a:latin typeface="Times New Roman"/>
                <a:ea typeface="Times New Roman"/>
                <a:cs typeface="Times New Roman"/>
                <a:sym typeface="Times New Roman"/>
              </a:rPr>
              <a:t>0</a:t>
            </a:r>
            <a:r>
              <a:rPr b="0" i="0" lang="en-US" sz="1800" u="none" strike="noStrike">
                <a:solidFill>
                  <a:srgbClr val="000000"/>
                </a:solidFill>
                <a:latin typeface="Times New Roman"/>
                <a:ea typeface="Times New Roman"/>
                <a:cs typeface="Times New Roman"/>
                <a:sym typeface="Times New Roman"/>
              </a:rPr>
              <a:t>: The REDUCED model is a good fit</a:t>
            </a:r>
            <a:endParaRPr b="0" sz="1800">
              <a:latin typeface="Times New Roman"/>
              <a:ea typeface="Times New Roman"/>
              <a:cs typeface="Times New Roman"/>
              <a:sym typeface="Times New Roman"/>
            </a:endParaRPr>
          </a:p>
          <a:p>
            <a:pPr indent="0" lvl="0" marL="228600" rtl="0" algn="l">
              <a:lnSpc>
                <a:spcPct val="90000"/>
              </a:lnSpc>
              <a:spcBef>
                <a:spcPts val="1000"/>
              </a:spcBef>
              <a:spcAft>
                <a:spcPts val="0"/>
              </a:spcAft>
              <a:buClr>
                <a:srgbClr val="202122"/>
              </a:buClr>
              <a:buSzPct val="100000"/>
              <a:buNone/>
            </a:pPr>
            <a:r>
              <a:rPr b="0" i="0" lang="en-US" sz="1800" u="none" strike="noStrike">
                <a:solidFill>
                  <a:srgbClr val="202122"/>
                </a:solidFill>
                <a:latin typeface="Times New Roman"/>
                <a:ea typeface="Times New Roman"/>
                <a:cs typeface="Times New Roman"/>
                <a:sym typeface="Times New Roman"/>
              </a:rPr>
              <a:t>      H</a:t>
            </a:r>
            <a:r>
              <a:rPr baseline="-25000" lang="en-US" sz="1800">
                <a:solidFill>
                  <a:srgbClr val="202122"/>
                </a:solidFill>
                <a:latin typeface="Times New Roman"/>
                <a:ea typeface="Times New Roman"/>
                <a:cs typeface="Times New Roman"/>
                <a:sym typeface="Times New Roman"/>
              </a:rPr>
              <a:t>1</a:t>
            </a:r>
            <a:r>
              <a:rPr b="0" baseline="-25000" i="0" lang="en-US" sz="1800" u="none" strike="noStrike">
                <a:solidFill>
                  <a:srgbClr val="202122"/>
                </a:solidFill>
                <a:latin typeface="Times New Roman"/>
                <a:ea typeface="Times New Roman"/>
                <a:cs typeface="Times New Roman"/>
                <a:sym typeface="Times New Roman"/>
              </a:rPr>
              <a:t> </a:t>
            </a:r>
            <a:r>
              <a:rPr b="0" i="0" lang="en-US" sz="1800" u="none" strike="noStrike">
                <a:solidFill>
                  <a:srgbClr val="000000"/>
                </a:solidFill>
                <a:latin typeface="Times New Roman"/>
                <a:ea typeface="Times New Roman"/>
                <a:cs typeface="Times New Roman"/>
                <a:sym typeface="Times New Roman"/>
              </a:rPr>
              <a:t>: The REDUCED model is not a good fit</a:t>
            </a:r>
            <a:endParaRPr/>
          </a:p>
          <a:p>
            <a:pPr indent="-285750" lvl="0" marL="514350" rtl="0" algn="l">
              <a:lnSpc>
                <a:spcPct val="90000"/>
              </a:lnSpc>
              <a:spcBef>
                <a:spcPts val="1000"/>
              </a:spcBef>
              <a:spcAft>
                <a:spcPts val="0"/>
              </a:spcAft>
              <a:buClr>
                <a:schemeClr val="dk1"/>
              </a:buClr>
              <a:buSzPct val="100000"/>
              <a:buFont typeface="Noto Sans Symbols"/>
              <a:buChar char="▪"/>
            </a:pPr>
            <a:r>
              <a:rPr lang="en-US" sz="1800">
                <a:latin typeface="Times New Roman"/>
                <a:ea typeface="Times New Roman"/>
                <a:cs typeface="Times New Roman"/>
                <a:sym typeface="Times New Roman"/>
              </a:rPr>
              <a:t>Here p</a:t>
            </a:r>
            <a:r>
              <a:rPr b="0" i="0" lang="en-US" sz="1800" u="none" strike="noStrike">
                <a:latin typeface="Times New Roman"/>
                <a:ea typeface="Times New Roman"/>
                <a:cs typeface="Times New Roman"/>
                <a:sym typeface="Times New Roman"/>
              </a:rPr>
              <a:t>-value: 0.850 &gt; 0.05. Hence not rejecting H</a:t>
            </a:r>
            <a:r>
              <a:rPr b="0" baseline="-25000" i="0" lang="en-US" sz="1800" u="none" strike="noStrike">
                <a:latin typeface="Times New Roman"/>
                <a:ea typeface="Times New Roman"/>
                <a:cs typeface="Times New Roman"/>
                <a:sym typeface="Times New Roman"/>
              </a:rPr>
              <a:t>0</a:t>
            </a:r>
            <a:r>
              <a:rPr b="0" i="0" lang="en-US" sz="1800" u="none" strike="noStrike">
                <a:latin typeface="Times New Roman"/>
                <a:ea typeface="Times New Roman"/>
                <a:cs typeface="Times New Roman"/>
                <a:sym typeface="Times New Roman"/>
              </a:rPr>
              <a:t> and concluding that the reduced model is a good fit.</a:t>
            </a:r>
            <a:endParaRPr sz="1800">
              <a:latin typeface="Times New Roman"/>
              <a:ea typeface="Times New Roman"/>
              <a:cs typeface="Times New Roman"/>
              <a:sym typeface="Times New Roman"/>
            </a:endParaRPr>
          </a:p>
          <a:p>
            <a:pPr indent="-131445" lvl="0" marL="228600" rtl="0" algn="l">
              <a:lnSpc>
                <a:spcPct val="90000"/>
              </a:lnSpc>
              <a:spcBef>
                <a:spcPts val="1000"/>
              </a:spcBef>
              <a:spcAft>
                <a:spcPts val="0"/>
              </a:spcAft>
              <a:buClr>
                <a:schemeClr val="dk1"/>
              </a:buClr>
              <a:buSzPct val="100000"/>
              <a:buFont typeface="Noto Sans Symbols"/>
              <a:buNone/>
            </a:pPr>
            <a:r>
              <a:t/>
            </a:r>
            <a:endParaRPr sz="1800">
              <a:latin typeface="Times New Roman"/>
              <a:ea typeface="Times New Roman"/>
              <a:cs typeface="Times New Roman"/>
              <a:sym typeface="Times New Roman"/>
            </a:endParaRPr>
          </a:p>
        </p:txBody>
      </p:sp>
      <p:sp>
        <p:nvSpPr>
          <p:cNvPr id="253" name="Google Shape;253;p18"/>
          <p:cNvSpPr txBox="1"/>
          <p:nvPr>
            <p:ph idx="3" type="body"/>
          </p:nvPr>
        </p:nvSpPr>
        <p:spPr>
          <a:xfrm>
            <a:off x="717249" y="3080299"/>
            <a:ext cx="5183188" cy="823912"/>
          </a:xfrm>
          <a:prstGeom prst="rect">
            <a:avLst/>
          </a:prstGeom>
          <a:noFill/>
          <a:ln>
            <a:noFill/>
          </a:ln>
        </p:spPr>
        <p:txBody>
          <a:bodyPr anchorCtr="0" anchor="b" bIns="45700" lIns="91425" spcFirstLastPara="1" rIns="91425" wrap="square" tIns="45700">
            <a:noAutofit/>
          </a:bodyPr>
          <a:lstStyle/>
          <a:p>
            <a:pPr indent="-285750" lvl="0" marL="285750" rtl="0" algn="l">
              <a:lnSpc>
                <a:spcPct val="90000"/>
              </a:lnSpc>
              <a:spcBef>
                <a:spcPts val="0"/>
              </a:spcBef>
              <a:spcAft>
                <a:spcPts val="0"/>
              </a:spcAft>
              <a:buClr>
                <a:srgbClr val="000000"/>
              </a:buClr>
              <a:buSzPts val="2000"/>
              <a:buFont typeface="Noto Sans Symbols"/>
              <a:buChar char="❑"/>
            </a:pPr>
            <a:r>
              <a:rPr i="0" lang="en-US" sz="2000" strike="noStrike">
                <a:solidFill>
                  <a:srgbClr val="000000"/>
                </a:solidFill>
                <a:latin typeface="Times New Roman"/>
                <a:ea typeface="Times New Roman"/>
                <a:cs typeface="Times New Roman"/>
                <a:sym typeface="Times New Roman"/>
              </a:rPr>
              <a:t>HOSMER AND LEMESHOW TEST </a:t>
            </a:r>
            <a:r>
              <a:rPr lang="en-US" sz="2000">
                <a:solidFill>
                  <a:srgbClr val="000000"/>
                </a:solidFill>
                <a:latin typeface="Times New Roman"/>
                <a:ea typeface="Times New Roman"/>
                <a:cs typeface="Times New Roman"/>
                <a:sym typeface="Times New Roman"/>
              </a:rPr>
              <a:t>(</a:t>
            </a:r>
            <a:r>
              <a:rPr i="0" lang="en-US" sz="2000" strike="noStrike">
                <a:solidFill>
                  <a:srgbClr val="000000"/>
                </a:solidFill>
                <a:latin typeface="Times New Roman"/>
                <a:ea typeface="Times New Roman"/>
                <a:cs typeface="Times New Roman"/>
                <a:sym typeface="Times New Roman"/>
              </a:rPr>
              <a:t>GOODNESS OF FIT)</a:t>
            </a:r>
            <a:endParaRPr/>
          </a:p>
        </p:txBody>
      </p:sp>
      <p:sp>
        <p:nvSpPr>
          <p:cNvPr id="254" name="Google Shape;254;p18"/>
          <p:cNvSpPr txBox="1"/>
          <p:nvPr>
            <p:ph idx="4" type="body"/>
          </p:nvPr>
        </p:nvSpPr>
        <p:spPr>
          <a:xfrm>
            <a:off x="6472454" y="1180538"/>
            <a:ext cx="5089954" cy="5210905"/>
          </a:xfrm>
          <a:prstGeom prst="rect">
            <a:avLst/>
          </a:prstGeom>
          <a:noFill/>
          <a:ln>
            <a:noFill/>
          </a:ln>
        </p:spPr>
        <p:txBody>
          <a:bodyPr anchorCtr="0" anchor="t" bIns="45700" lIns="91425" spcFirstLastPara="1" rIns="91425" wrap="square" tIns="45700">
            <a:normAutofit fontScale="85000" lnSpcReduction="20000"/>
          </a:bodyPr>
          <a:lstStyle/>
          <a:p>
            <a:pPr indent="-131445" lvl="0" marL="228600" rtl="0" algn="l">
              <a:lnSpc>
                <a:spcPct val="90000"/>
              </a:lnSpc>
              <a:spcBef>
                <a:spcPts val="0"/>
              </a:spcBef>
              <a:spcAft>
                <a:spcPts val="0"/>
              </a:spcAft>
              <a:buClr>
                <a:schemeClr val="dk1"/>
              </a:buClr>
              <a:buSzPct val="100000"/>
              <a:buFont typeface="Noto Sans Symbols"/>
              <a:buNone/>
            </a:pPr>
            <a:r>
              <a:t/>
            </a:r>
            <a:endParaRPr sz="1800">
              <a:latin typeface="Times New Roman"/>
              <a:ea typeface="Times New Roman"/>
              <a:cs typeface="Times New Roman"/>
              <a:sym typeface="Times New Roman"/>
            </a:endParaRPr>
          </a:p>
          <a:p>
            <a:pPr indent="-163830" lvl="1" marL="685800" rtl="0" algn="l">
              <a:lnSpc>
                <a:spcPct val="90000"/>
              </a:lnSpc>
              <a:spcBef>
                <a:spcPts val="500"/>
              </a:spcBef>
              <a:spcAft>
                <a:spcPts val="0"/>
              </a:spcAft>
              <a:buClr>
                <a:schemeClr val="dk1"/>
              </a:buClr>
              <a:buSzPct val="100000"/>
              <a:buFont typeface="Noto Sans Symbols"/>
              <a:buNone/>
            </a:pPr>
            <a:r>
              <a:t/>
            </a:r>
            <a:endParaRPr sz="1200">
              <a:solidFill>
                <a:srgbClr val="000000"/>
              </a:solidFill>
              <a:latin typeface="Times New Roman"/>
              <a:ea typeface="Times New Roman"/>
              <a:cs typeface="Times New Roman"/>
              <a:sym typeface="Times New Roman"/>
            </a:endParaRPr>
          </a:p>
          <a:p>
            <a:pPr indent="-163830" lvl="1" marL="685800" rtl="0" algn="l">
              <a:lnSpc>
                <a:spcPct val="90000"/>
              </a:lnSpc>
              <a:spcBef>
                <a:spcPts val="500"/>
              </a:spcBef>
              <a:spcAft>
                <a:spcPts val="0"/>
              </a:spcAft>
              <a:buClr>
                <a:schemeClr val="dk1"/>
              </a:buClr>
              <a:buSzPct val="100000"/>
              <a:buFont typeface="Noto Sans Symbols"/>
              <a:buNone/>
            </a:pPr>
            <a:r>
              <a:t/>
            </a:r>
            <a:endParaRPr sz="1200">
              <a:solidFill>
                <a:srgbClr val="000000"/>
              </a:solidFill>
              <a:latin typeface="Times New Roman"/>
              <a:ea typeface="Times New Roman"/>
              <a:cs typeface="Times New Roman"/>
              <a:sym typeface="Times New Roman"/>
            </a:endParaRPr>
          </a:p>
          <a:p>
            <a:pPr indent="-163830" lvl="1" marL="685800" rtl="0" algn="l">
              <a:lnSpc>
                <a:spcPct val="90000"/>
              </a:lnSpc>
              <a:spcBef>
                <a:spcPts val="500"/>
              </a:spcBef>
              <a:spcAft>
                <a:spcPts val="0"/>
              </a:spcAft>
              <a:buClr>
                <a:schemeClr val="dk1"/>
              </a:buClr>
              <a:buSzPct val="100000"/>
              <a:buFont typeface="Noto Sans Symbols"/>
              <a:buNone/>
            </a:pPr>
            <a:r>
              <a:t/>
            </a:r>
            <a:endParaRPr sz="1200">
              <a:solidFill>
                <a:srgbClr val="000000"/>
              </a:solidFill>
              <a:latin typeface="Times New Roman"/>
              <a:ea typeface="Times New Roman"/>
              <a:cs typeface="Times New Roman"/>
              <a:sym typeface="Times New Roman"/>
            </a:endParaRPr>
          </a:p>
          <a:p>
            <a:pPr indent="-163830" lvl="1" marL="685800" rtl="0" algn="l">
              <a:lnSpc>
                <a:spcPct val="90000"/>
              </a:lnSpc>
              <a:spcBef>
                <a:spcPts val="500"/>
              </a:spcBef>
              <a:spcAft>
                <a:spcPts val="0"/>
              </a:spcAft>
              <a:buClr>
                <a:schemeClr val="dk1"/>
              </a:buClr>
              <a:buSzPct val="100000"/>
              <a:buFont typeface="Noto Sans Symbols"/>
              <a:buNone/>
            </a:pPr>
            <a:r>
              <a:t/>
            </a:r>
            <a:endParaRPr sz="1200">
              <a:solidFill>
                <a:srgbClr val="000000"/>
              </a:solidFill>
              <a:latin typeface="Times New Roman"/>
              <a:ea typeface="Times New Roman"/>
              <a:cs typeface="Times New Roman"/>
              <a:sym typeface="Times New Roman"/>
            </a:endParaRPr>
          </a:p>
          <a:p>
            <a:pPr indent="-109855" lvl="1" marL="685800" rtl="0" algn="l">
              <a:lnSpc>
                <a:spcPct val="90000"/>
              </a:lnSpc>
              <a:spcBef>
                <a:spcPts val="500"/>
              </a:spcBef>
              <a:spcAft>
                <a:spcPts val="0"/>
              </a:spcAft>
              <a:buClr>
                <a:schemeClr val="dk1"/>
              </a:buClr>
              <a:buSzPct val="100000"/>
              <a:buFont typeface="Noto Sans Symbols"/>
              <a:buNone/>
            </a:pPr>
            <a:r>
              <a:t/>
            </a:r>
            <a:endParaRPr sz="2200">
              <a:solidFill>
                <a:srgbClr val="000000"/>
              </a:solidFill>
              <a:latin typeface="Times New Roman"/>
              <a:ea typeface="Times New Roman"/>
              <a:cs typeface="Times New Roman"/>
              <a:sym typeface="Times New Roman"/>
            </a:endParaRPr>
          </a:p>
          <a:p>
            <a:pPr indent="-109855" lvl="1" marL="685800" rtl="0" algn="l">
              <a:lnSpc>
                <a:spcPct val="90000"/>
              </a:lnSpc>
              <a:spcBef>
                <a:spcPts val="500"/>
              </a:spcBef>
              <a:spcAft>
                <a:spcPts val="0"/>
              </a:spcAft>
              <a:buClr>
                <a:schemeClr val="dk1"/>
              </a:buClr>
              <a:buSzPct val="100000"/>
              <a:buFont typeface="Noto Sans Symbols"/>
              <a:buNone/>
            </a:pPr>
            <a:r>
              <a:t/>
            </a:r>
            <a:endParaRPr sz="2200">
              <a:solidFill>
                <a:srgbClr val="000000"/>
              </a:solidFill>
              <a:latin typeface="Times New Roman"/>
              <a:ea typeface="Times New Roman"/>
              <a:cs typeface="Times New Roman"/>
              <a:sym typeface="Times New Roman"/>
            </a:endParaRPr>
          </a:p>
          <a:p>
            <a:pPr indent="-109855" lvl="1" marL="685800" rtl="0" algn="l">
              <a:lnSpc>
                <a:spcPct val="90000"/>
              </a:lnSpc>
              <a:spcBef>
                <a:spcPts val="500"/>
              </a:spcBef>
              <a:spcAft>
                <a:spcPts val="0"/>
              </a:spcAft>
              <a:buClr>
                <a:schemeClr val="dk1"/>
              </a:buClr>
              <a:buSzPct val="100000"/>
              <a:buFont typeface="Noto Sans Symbols"/>
              <a:buNone/>
            </a:pPr>
            <a:r>
              <a:t/>
            </a:r>
            <a:endParaRPr sz="2200">
              <a:solidFill>
                <a:srgbClr val="000000"/>
              </a:solidFill>
              <a:latin typeface="Times New Roman"/>
              <a:ea typeface="Times New Roman"/>
              <a:cs typeface="Times New Roman"/>
              <a:sym typeface="Times New Roman"/>
            </a:endParaRPr>
          </a:p>
          <a:p>
            <a:pPr indent="-109855" lvl="1" marL="685800" rtl="0" algn="l">
              <a:lnSpc>
                <a:spcPct val="90000"/>
              </a:lnSpc>
              <a:spcBef>
                <a:spcPts val="500"/>
              </a:spcBef>
              <a:spcAft>
                <a:spcPts val="0"/>
              </a:spcAft>
              <a:buClr>
                <a:schemeClr val="dk1"/>
              </a:buClr>
              <a:buSzPct val="100000"/>
              <a:buFont typeface="Noto Sans Symbols"/>
              <a:buNone/>
            </a:pPr>
            <a:r>
              <a:t/>
            </a:r>
            <a:endParaRPr sz="2200">
              <a:solidFill>
                <a:srgbClr val="000000"/>
              </a:solidFill>
              <a:latin typeface="Times New Roman"/>
              <a:ea typeface="Times New Roman"/>
              <a:cs typeface="Times New Roman"/>
              <a:sym typeface="Times New Roman"/>
            </a:endParaRPr>
          </a:p>
          <a:p>
            <a:pPr indent="-109855" lvl="1" marL="685800" rtl="0" algn="l">
              <a:lnSpc>
                <a:spcPct val="90000"/>
              </a:lnSpc>
              <a:spcBef>
                <a:spcPts val="500"/>
              </a:spcBef>
              <a:spcAft>
                <a:spcPts val="0"/>
              </a:spcAft>
              <a:buClr>
                <a:schemeClr val="dk1"/>
              </a:buClr>
              <a:buSzPct val="100000"/>
              <a:buFont typeface="Noto Sans Symbols"/>
              <a:buNone/>
            </a:pPr>
            <a:r>
              <a:t/>
            </a:r>
            <a:endParaRPr sz="2200">
              <a:solidFill>
                <a:srgbClr val="000000"/>
              </a:solidFill>
              <a:latin typeface="Times New Roman"/>
              <a:ea typeface="Times New Roman"/>
              <a:cs typeface="Times New Roman"/>
              <a:sym typeface="Times New Roman"/>
            </a:endParaRPr>
          </a:p>
          <a:p>
            <a:pPr indent="-109855" lvl="1" marL="685800" rtl="0" algn="l">
              <a:lnSpc>
                <a:spcPct val="90000"/>
              </a:lnSpc>
              <a:spcBef>
                <a:spcPts val="500"/>
              </a:spcBef>
              <a:spcAft>
                <a:spcPts val="0"/>
              </a:spcAft>
              <a:buClr>
                <a:schemeClr val="dk1"/>
              </a:buClr>
              <a:buSzPct val="100000"/>
              <a:buFont typeface="Noto Sans Symbols"/>
              <a:buNone/>
            </a:pPr>
            <a:r>
              <a:t/>
            </a:r>
            <a:endParaRPr sz="2200">
              <a:solidFill>
                <a:srgbClr val="000000"/>
              </a:solidFill>
              <a:latin typeface="Times New Roman"/>
              <a:ea typeface="Times New Roman"/>
              <a:cs typeface="Times New Roman"/>
              <a:sym typeface="Times New Roman"/>
            </a:endParaRPr>
          </a:p>
          <a:p>
            <a:pPr indent="-109855" lvl="1" marL="685800" rtl="0" algn="l">
              <a:lnSpc>
                <a:spcPct val="90000"/>
              </a:lnSpc>
              <a:spcBef>
                <a:spcPts val="500"/>
              </a:spcBef>
              <a:spcAft>
                <a:spcPts val="0"/>
              </a:spcAft>
              <a:buClr>
                <a:schemeClr val="dk1"/>
              </a:buClr>
              <a:buSzPct val="100000"/>
              <a:buFont typeface="Noto Sans Symbols"/>
              <a:buNone/>
            </a:pPr>
            <a:r>
              <a:t/>
            </a:r>
            <a:endParaRPr sz="2200">
              <a:solidFill>
                <a:srgbClr val="000000"/>
              </a:solidFill>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rgbClr val="000000"/>
              </a:buClr>
              <a:buSzPct val="100000"/>
              <a:buFont typeface="Noto Sans Symbols"/>
              <a:buChar char="▪"/>
            </a:pPr>
            <a:r>
              <a:rPr lang="en-US" sz="2200">
                <a:solidFill>
                  <a:srgbClr val="000000"/>
                </a:solidFill>
                <a:latin typeface="Times New Roman"/>
                <a:ea typeface="Times New Roman"/>
                <a:cs typeface="Times New Roman"/>
                <a:sym typeface="Times New Roman"/>
              </a:rPr>
              <a:t>As the model adds significant variables in the model, the prediction percentage increased from 80.6% to 81.3% in 4 steps. The model fitted can correctly classify 81.3% of the cases. Hence any value above 80% is called a good model. </a:t>
            </a:r>
            <a:endParaRPr sz="2200">
              <a:latin typeface="Calibri"/>
              <a:ea typeface="Calibri"/>
              <a:cs typeface="Calibri"/>
              <a:sym typeface="Calibri"/>
            </a:endParaRPr>
          </a:p>
          <a:p>
            <a:pPr indent="0" lvl="0" marL="0" rtl="0" algn="l">
              <a:lnSpc>
                <a:spcPct val="90000"/>
              </a:lnSpc>
              <a:spcBef>
                <a:spcPts val="1000"/>
              </a:spcBef>
              <a:spcAft>
                <a:spcPts val="0"/>
              </a:spcAft>
              <a:buClr>
                <a:schemeClr val="dk1"/>
              </a:buClr>
              <a:buSzPct val="100000"/>
              <a:buNone/>
            </a:pPr>
            <a:r>
              <a:t/>
            </a:r>
            <a:endParaRPr sz="1800">
              <a:latin typeface="Times New Roman"/>
              <a:ea typeface="Times New Roman"/>
              <a:cs typeface="Times New Roman"/>
              <a:sym typeface="Times New Roman"/>
            </a:endParaRPr>
          </a:p>
          <a:p>
            <a:pPr indent="-131445" lvl="0" marL="228600" rtl="0" algn="l">
              <a:lnSpc>
                <a:spcPct val="90000"/>
              </a:lnSpc>
              <a:spcBef>
                <a:spcPts val="1000"/>
              </a:spcBef>
              <a:spcAft>
                <a:spcPts val="0"/>
              </a:spcAft>
              <a:buClr>
                <a:schemeClr val="dk1"/>
              </a:buClr>
              <a:buSzPct val="100000"/>
              <a:buFont typeface="Noto Sans Symbols"/>
              <a:buNone/>
            </a:pPr>
            <a:r>
              <a:t/>
            </a:r>
            <a:endParaRPr sz="1800">
              <a:latin typeface="Times New Roman"/>
              <a:ea typeface="Times New Roman"/>
              <a:cs typeface="Times New Roman"/>
              <a:sym typeface="Times New Roman"/>
            </a:endParaRPr>
          </a:p>
          <a:p>
            <a:pPr indent="-131445" lvl="0" marL="228600" rtl="0" algn="l">
              <a:lnSpc>
                <a:spcPct val="90000"/>
              </a:lnSpc>
              <a:spcBef>
                <a:spcPts val="1000"/>
              </a:spcBef>
              <a:spcAft>
                <a:spcPts val="0"/>
              </a:spcAft>
              <a:buClr>
                <a:schemeClr val="dk1"/>
              </a:buClr>
              <a:buSzPct val="100000"/>
              <a:buFont typeface="Noto Sans Symbols"/>
              <a:buNone/>
            </a:pPr>
            <a:r>
              <a:t/>
            </a:r>
            <a:endParaRPr sz="1800">
              <a:latin typeface="Times New Roman"/>
              <a:ea typeface="Times New Roman"/>
              <a:cs typeface="Times New Roman"/>
              <a:sym typeface="Times New Roman"/>
            </a:endParaRPr>
          </a:p>
        </p:txBody>
      </p:sp>
      <p:pic>
        <p:nvPicPr>
          <p:cNvPr id="255" name="Google Shape;255;p18"/>
          <p:cNvPicPr preferRelativeResize="0"/>
          <p:nvPr/>
        </p:nvPicPr>
        <p:blipFill rotWithShape="1">
          <a:blip r:embed="rId3">
            <a:alphaModFix/>
          </a:blip>
          <a:srcRect b="0" l="0" r="0" t="0"/>
          <a:stretch/>
        </p:blipFill>
        <p:spPr>
          <a:xfrm>
            <a:off x="1010466" y="851860"/>
            <a:ext cx="3579289" cy="1456334"/>
          </a:xfrm>
          <a:prstGeom prst="rect">
            <a:avLst/>
          </a:prstGeom>
          <a:noFill/>
          <a:ln>
            <a:noFill/>
          </a:ln>
        </p:spPr>
      </p:pic>
      <p:sp>
        <p:nvSpPr>
          <p:cNvPr id="256" name="Google Shape;256;p18"/>
          <p:cNvSpPr txBox="1"/>
          <p:nvPr/>
        </p:nvSpPr>
        <p:spPr>
          <a:xfrm>
            <a:off x="6704135" y="20570"/>
            <a:ext cx="5183188" cy="823912"/>
          </a:xfrm>
          <a:prstGeom prst="rect">
            <a:avLst/>
          </a:prstGeom>
          <a:noFill/>
          <a:ln>
            <a:noFill/>
          </a:ln>
        </p:spPr>
        <p:txBody>
          <a:bodyPr anchorCtr="0" anchor="b" bIns="45700" lIns="91425" spcFirstLastPara="1" rIns="91425" wrap="square" tIns="45700">
            <a:noAutofit/>
          </a:bodyPr>
          <a:lstStyle/>
          <a:p>
            <a:pPr indent="-285750" lvl="0" marL="285750" marR="0" rtl="0" algn="l">
              <a:lnSpc>
                <a:spcPct val="90000"/>
              </a:lnSpc>
              <a:spcBef>
                <a:spcPts val="0"/>
              </a:spcBef>
              <a:spcAft>
                <a:spcPts val="0"/>
              </a:spcAft>
              <a:buClr>
                <a:srgbClr val="000000"/>
              </a:buClr>
              <a:buSzPts val="2800"/>
              <a:buFont typeface="Noto Sans Symbols"/>
              <a:buChar char="❑"/>
            </a:pPr>
            <a:r>
              <a:rPr b="1" lang="en-US" sz="2800">
                <a:solidFill>
                  <a:srgbClr val="000000"/>
                </a:solidFill>
                <a:latin typeface="Times New Roman"/>
                <a:ea typeface="Times New Roman"/>
                <a:cs typeface="Times New Roman"/>
                <a:sym typeface="Times New Roman"/>
              </a:rPr>
              <a:t>CONFUSION MATRIX</a:t>
            </a:r>
            <a:endParaRPr/>
          </a:p>
        </p:txBody>
      </p:sp>
      <p:pic>
        <p:nvPicPr>
          <p:cNvPr id="257" name="Google Shape;257;p18"/>
          <p:cNvPicPr preferRelativeResize="0"/>
          <p:nvPr/>
        </p:nvPicPr>
        <p:blipFill rotWithShape="1">
          <a:blip r:embed="rId4">
            <a:alphaModFix/>
          </a:blip>
          <a:srcRect b="0" l="0" r="0" t="0"/>
          <a:stretch/>
        </p:blipFill>
        <p:spPr>
          <a:xfrm>
            <a:off x="839789" y="3879529"/>
            <a:ext cx="4149462" cy="1259903"/>
          </a:xfrm>
          <a:prstGeom prst="rect">
            <a:avLst/>
          </a:prstGeom>
          <a:noFill/>
          <a:ln>
            <a:noFill/>
          </a:ln>
        </p:spPr>
      </p:pic>
      <p:pic>
        <p:nvPicPr>
          <p:cNvPr id="258" name="Google Shape;258;p18"/>
          <p:cNvPicPr preferRelativeResize="0"/>
          <p:nvPr/>
        </p:nvPicPr>
        <p:blipFill rotWithShape="1">
          <a:blip r:embed="rId5">
            <a:alphaModFix/>
          </a:blip>
          <a:srcRect b="0" l="0" r="0" t="0"/>
          <a:stretch/>
        </p:blipFill>
        <p:spPr>
          <a:xfrm>
            <a:off x="6907135" y="1444797"/>
            <a:ext cx="4655273" cy="204745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9"/>
          <p:cNvSpPr txBox="1"/>
          <p:nvPr>
            <p:ph type="title"/>
          </p:nvPr>
        </p:nvSpPr>
        <p:spPr>
          <a:xfrm>
            <a:off x="839788" y="365126"/>
            <a:ext cx="10515600" cy="19416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
        <p:nvSpPr>
          <p:cNvPr id="264" name="Google Shape;264;p19"/>
          <p:cNvSpPr txBox="1"/>
          <p:nvPr>
            <p:ph idx="1" type="body"/>
          </p:nvPr>
        </p:nvSpPr>
        <p:spPr>
          <a:xfrm>
            <a:off x="836612" y="364556"/>
            <a:ext cx="5157787"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265" name="Google Shape;265;p19"/>
          <p:cNvSpPr txBox="1"/>
          <p:nvPr>
            <p:ph idx="2" type="body"/>
          </p:nvPr>
        </p:nvSpPr>
        <p:spPr>
          <a:xfrm flipH="1">
            <a:off x="7048870" y="3320248"/>
            <a:ext cx="4306518" cy="2783505"/>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07000"/>
              </a:lnSpc>
              <a:spcBef>
                <a:spcPts val="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Note: </a:t>
            </a:r>
            <a:endParaRPr sz="1800">
              <a:solidFill>
                <a:srgbClr val="000000"/>
              </a:solidFill>
              <a:latin typeface="Times New Roman"/>
              <a:ea typeface="Times New Roman"/>
              <a:cs typeface="Times New Roman"/>
              <a:sym typeface="Times New Roman"/>
            </a:endParaRPr>
          </a:p>
          <a:p>
            <a:pPr indent="-342900" lvl="0" marL="342900" marR="0" rtl="0" algn="l">
              <a:lnSpc>
                <a:spcPct val="107000"/>
              </a:lnSpc>
              <a:spcBef>
                <a:spcPts val="1000"/>
              </a:spcBef>
              <a:spcAft>
                <a:spcPts val="0"/>
              </a:spcAft>
              <a:buClr>
                <a:srgbClr val="000000"/>
              </a:buClr>
              <a:buSzPts val="1800"/>
              <a:buFont typeface="Calibri"/>
              <a:buAutoNum type="arabicPeriod"/>
            </a:pPr>
            <a:r>
              <a:rPr lang="en-US" sz="1800">
                <a:solidFill>
                  <a:srgbClr val="000000"/>
                </a:solidFill>
                <a:latin typeface="Times New Roman"/>
                <a:ea typeface="Times New Roman"/>
                <a:cs typeface="Times New Roman"/>
                <a:sym typeface="Times New Roman"/>
              </a:rPr>
              <a:t>The Members in the family variable are compared to </a:t>
            </a:r>
            <a:r>
              <a:rPr b="1" lang="en-US" sz="1800">
                <a:solidFill>
                  <a:srgbClr val="000000"/>
                </a:solidFill>
                <a:latin typeface="Times New Roman"/>
                <a:ea typeface="Times New Roman"/>
                <a:cs typeface="Times New Roman"/>
                <a:sym typeface="Times New Roman"/>
              </a:rPr>
              <a:t>‘More than 5’ </a:t>
            </a:r>
            <a:r>
              <a:rPr lang="en-US" sz="1800">
                <a:solidFill>
                  <a:srgbClr val="000000"/>
                </a:solidFill>
                <a:latin typeface="Times New Roman"/>
                <a:ea typeface="Times New Roman"/>
                <a:cs typeface="Times New Roman"/>
                <a:sym typeface="Times New Roman"/>
              </a:rPr>
              <a:t>Family Members.</a:t>
            </a:r>
            <a:endParaRPr sz="1800">
              <a:latin typeface="Calibri"/>
              <a:ea typeface="Calibri"/>
              <a:cs typeface="Calibri"/>
              <a:sym typeface="Calibri"/>
            </a:endParaRPr>
          </a:p>
          <a:p>
            <a:pPr indent="-342900" lvl="0" marL="342900" marR="0" rtl="0" algn="l">
              <a:lnSpc>
                <a:spcPct val="107000"/>
              </a:lnSpc>
              <a:spcBef>
                <a:spcPts val="0"/>
              </a:spcBef>
              <a:spcAft>
                <a:spcPts val="0"/>
              </a:spcAft>
              <a:buClr>
                <a:srgbClr val="000000"/>
              </a:buClr>
              <a:buSzPts val="1800"/>
              <a:buFont typeface="Calibri"/>
              <a:buAutoNum type="arabicPeriod"/>
            </a:pPr>
            <a:r>
              <a:rPr lang="en-US" sz="1800">
                <a:solidFill>
                  <a:srgbClr val="000000"/>
                </a:solidFill>
                <a:latin typeface="Times New Roman"/>
                <a:ea typeface="Times New Roman"/>
                <a:cs typeface="Times New Roman"/>
                <a:sym typeface="Times New Roman"/>
              </a:rPr>
              <a:t>The Annual Family Income is compared to Annual income of      </a:t>
            </a:r>
            <a:r>
              <a:rPr b="1" lang="en-US" sz="1800">
                <a:solidFill>
                  <a:srgbClr val="000000"/>
                </a:solidFill>
                <a:latin typeface="Times New Roman"/>
                <a:ea typeface="Times New Roman"/>
                <a:cs typeface="Times New Roman"/>
                <a:sym typeface="Times New Roman"/>
              </a:rPr>
              <a:t>Rs. 1-4 Lakhs</a:t>
            </a:r>
            <a:r>
              <a:rPr lang="en-US" sz="1800">
                <a:solidFill>
                  <a:srgbClr val="000000"/>
                </a:solidFill>
                <a:latin typeface="Times New Roman"/>
                <a:ea typeface="Times New Roman"/>
                <a:cs typeface="Times New Roman"/>
                <a:sym typeface="Times New Roman"/>
              </a:rPr>
              <a:t>.</a:t>
            </a:r>
            <a:endParaRPr sz="1800">
              <a:latin typeface="Calibri"/>
              <a:ea typeface="Calibri"/>
              <a:cs typeface="Calibri"/>
              <a:sym typeface="Calibri"/>
            </a:endParaRPr>
          </a:p>
          <a:p>
            <a:pPr indent="-342900" lvl="0" marL="342900" marR="0" rtl="0" algn="l">
              <a:lnSpc>
                <a:spcPct val="107000"/>
              </a:lnSpc>
              <a:spcBef>
                <a:spcPts val="0"/>
              </a:spcBef>
              <a:spcAft>
                <a:spcPts val="0"/>
              </a:spcAft>
              <a:buClr>
                <a:srgbClr val="000000"/>
              </a:buClr>
              <a:buSzPts val="1800"/>
              <a:buFont typeface="Calibri"/>
              <a:buAutoNum type="arabicPeriod"/>
            </a:pPr>
            <a:r>
              <a:rPr lang="en-US" sz="1800">
                <a:solidFill>
                  <a:srgbClr val="000000"/>
                </a:solidFill>
                <a:latin typeface="Times New Roman"/>
                <a:ea typeface="Times New Roman"/>
                <a:cs typeface="Times New Roman"/>
                <a:sym typeface="Times New Roman"/>
              </a:rPr>
              <a:t>Awareness about OTT is compared to people who are </a:t>
            </a:r>
            <a:r>
              <a:rPr b="1" lang="en-US" sz="1800">
                <a:solidFill>
                  <a:srgbClr val="000000"/>
                </a:solidFill>
                <a:latin typeface="Times New Roman"/>
                <a:ea typeface="Times New Roman"/>
                <a:cs typeface="Times New Roman"/>
                <a:sym typeface="Times New Roman"/>
              </a:rPr>
              <a:t>not aware </a:t>
            </a:r>
            <a:r>
              <a:rPr lang="en-US" sz="1800">
                <a:solidFill>
                  <a:srgbClr val="000000"/>
                </a:solidFill>
                <a:latin typeface="Times New Roman"/>
                <a:ea typeface="Times New Roman"/>
                <a:cs typeface="Times New Roman"/>
                <a:sym typeface="Times New Roman"/>
              </a:rPr>
              <a:t>of OTT platforms. </a:t>
            </a:r>
            <a:endParaRPr sz="1800">
              <a:latin typeface="Calibri"/>
              <a:ea typeface="Calibri"/>
              <a:cs typeface="Calibri"/>
              <a:sym typeface="Calibri"/>
            </a:endParaRPr>
          </a:p>
          <a:p>
            <a:pPr indent="0" lvl="1" marL="457200" rtl="0" algn="l">
              <a:lnSpc>
                <a:spcPct val="90000"/>
              </a:lnSpc>
              <a:spcBef>
                <a:spcPts val="500"/>
              </a:spcBef>
              <a:spcAft>
                <a:spcPts val="0"/>
              </a:spcAft>
              <a:buClr>
                <a:schemeClr val="dk1"/>
              </a:buClr>
              <a:buSzPts val="1800"/>
              <a:buNone/>
            </a:pPr>
            <a:r>
              <a:t/>
            </a:r>
            <a:endParaRPr sz="1800"/>
          </a:p>
        </p:txBody>
      </p:sp>
      <p:sp>
        <p:nvSpPr>
          <p:cNvPr id="266" name="Google Shape;266;p19"/>
          <p:cNvSpPr txBox="1"/>
          <p:nvPr>
            <p:ph idx="3" type="body"/>
          </p:nvPr>
        </p:nvSpPr>
        <p:spPr>
          <a:xfrm>
            <a:off x="811211" y="147338"/>
            <a:ext cx="5183188" cy="823912"/>
          </a:xfrm>
          <a:prstGeom prst="rect">
            <a:avLst/>
          </a:prstGeom>
          <a:noFill/>
          <a:ln>
            <a:noFill/>
          </a:ln>
        </p:spPr>
        <p:txBody>
          <a:bodyPr anchorCtr="0" anchor="b"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FITTED MODEL</a:t>
            </a:r>
            <a:endParaRPr>
              <a:latin typeface="Times New Roman"/>
              <a:ea typeface="Times New Roman"/>
              <a:cs typeface="Times New Roman"/>
              <a:sym typeface="Times New Roman"/>
            </a:endParaRPr>
          </a:p>
        </p:txBody>
      </p:sp>
      <p:sp>
        <p:nvSpPr>
          <p:cNvPr id="267" name="Google Shape;267;p19"/>
          <p:cNvSpPr txBox="1"/>
          <p:nvPr>
            <p:ph idx="4" type="body"/>
          </p:nvPr>
        </p:nvSpPr>
        <p:spPr>
          <a:xfrm>
            <a:off x="656949" y="1305017"/>
            <a:ext cx="4643020" cy="5187857"/>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000000"/>
              </a:buClr>
              <a:buSzPts val="1800"/>
              <a:buChar char="•"/>
            </a:pPr>
            <a:r>
              <a:rPr lang="en-US" sz="1800">
                <a:solidFill>
                  <a:srgbClr val="000000"/>
                </a:solidFill>
                <a:latin typeface="Times New Roman"/>
                <a:ea typeface="Times New Roman"/>
                <a:cs typeface="Times New Roman"/>
                <a:sym typeface="Times New Roman"/>
              </a:rPr>
              <a:t>f(x) = -1.527 (constant) - 0.04 (x1) -21.575(x21) + 0.895(x22) + 0.561(x23) + 0.704(x24) + 0.71(x25) + 0.535(x31) + 0.737(x32) + 1.025(x33) -0.428(x34) + 3.086(x4)</a:t>
            </a:r>
            <a:endParaRPr/>
          </a:p>
          <a:p>
            <a:pPr indent="0" lvl="0" marL="0" rtl="0" algn="l">
              <a:lnSpc>
                <a:spcPct val="90000"/>
              </a:lnSpc>
              <a:spcBef>
                <a:spcPts val="100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Where, </a:t>
            </a:r>
            <a:endParaRPr sz="1800">
              <a:solidFill>
                <a:srgbClr val="000000"/>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    x1 = Gender,</a:t>
            </a:r>
            <a:endParaRPr sz="1800">
              <a:latin typeface="Calibri"/>
              <a:ea typeface="Calibri"/>
              <a:cs typeface="Calibri"/>
              <a:sym typeface="Calibri"/>
            </a:endParaRPr>
          </a:p>
          <a:p>
            <a:pPr indent="0" lvl="0" marL="228600" marR="0" rtl="0" algn="l">
              <a:lnSpc>
                <a:spcPct val="107000"/>
              </a:lnSpc>
              <a:spcBef>
                <a:spcPts val="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x21= 1 Member Family </a:t>
            </a:r>
            <a:endParaRPr sz="1800">
              <a:latin typeface="Calibri"/>
              <a:ea typeface="Calibri"/>
              <a:cs typeface="Calibri"/>
              <a:sym typeface="Calibri"/>
            </a:endParaRPr>
          </a:p>
          <a:p>
            <a:pPr indent="0" lvl="0" marL="228600" marR="0" rtl="0" algn="l">
              <a:lnSpc>
                <a:spcPct val="107000"/>
              </a:lnSpc>
              <a:spcBef>
                <a:spcPts val="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x22 = 2 Members Family </a:t>
            </a:r>
            <a:endParaRPr sz="1800">
              <a:latin typeface="Calibri"/>
              <a:ea typeface="Calibri"/>
              <a:cs typeface="Calibri"/>
              <a:sym typeface="Calibri"/>
            </a:endParaRPr>
          </a:p>
          <a:p>
            <a:pPr indent="0" lvl="0" marL="228600" marR="0" rtl="0" algn="l">
              <a:lnSpc>
                <a:spcPct val="107000"/>
              </a:lnSpc>
              <a:spcBef>
                <a:spcPts val="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x23 = 3 Members Family </a:t>
            </a:r>
            <a:endParaRPr sz="1800">
              <a:latin typeface="Calibri"/>
              <a:ea typeface="Calibri"/>
              <a:cs typeface="Calibri"/>
              <a:sym typeface="Calibri"/>
            </a:endParaRPr>
          </a:p>
          <a:p>
            <a:pPr indent="0" lvl="0" marL="228600" marR="0" rtl="0" algn="l">
              <a:lnSpc>
                <a:spcPct val="107000"/>
              </a:lnSpc>
              <a:spcBef>
                <a:spcPts val="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x24= 4 Members Family </a:t>
            </a:r>
            <a:endParaRPr sz="1800">
              <a:latin typeface="Calibri"/>
              <a:ea typeface="Calibri"/>
              <a:cs typeface="Calibri"/>
              <a:sym typeface="Calibri"/>
            </a:endParaRPr>
          </a:p>
          <a:p>
            <a:pPr indent="0" lvl="0" marL="228600" marR="0" rtl="0" algn="l">
              <a:lnSpc>
                <a:spcPct val="107000"/>
              </a:lnSpc>
              <a:spcBef>
                <a:spcPts val="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x25= 5 Members Family </a:t>
            </a:r>
            <a:endParaRPr sz="1800">
              <a:latin typeface="Calibri"/>
              <a:ea typeface="Calibri"/>
              <a:cs typeface="Calibri"/>
              <a:sym typeface="Calibri"/>
            </a:endParaRPr>
          </a:p>
          <a:p>
            <a:pPr indent="0" lvl="0" marL="228600" marR="0" rtl="0" algn="l">
              <a:lnSpc>
                <a:spcPct val="107000"/>
              </a:lnSpc>
              <a:spcBef>
                <a:spcPts val="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x31= Annual Family Income (4-8 Lakhs)</a:t>
            </a:r>
            <a:endParaRPr sz="1800">
              <a:latin typeface="Calibri"/>
              <a:ea typeface="Calibri"/>
              <a:cs typeface="Calibri"/>
              <a:sym typeface="Calibri"/>
            </a:endParaRPr>
          </a:p>
          <a:p>
            <a:pPr indent="0" lvl="0" marL="228600" marR="0" rtl="0" algn="l">
              <a:lnSpc>
                <a:spcPct val="107000"/>
              </a:lnSpc>
              <a:spcBef>
                <a:spcPts val="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x32= Annual Family Income (8-12 Lakhs)</a:t>
            </a:r>
            <a:endParaRPr sz="1800">
              <a:latin typeface="Calibri"/>
              <a:ea typeface="Calibri"/>
              <a:cs typeface="Calibri"/>
              <a:sym typeface="Calibri"/>
            </a:endParaRPr>
          </a:p>
          <a:p>
            <a:pPr indent="0" lvl="0" marL="228600" marR="0" rtl="0" algn="l">
              <a:lnSpc>
                <a:spcPct val="107000"/>
              </a:lnSpc>
              <a:spcBef>
                <a:spcPts val="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x33= Annual Family Income (More than 12 Lakhs)</a:t>
            </a:r>
            <a:endParaRPr sz="1800">
              <a:latin typeface="Calibri"/>
              <a:ea typeface="Calibri"/>
              <a:cs typeface="Calibri"/>
              <a:sym typeface="Calibri"/>
            </a:endParaRPr>
          </a:p>
          <a:p>
            <a:pPr indent="0" lvl="0" marL="228600" marR="0" rtl="0" algn="l">
              <a:lnSpc>
                <a:spcPct val="107000"/>
              </a:lnSpc>
              <a:spcBef>
                <a:spcPts val="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x34= Annual Family Income (Below 1 Lakh) </a:t>
            </a:r>
            <a:endParaRPr/>
          </a:p>
          <a:p>
            <a:pPr indent="0" lvl="0" marL="228600" marR="0" rtl="0" algn="l">
              <a:lnSpc>
                <a:spcPct val="107000"/>
              </a:lnSpc>
              <a:spcBef>
                <a:spcPts val="0"/>
              </a:spcBef>
              <a:spcAft>
                <a:spcPts val="0"/>
              </a:spcAft>
              <a:buClr>
                <a:srgbClr val="000000"/>
              </a:buClr>
              <a:buSzPts val="1800"/>
              <a:buNone/>
            </a:pPr>
            <a:r>
              <a:rPr lang="en-US" sz="1800">
                <a:solidFill>
                  <a:srgbClr val="000000"/>
                </a:solidFill>
                <a:latin typeface="Times New Roman"/>
                <a:ea typeface="Times New Roman"/>
                <a:cs typeface="Times New Roman"/>
                <a:sym typeface="Times New Roman"/>
              </a:rPr>
              <a:t>x4= Aware about OTT (Yes)</a:t>
            </a:r>
            <a:endParaRPr sz="1800">
              <a:latin typeface="Calibri"/>
              <a:ea typeface="Calibri"/>
              <a:cs typeface="Calibri"/>
              <a:sym typeface="Calibri"/>
            </a:endParaRPr>
          </a:p>
          <a:p>
            <a:pPr indent="-50800" lvl="0" marL="228600" rtl="0" algn="l">
              <a:lnSpc>
                <a:spcPct val="90000"/>
              </a:lnSpc>
              <a:spcBef>
                <a:spcPts val="1000"/>
              </a:spcBef>
              <a:spcAft>
                <a:spcPts val="0"/>
              </a:spcAft>
              <a:buClr>
                <a:schemeClr val="dk1"/>
              </a:buClr>
              <a:buSzPts val="2800"/>
              <a:buNone/>
            </a:pPr>
            <a:r>
              <a:t/>
            </a:r>
            <a:endParaRPr/>
          </a:p>
        </p:txBody>
      </p:sp>
      <p:pic>
        <p:nvPicPr>
          <p:cNvPr id="268" name="Google Shape;268;p19"/>
          <p:cNvPicPr preferRelativeResize="0"/>
          <p:nvPr/>
        </p:nvPicPr>
        <p:blipFill rotWithShape="1">
          <a:blip r:embed="rId3">
            <a:alphaModFix/>
          </a:blip>
          <a:srcRect b="0" l="0" r="0" t="0"/>
          <a:stretch/>
        </p:blipFill>
        <p:spPr>
          <a:xfrm>
            <a:off x="5325370" y="147338"/>
            <a:ext cx="6209681" cy="297760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0"/>
          <p:cNvSpPr txBox="1"/>
          <p:nvPr>
            <p:ph type="title"/>
          </p:nvPr>
        </p:nvSpPr>
        <p:spPr>
          <a:xfrm>
            <a:off x="6480452" y="10450"/>
            <a:ext cx="4697135" cy="1181178"/>
          </a:xfrm>
          <a:prstGeom prst="rect">
            <a:avLst/>
          </a:prstGeom>
          <a:noFill/>
          <a:ln>
            <a:noFill/>
          </a:ln>
        </p:spPr>
        <p:txBody>
          <a:bodyPr anchorCtr="0" anchor="ctr" bIns="45700" lIns="91425" spcFirstLastPara="1" rIns="91425" wrap="square" tIns="45700">
            <a:normAutofit/>
          </a:bodyPr>
          <a:lstStyle/>
          <a:p>
            <a:pPr indent="-285750" lvl="0" marL="285750" rtl="0" algn="l">
              <a:lnSpc>
                <a:spcPct val="90000"/>
              </a:lnSpc>
              <a:spcBef>
                <a:spcPts val="0"/>
              </a:spcBef>
              <a:spcAft>
                <a:spcPts val="0"/>
              </a:spcAft>
              <a:buClr>
                <a:srgbClr val="000000"/>
              </a:buClr>
              <a:buSzPts val="2800"/>
              <a:buFont typeface="Noto Sans Symbols"/>
              <a:buChar char="❑"/>
            </a:pPr>
            <a:r>
              <a:rPr b="1" lang="en-US" sz="2800">
                <a:solidFill>
                  <a:srgbClr val="000000"/>
                </a:solidFill>
                <a:latin typeface="Times New Roman"/>
                <a:ea typeface="Times New Roman"/>
                <a:cs typeface="Times New Roman"/>
                <a:sym typeface="Times New Roman"/>
              </a:rPr>
              <a:t>Odds ratio:</a:t>
            </a:r>
            <a:endParaRPr b="1" sz="2800">
              <a:solidFill>
                <a:srgbClr val="000000"/>
              </a:solidFill>
              <a:latin typeface="Calibri"/>
              <a:ea typeface="Calibri"/>
              <a:cs typeface="Calibri"/>
              <a:sym typeface="Calibri"/>
            </a:endParaRPr>
          </a:p>
        </p:txBody>
      </p:sp>
      <p:sp>
        <p:nvSpPr>
          <p:cNvPr id="274" name="Google Shape;274;p20"/>
          <p:cNvSpPr txBox="1"/>
          <p:nvPr>
            <p:ph idx="1" type="body"/>
          </p:nvPr>
        </p:nvSpPr>
        <p:spPr>
          <a:xfrm>
            <a:off x="836613" y="-104952"/>
            <a:ext cx="5157787" cy="823912"/>
          </a:xfrm>
          <a:prstGeom prst="rect">
            <a:avLst/>
          </a:prstGeom>
          <a:noFill/>
          <a:ln>
            <a:noFill/>
          </a:ln>
        </p:spPr>
        <p:txBody>
          <a:bodyPr anchorCtr="0" anchor="b"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400"/>
              <a:buFont typeface="Noto Sans Symbols"/>
              <a:buChar char="❑"/>
            </a:pPr>
            <a:r>
              <a:rPr lang="en-US"/>
              <a:t>Estimate (B)</a:t>
            </a:r>
            <a:endParaRPr/>
          </a:p>
        </p:txBody>
      </p:sp>
      <p:sp>
        <p:nvSpPr>
          <p:cNvPr id="275" name="Google Shape;275;p20"/>
          <p:cNvSpPr txBox="1"/>
          <p:nvPr>
            <p:ph idx="2" type="body"/>
          </p:nvPr>
        </p:nvSpPr>
        <p:spPr>
          <a:xfrm>
            <a:off x="570914" y="1013064"/>
            <a:ext cx="5447160" cy="5355162"/>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000000"/>
              </a:buClr>
              <a:buSzPct val="100000"/>
              <a:buChar char="•"/>
            </a:pPr>
            <a:r>
              <a:rPr lang="en-US" sz="1800">
                <a:solidFill>
                  <a:srgbClr val="000000"/>
                </a:solidFill>
                <a:latin typeface="Times New Roman"/>
                <a:ea typeface="Times New Roman"/>
                <a:cs typeface="Times New Roman"/>
                <a:sym typeface="Times New Roman"/>
              </a:rPr>
              <a:t>The odds of an older person using OTT platforms is low.</a:t>
            </a:r>
            <a:endParaRPr/>
          </a:p>
          <a:p>
            <a:pPr indent="-228600" lvl="0" marL="228600" rtl="0" algn="l">
              <a:lnSpc>
                <a:spcPct val="90000"/>
              </a:lnSpc>
              <a:spcBef>
                <a:spcPts val="1000"/>
              </a:spcBef>
              <a:spcAft>
                <a:spcPts val="0"/>
              </a:spcAft>
              <a:buClr>
                <a:srgbClr val="000000"/>
              </a:buClr>
              <a:buSzPct val="100000"/>
              <a:buChar char="•"/>
            </a:pPr>
            <a:r>
              <a:rPr lang="en-US" sz="1800">
                <a:solidFill>
                  <a:srgbClr val="000000"/>
                </a:solidFill>
                <a:latin typeface="Times New Roman"/>
                <a:ea typeface="Times New Roman"/>
                <a:cs typeface="Times New Roman"/>
                <a:sym typeface="Times New Roman"/>
              </a:rPr>
              <a:t>A person with 4 and 5 family members are more likely to use OTT.</a:t>
            </a:r>
            <a:endParaRPr sz="1800">
              <a:solidFill>
                <a:srgbClr val="000000"/>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0000"/>
              </a:buClr>
              <a:buSzPct val="100000"/>
              <a:buChar char="•"/>
            </a:pPr>
            <a:r>
              <a:rPr lang="en-US" sz="1800">
                <a:solidFill>
                  <a:srgbClr val="000000"/>
                </a:solidFill>
                <a:latin typeface="Times New Roman"/>
                <a:ea typeface="Times New Roman"/>
                <a:cs typeface="Times New Roman"/>
                <a:sym typeface="Times New Roman"/>
              </a:rPr>
              <a:t>Individuals with annual family income between ‘Below 1 Lakh’ are least likely to use OTT platforms.</a:t>
            </a:r>
            <a:endParaRPr sz="1800">
              <a:latin typeface="Calibri"/>
              <a:ea typeface="Calibri"/>
              <a:cs typeface="Calibri"/>
              <a:sym typeface="Calibri"/>
            </a:endParaRPr>
          </a:p>
          <a:p>
            <a:pPr indent="-228600" lvl="0" marL="228600" rtl="0" algn="l">
              <a:lnSpc>
                <a:spcPct val="90000"/>
              </a:lnSpc>
              <a:spcBef>
                <a:spcPts val="1000"/>
              </a:spcBef>
              <a:spcAft>
                <a:spcPts val="0"/>
              </a:spcAft>
              <a:buClr>
                <a:srgbClr val="000000"/>
              </a:buClr>
              <a:buSzPct val="100000"/>
              <a:buChar char="•"/>
            </a:pPr>
            <a:r>
              <a:rPr lang="en-US" sz="1800">
                <a:solidFill>
                  <a:srgbClr val="000000"/>
                </a:solidFill>
                <a:latin typeface="Times New Roman"/>
                <a:ea typeface="Times New Roman"/>
                <a:cs typeface="Times New Roman"/>
                <a:sym typeface="Times New Roman"/>
              </a:rPr>
              <a:t>Respondents who were aware of OTT platforms were highly likely to use OTT platforms. </a:t>
            </a:r>
            <a:endParaRPr/>
          </a:p>
          <a:p>
            <a:pPr indent="0" lvl="0" marL="0" rtl="0" algn="l">
              <a:lnSpc>
                <a:spcPct val="90000"/>
              </a:lnSpc>
              <a:spcBef>
                <a:spcPts val="1000"/>
              </a:spcBef>
              <a:spcAft>
                <a:spcPts val="0"/>
              </a:spcAft>
              <a:buClr>
                <a:schemeClr val="dk1"/>
              </a:buClr>
              <a:buSzPct val="100000"/>
              <a:buNone/>
            </a:pPr>
            <a:r>
              <a:t/>
            </a:r>
            <a:endParaRPr sz="1800">
              <a:solidFill>
                <a:srgbClr val="000000"/>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sz="1800">
              <a:solidFill>
                <a:srgbClr val="000000"/>
              </a:solidFill>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t/>
            </a:r>
            <a:endParaRPr sz="1800">
              <a:solidFill>
                <a:srgbClr val="000000"/>
              </a:solidFill>
              <a:latin typeface="Times New Roman"/>
              <a:ea typeface="Times New Roman"/>
              <a:cs typeface="Times New Roman"/>
              <a:sym typeface="Times New Roman"/>
            </a:endParaRPr>
          </a:p>
          <a:p>
            <a:pPr indent="0" lvl="0" marL="0" marR="0" rtl="0" algn="l">
              <a:lnSpc>
                <a:spcPct val="107000"/>
              </a:lnSpc>
              <a:spcBef>
                <a:spcPts val="1000"/>
              </a:spcBef>
              <a:spcAft>
                <a:spcPts val="0"/>
              </a:spcAft>
              <a:buClr>
                <a:srgbClr val="000000"/>
              </a:buClr>
              <a:buSzPct val="100000"/>
              <a:buChar char="•"/>
            </a:pPr>
            <a:r>
              <a:rPr lang="en-US" sz="1800">
                <a:solidFill>
                  <a:srgbClr val="000000"/>
                </a:solidFill>
                <a:latin typeface="Times New Roman"/>
                <a:ea typeface="Times New Roman"/>
                <a:cs typeface="Times New Roman"/>
                <a:sym typeface="Times New Roman"/>
              </a:rPr>
              <a:t>H</a:t>
            </a:r>
            <a:r>
              <a:rPr baseline="-25000" lang="en-US" sz="1800">
                <a:solidFill>
                  <a:srgbClr val="000000"/>
                </a:solidFill>
                <a:latin typeface="Times New Roman"/>
                <a:ea typeface="Times New Roman"/>
                <a:cs typeface="Times New Roman"/>
                <a:sym typeface="Times New Roman"/>
              </a:rPr>
              <a:t>0</a:t>
            </a:r>
            <a:r>
              <a:rPr lang="en-US" sz="1800">
                <a:solidFill>
                  <a:srgbClr val="000000"/>
                </a:solidFill>
                <a:latin typeface="Times New Roman"/>
                <a:ea typeface="Times New Roman"/>
                <a:cs typeface="Times New Roman"/>
                <a:sym typeface="Times New Roman"/>
              </a:rPr>
              <a:t>: Individual independent variables are significant</a:t>
            </a:r>
            <a:endParaRPr sz="1800">
              <a:latin typeface="Times New Roman"/>
              <a:ea typeface="Times New Roman"/>
              <a:cs typeface="Times New Roman"/>
              <a:sym typeface="Times New Roman"/>
            </a:endParaRPr>
          </a:p>
          <a:p>
            <a:pPr indent="0" lvl="0" marL="228600" marR="0" rtl="0" algn="l">
              <a:lnSpc>
                <a:spcPct val="107000"/>
              </a:lnSpc>
              <a:spcBef>
                <a:spcPts val="1000"/>
              </a:spcBef>
              <a:spcAft>
                <a:spcPts val="0"/>
              </a:spcAft>
              <a:buClr>
                <a:srgbClr val="000000"/>
              </a:buClr>
              <a:buSzPct val="100000"/>
              <a:buNone/>
            </a:pPr>
            <a:r>
              <a:rPr lang="en-US" sz="1800">
                <a:solidFill>
                  <a:srgbClr val="000000"/>
                </a:solidFill>
                <a:latin typeface="Times New Roman"/>
                <a:ea typeface="Times New Roman"/>
                <a:cs typeface="Times New Roman"/>
                <a:sym typeface="Times New Roman"/>
              </a:rPr>
              <a:t>H</a:t>
            </a:r>
            <a:r>
              <a:rPr baseline="-25000" lang="en-US" sz="1800">
                <a:solidFill>
                  <a:srgbClr val="000000"/>
                </a:solidFill>
                <a:latin typeface="Times New Roman"/>
                <a:ea typeface="Times New Roman"/>
                <a:cs typeface="Times New Roman"/>
                <a:sym typeface="Times New Roman"/>
              </a:rPr>
              <a:t>1</a:t>
            </a:r>
            <a:r>
              <a:rPr lang="en-US" sz="1800">
                <a:solidFill>
                  <a:srgbClr val="000000"/>
                </a:solidFill>
                <a:latin typeface="Times New Roman"/>
                <a:ea typeface="Times New Roman"/>
                <a:cs typeface="Times New Roman"/>
                <a:sym typeface="Times New Roman"/>
              </a:rPr>
              <a:t>: Not H</a:t>
            </a:r>
            <a:r>
              <a:rPr baseline="-25000" lang="en-US" sz="1800">
                <a:solidFill>
                  <a:srgbClr val="000000"/>
                </a:solidFill>
                <a:latin typeface="Times New Roman"/>
                <a:ea typeface="Times New Roman"/>
                <a:cs typeface="Times New Roman"/>
                <a:sym typeface="Times New Roman"/>
              </a:rPr>
              <a:t>0</a:t>
            </a:r>
            <a:endParaRPr sz="18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0000"/>
              </a:buClr>
              <a:buSzPct val="100000"/>
              <a:buChar char="•"/>
            </a:pPr>
            <a:r>
              <a:rPr lang="en-US" sz="1800">
                <a:solidFill>
                  <a:srgbClr val="000000"/>
                </a:solidFill>
                <a:latin typeface="Times New Roman"/>
                <a:ea typeface="Times New Roman"/>
                <a:cs typeface="Times New Roman"/>
                <a:sym typeface="Times New Roman"/>
              </a:rPr>
              <a:t>For variables, whose p value&lt;0.05 indicate they did not add to the model significantly. </a:t>
            </a:r>
            <a:endParaRPr/>
          </a:p>
          <a:p>
            <a:pPr indent="-228600" lvl="0" marL="228600" rtl="0" algn="l">
              <a:lnSpc>
                <a:spcPct val="90000"/>
              </a:lnSpc>
              <a:spcBef>
                <a:spcPts val="1000"/>
              </a:spcBef>
              <a:spcAft>
                <a:spcPts val="0"/>
              </a:spcAft>
              <a:buClr>
                <a:srgbClr val="000000"/>
              </a:buClr>
              <a:buSzPct val="100000"/>
              <a:buChar char="•"/>
            </a:pPr>
            <a:r>
              <a:rPr lang="en-US" sz="1800">
                <a:solidFill>
                  <a:srgbClr val="000000"/>
                </a:solidFill>
                <a:latin typeface="Times New Roman"/>
                <a:ea typeface="Times New Roman"/>
                <a:cs typeface="Times New Roman"/>
                <a:sym typeface="Times New Roman"/>
              </a:rPr>
              <a:t>Age, Members in family (4), Members in family (5), Family Income above 1 Lakhs, Awareness about OTT platforms are all significant as their p value is &lt;0.05.</a:t>
            </a:r>
            <a:endParaRPr/>
          </a:p>
        </p:txBody>
      </p:sp>
      <p:sp>
        <p:nvSpPr>
          <p:cNvPr id="276" name="Google Shape;276;p20"/>
          <p:cNvSpPr txBox="1"/>
          <p:nvPr>
            <p:ph idx="3" type="body"/>
          </p:nvPr>
        </p:nvSpPr>
        <p:spPr>
          <a:xfrm>
            <a:off x="823912" y="2866733"/>
            <a:ext cx="5183188" cy="823912"/>
          </a:xfrm>
          <a:prstGeom prst="rect">
            <a:avLst/>
          </a:prstGeom>
          <a:noFill/>
          <a:ln>
            <a:noFill/>
          </a:ln>
        </p:spPr>
        <p:txBody>
          <a:bodyPr anchorCtr="0" anchor="b" bIns="45700" lIns="91425" spcFirstLastPara="1" rIns="91425" wrap="square" tIns="45700">
            <a:normAutofit/>
          </a:bodyPr>
          <a:lstStyle/>
          <a:p>
            <a:pPr indent="-342900" lvl="0" marL="342900" rtl="0" algn="l">
              <a:lnSpc>
                <a:spcPct val="90000"/>
              </a:lnSpc>
              <a:spcBef>
                <a:spcPts val="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Wald Statistic-</a:t>
            </a:r>
            <a:endParaRPr sz="2400">
              <a:solidFill>
                <a:srgbClr val="000000"/>
              </a:solidFill>
              <a:latin typeface="Calibri"/>
              <a:ea typeface="Calibri"/>
              <a:cs typeface="Calibri"/>
              <a:sym typeface="Calibri"/>
            </a:endParaRPr>
          </a:p>
        </p:txBody>
      </p:sp>
      <p:sp>
        <p:nvSpPr>
          <p:cNvPr id="277" name="Google Shape;277;p20"/>
          <p:cNvSpPr txBox="1"/>
          <p:nvPr>
            <p:ph idx="4" type="body"/>
          </p:nvPr>
        </p:nvSpPr>
        <p:spPr>
          <a:xfrm>
            <a:off x="6172200" y="1191628"/>
            <a:ext cx="5081587" cy="4998035"/>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000000"/>
              </a:buClr>
              <a:buSzPct val="100000"/>
              <a:buFont typeface="Noto Sans Symbols"/>
              <a:buChar char="▪"/>
            </a:pPr>
            <a:r>
              <a:rPr lang="en-US" sz="1600">
                <a:solidFill>
                  <a:srgbClr val="000000"/>
                </a:solidFill>
                <a:latin typeface="Times New Roman"/>
                <a:ea typeface="Times New Roman"/>
                <a:cs typeface="Times New Roman"/>
                <a:sym typeface="Times New Roman"/>
              </a:rPr>
              <a:t>An Exp(B) value over 1.0 signifies that the independent variable increases the odds of the dependent variable occurring. An Exp(B) under 1.0 signifies that the independent variable decreases the odds of the dependent variable occurring, depending on the decoding that is mentioned on the variables details before.</a:t>
            </a:r>
            <a:endParaRPr sz="1600">
              <a:latin typeface="Calibri"/>
              <a:ea typeface="Calibri"/>
              <a:cs typeface="Calibri"/>
              <a:sym typeface="Calibri"/>
            </a:endParaRPr>
          </a:p>
          <a:p>
            <a:pPr indent="-228600" lvl="0" marL="228600" marR="0" rtl="0" algn="l">
              <a:lnSpc>
                <a:spcPct val="107000"/>
              </a:lnSpc>
              <a:spcBef>
                <a:spcPts val="1000"/>
              </a:spcBef>
              <a:spcAft>
                <a:spcPts val="0"/>
              </a:spcAft>
              <a:buClr>
                <a:srgbClr val="000000"/>
              </a:buClr>
              <a:buSzPct val="100000"/>
              <a:buFont typeface="Noto Sans Symbols"/>
              <a:buChar char="▪"/>
            </a:pPr>
            <a:r>
              <a:rPr lang="en-US" sz="1800">
                <a:solidFill>
                  <a:srgbClr val="000000"/>
                </a:solidFill>
                <a:latin typeface="Times New Roman"/>
                <a:ea typeface="Times New Roman"/>
                <a:cs typeface="Times New Roman"/>
                <a:sym typeface="Times New Roman"/>
              </a:rPr>
              <a:t>For an additional year in age, the odds of a person using OTT platform is lowered by a factor of 0.961. </a:t>
            </a:r>
            <a:endParaRPr sz="1800">
              <a:latin typeface="Calibri"/>
              <a:ea typeface="Calibri"/>
              <a:cs typeface="Calibri"/>
              <a:sym typeface="Calibri"/>
            </a:endParaRPr>
          </a:p>
          <a:p>
            <a:pPr indent="-228600" lvl="0" marL="228600" marR="0" rtl="0" algn="l">
              <a:lnSpc>
                <a:spcPct val="107000"/>
              </a:lnSpc>
              <a:spcBef>
                <a:spcPts val="1000"/>
              </a:spcBef>
              <a:spcAft>
                <a:spcPts val="0"/>
              </a:spcAft>
              <a:buClr>
                <a:srgbClr val="000000"/>
              </a:buClr>
              <a:buSzPct val="100000"/>
              <a:buFont typeface="Noto Sans Symbols"/>
              <a:buChar char="▪"/>
            </a:pPr>
            <a:r>
              <a:rPr lang="en-US" sz="1800">
                <a:solidFill>
                  <a:srgbClr val="000000"/>
                </a:solidFill>
                <a:latin typeface="Times New Roman"/>
                <a:ea typeface="Times New Roman"/>
                <a:cs typeface="Times New Roman"/>
                <a:sym typeface="Times New Roman"/>
              </a:rPr>
              <a:t>Odds Ratio is a measure of association representing the odds that a person with annual family income ‘4-8 Lakhs’ is 2 times more likely to use OTT platforms than people with ‘1-4 Lakhs’ annual family income.   </a:t>
            </a:r>
            <a:endParaRPr sz="1800">
              <a:latin typeface="Calibri"/>
              <a:ea typeface="Calibri"/>
              <a:cs typeface="Calibri"/>
              <a:sym typeface="Calibri"/>
            </a:endParaRPr>
          </a:p>
          <a:p>
            <a:pPr indent="-228600" lvl="0" marL="228600" marR="0" rtl="0" algn="l">
              <a:lnSpc>
                <a:spcPct val="107000"/>
              </a:lnSpc>
              <a:spcBef>
                <a:spcPts val="1000"/>
              </a:spcBef>
              <a:spcAft>
                <a:spcPts val="0"/>
              </a:spcAft>
              <a:buClr>
                <a:srgbClr val="000000"/>
              </a:buClr>
              <a:buSzPct val="100000"/>
              <a:buFont typeface="Noto Sans Symbols"/>
              <a:buChar char="▪"/>
            </a:pPr>
            <a:r>
              <a:rPr lang="en-US" sz="1800">
                <a:solidFill>
                  <a:srgbClr val="000000"/>
                </a:solidFill>
                <a:latin typeface="Times New Roman"/>
                <a:ea typeface="Times New Roman"/>
                <a:cs typeface="Times New Roman"/>
                <a:sym typeface="Times New Roman"/>
              </a:rPr>
              <a:t>A person with 5 family members is more likely to use an OTT platform than a person with a More than 5 members. </a:t>
            </a:r>
            <a:endParaRPr sz="1800">
              <a:latin typeface="Calibri"/>
              <a:ea typeface="Calibri"/>
              <a:cs typeface="Calibri"/>
              <a:sym typeface="Calibri"/>
            </a:endParaRPr>
          </a:p>
          <a:p>
            <a:pPr indent="-228600" lvl="0" marL="228600" marR="0" rtl="0" algn="l">
              <a:lnSpc>
                <a:spcPct val="107000"/>
              </a:lnSpc>
              <a:spcBef>
                <a:spcPts val="1000"/>
              </a:spcBef>
              <a:spcAft>
                <a:spcPts val="0"/>
              </a:spcAft>
              <a:buClr>
                <a:srgbClr val="000000"/>
              </a:buClr>
              <a:buSzPct val="100000"/>
              <a:buFont typeface="Noto Sans Symbols"/>
              <a:buChar char="▪"/>
            </a:pPr>
            <a:r>
              <a:rPr lang="en-US" sz="1800">
                <a:solidFill>
                  <a:srgbClr val="000000"/>
                </a:solidFill>
                <a:latin typeface="Times New Roman"/>
                <a:ea typeface="Times New Roman"/>
                <a:cs typeface="Times New Roman"/>
                <a:sym typeface="Times New Roman"/>
              </a:rPr>
              <a:t>People who are aware of OTT platforms are 22 times more likely to use OTT platforms than people who are not aware of OTT.</a:t>
            </a:r>
            <a:endParaRPr sz="1800">
              <a:latin typeface="Calibri"/>
              <a:ea typeface="Calibri"/>
              <a:cs typeface="Calibri"/>
              <a:sym typeface="Calibri"/>
            </a:endParaRPr>
          </a:p>
          <a:p>
            <a:pPr indent="-134620" lvl="0" marL="228600" rtl="0" algn="l">
              <a:lnSpc>
                <a:spcPct val="90000"/>
              </a:lnSpc>
              <a:spcBef>
                <a:spcPts val="1000"/>
              </a:spcBef>
              <a:spcAft>
                <a:spcPts val="0"/>
              </a:spcAft>
              <a:buClr>
                <a:schemeClr val="dk1"/>
              </a:buClr>
              <a:buSzPct val="100000"/>
              <a:buNone/>
            </a:pPr>
            <a:r>
              <a:t/>
            </a:r>
            <a:endParaRPr sz="16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1"/>
          <p:cNvSpPr txBox="1"/>
          <p:nvPr>
            <p:ph type="title"/>
          </p:nvPr>
        </p:nvSpPr>
        <p:spPr>
          <a:xfrm>
            <a:off x="867192" y="319318"/>
            <a:ext cx="10515600" cy="50630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 APRIORI ALGORITHM</a:t>
            </a:r>
            <a:endParaRPr b="1">
              <a:latin typeface="Times New Roman"/>
              <a:ea typeface="Times New Roman"/>
              <a:cs typeface="Times New Roman"/>
              <a:sym typeface="Times New Roman"/>
            </a:endParaRPr>
          </a:p>
        </p:txBody>
      </p:sp>
      <p:sp>
        <p:nvSpPr>
          <p:cNvPr id="283" name="Google Shape;283;p21"/>
          <p:cNvSpPr txBox="1"/>
          <p:nvPr>
            <p:ph idx="1" type="body"/>
          </p:nvPr>
        </p:nvSpPr>
        <p:spPr>
          <a:xfrm>
            <a:off x="867192" y="865472"/>
            <a:ext cx="5157787"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284" name="Google Shape;284;p21"/>
          <p:cNvSpPr txBox="1"/>
          <p:nvPr>
            <p:ph idx="2" type="body"/>
          </p:nvPr>
        </p:nvSpPr>
        <p:spPr>
          <a:xfrm>
            <a:off x="644987" y="1322773"/>
            <a:ext cx="5188368" cy="512924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b="0" lang="en-US" sz="1600">
                <a:latin typeface="Times New Roman"/>
                <a:ea typeface="Times New Roman"/>
                <a:cs typeface="Times New Roman"/>
                <a:sym typeface="Times New Roman"/>
              </a:rPr>
              <a:t>Apriori is an </a:t>
            </a:r>
            <a:r>
              <a:rPr b="0" lang="en-US" sz="1600" strike="noStrike">
                <a:latin typeface="Times New Roman"/>
                <a:ea typeface="Times New Roman"/>
                <a:cs typeface="Times New Roman"/>
                <a:sym typeface="Times New Roman"/>
              </a:rPr>
              <a:t>algorithm</a:t>
            </a:r>
            <a:r>
              <a:rPr b="0" lang="en-US" sz="1600">
                <a:latin typeface="Times New Roman"/>
                <a:ea typeface="Times New Roman"/>
                <a:cs typeface="Times New Roman"/>
                <a:sym typeface="Times New Roman"/>
              </a:rPr>
              <a:t> for frequent item set mining and association rule learning over relational </a:t>
            </a:r>
            <a:r>
              <a:rPr b="0" lang="en-US" sz="1600" strike="noStrike">
                <a:latin typeface="Times New Roman"/>
                <a:ea typeface="Times New Roman"/>
                <a:cs typeface="Times New Roman"/>
                <a:sym typeface="Times New Roman"/>
              </a:rPr>
              <a:t>databases. </a:t>
            </a:r>
            <a:r>
              <a:rPr b="0" i="0" lang="en-US" sz="1600">
                <a:latin typeface="Times New Roman"/>
                <a:ea typeface="Times New Roman"/>
                <a:cs typeface="Times New Roman"/>
                <a:sym typeface="Times New Roman"/>
              </a:rPr>
              <a:t>it uses prior knowledge of frequent itemset properties.</a:t>
            </a:r>
            <a:endParaRPr/>
          </a:p>
          <a:p>
            <a:pPr indent="-228600" lvl="0" marL="228600" rtl="0" algn="l">
              <a:lnSpc>
                <a:spcPct val="90000"/>
              </a:lnSpc>
              <a:spcBef>
                <a:spcPts val="1000"/>
              </a:spcBef>
              <a:spcAft>
                <a:spcPts val="0"/>
              </a:spcAft>
              <a:buClr>
                <a:schemeClr val="dk1"/>
              </a:buClr>
              <a:buSzPts val="1600"/>
              <a:buChar char="•"/>
            </a:pPr>
            <a:r>
              <a:rPr b="1" lang="en-US" sz="1600">
                <a:latin typeface="Times New Roman"/>
                <a:ea typeface="Times New Roman"/>
                <a:cs typeface="Times New Roman"/>
                <a:sym typeface="Times New Roman"/>
              </a:rPr>
              <a:t>Objective: </a:t>
            </a:r>
            <a:r>
              <a:rPr lang="en-US" sz="1600">
                <a:latin typeface="Times New Roman"/>
                <a:ea typeface="Times New Roman"/>
                <a:cs typeface="Times New Roman"/>
                <a:sym typeface="Times New Roman"/>
              </a:rPr>
              <a:t>T</a:t>
            </a:r>
            <a:r>
              <a:rPr lang="en-US" sz="1600">
                <a:solidFill>
                  <a:srgbClr val="000000"/>
                </a:solidFill>
                <a:latin typeface="Times New Roman"/>
                <a:ea typeface="Times New Roman"/>
                <a:cs typeface="Times New Roman"/>
                <a:sym typeface="Times New Roman"/>
              </a:rPr>
              <a:t>o understand the association and frequency between different genres</a:t>
            </a:r>
            <a:endParaRPr sz="16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The dataset looks like,</a:t>
            </a:r>
            <a:endParaRPr/>
          </a:p>
          <a:p>
            <a:pPr indent="-127000" lvl="0" marL="228600" rtl="0" algn="l">
              <a:lnSpc>
                <a:spcPct val="90000"/>
              </a:lnSpc>
              <a:spcBef>
                <a:spcPts val="1000"/>
              </a:spcBef>
              <a:spcAft>
                <a:spcPts val="0"/>
              </a:spcAft>
              <a:buClr>
                <a:schemeClr val="dk1"/>
              </a:buClr>
              <a:buSzPts val="1600"/>
              <a:buNone/>
            </a:pPr>
            <a:r>
              <a:t/>
            </a:r>
            <a:endParaRPr sz="1600">
              <a:latin typeface="Times New Roman"/>
              <a:ea typeface="Times New Roman"/>
              <a:cs typeface="Times New Roman"/>
              <a:sym typeface="Times New Roman"/>
            </a:endParaRPr>
          </a:p>
        </p:txBody>
      </p:sp>
      <p:sp>
        <p:nvSpPr>
          <p:cNvPr id="285" name="Google Shape;285;p21"/>
          <p:cNvSpPr txBox="1"/>
          <p:nvPr>
            <p:ph idx="3" type="body"/>
          </p:nvPr>
        </p:nvSpPr>
        <p:spPr>
          <a:xfrm>
            <a:off x="6358645" y="1163899"/>
            <a:ext cx="5183188"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latin typeface="Times New Roman"/>
                <a:ea typeface="Times New Roman"/>
                <a:cs typeface="Times New Roman"/>
                <a:sym typeface="Times New Roman"/>
              </a:rPr>
              <a:t>Support </a:t>
            </a:r>
            <a:endParaRPr>
              <a:latin typeface="Times New Roman"/>
              <a:ea typeface="Times New Roman"/>
              <a:cs typeface="Times New Roman"/>
              <a:sym typeface="Times New Roman"/>
            </a:endParaRPr>
          </a:p>
        </p:txBody>
      </p:sp>
      <p:sp>
        <p:nvSpPr>
          <p:cNvPr id="286" name="Google Shape;286;p21"/>
          <p:cNvSpPr txBox="1"/>
          <p:nvPr>
            <p:ph idx="4" type="body"/>
          </p:nvPr>
        </p:nvSpPr>
        <p:spPr>
          <a:xfrm>
            <a:off x="6095999" y="2095130"/>
            <a:ext cx="5188367" cy="424639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The </a:t>
            </a:r>
            <a:r>
              <a:rPr lang="en-US" sz="1800">
                <a:solidFill>
                  <a:srgbClr val="000000"/>
                </a:solidFill>
                <a:latin typeface="Times New Roman"/>
                <a:ea typeface="Times New Roman"/>
                <a:cs typeface="Times New Roman"/>
                <a:sym typeface="Times New Roman"/>
              </a:rPr>
              <a:t>support for comedy is the highest indicating most viewers want to watch Comedy genre followed by Thriller and Romance. Viewers also like to watch Thriller and Comedy together and Romance and Comedy together.</a:t>
            </a:r>
            <a:endParaRPr sz="1800">
              <a:latin typeface="Times New Roman"/>
              <a:ea typeface="Times New Roman"/>
              <a:cs typeface="Times New Roman"/>
              <a:sym typeface="Times New Roman"/>
            </a:endParaRPr>
          </a:p>
          <a:p>
            <a:pPr indent="-114300" lvl="0" marL="22860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p:txBody>
      </p:sp>
      <p:pic>
        <p:nvPicPr>
          <p:cNvPr id="287" name="Google Shape;287;p21"/>
          <p:cNvPicPr preferRelativeResize="0"/>
          <p:nvPr/>
        </p:nvPicPr>
        <p:blipFill rotWithShape="1">
          <a:blip r:embed="rId3">
            <a:alphaModFix/>
          </a:blip>
          <a:srcRect b="0" l="9232" r="27084" t="0"/>
          <a:stretch/>
        </p:blipFill>
        <p:spPr>
          <a:xfrm>
            <a:off x="789989" y="3027288"/>
            <a:ext cx="4898363" cy="3231471"/>
          </a:xfrm>
          <a:prstGeom prst="rect">
            <a:avLst/>
          </a:prstGeom>
          <a:noFill/>
          <a:ln>
            <a:noFill/>
          </a:ln>
        </p:spPr>
      </p:pic>
      <p:pic>
        <p:nvPicPr>
          <p:cNvPr id="288" name="Google Shape;288;p21"/>
          <p:cNvPicPr preferRelativeResize="0"/>
          <p:nvPr/>
        </p:nvPicPr>
        <p:blipFill rotWithShape="1">
          <a:blip r:embed="rId4">
            <a:alphaModFix/>
          </a:blip>
          <a:srcRect b="-2610" l="0" r="36832" t="0"/>
          <a:stretch/>
        </p:blipFill>
        <p:spPr>
          <a:xfrm>
            <a:off x="6543621" y="3342145"/>
            <a:ext cx="4651121" cy="2999377"/>
          </a:xfrm>
          <a:prstGeom prst="rect">
            <a:avLst/>
          </a:prstGeom>
          <a:noFill/>
          <a:ln>
            <a:noFill/>
          </a:ln>
        </p:spPr>
      </p:pic>
      <p:sp>
        <p:nvSpPr>
          <p:cNvPr id="289" name="Google Shape;289;p21"/>
          <p:cNvSpPr txBox="1"/>
          <p:nvPr/>
        </p:nvSpPr>
        <p:spPr>
          <a:xfrm>
            <a:off x="789989" y="1058251"/>
            <a:ext cx="5621045" cy="823912"/>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1600"/>
              <a:buFont typeface="Arial"/>
              <a:buNone/>
            </a:pPr>
            <a:r>
              <a:t/>
            </a:r>
            <a:endParaRPr b="0" sz="16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2"/>
          <p:cNvSpPr txBox="1"/>
          <p:nvPr>
            <p:ph type="title"/>
          </p:nvPr>
        </p:nvSpPr>
        <p:spPr>
          <a:xfrm>
            <a:off x="838200" y="365126"/>
            <a:ext cx="10515600" cy="1587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
        <p:nvSpPr>
          <p:cNvPr id="295" name="Google Shape;295;p22"/>
          <p:cNvSpPr txBox="1"/>
          <p:nvPr>
            <p:ph idx="1" type="body"/>
          </p:nvPr>
        </p:nvSpPr>
        <p:spPr>
          <a:xfrm>
            <a:off x="541538" y="523876"/>
            <a:ext cx="10812262" cy="5968998"/>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107000"/>
              </a:lnSpc>
              <a:spcBef>
                <a:spcPts val="0"/>
              </a:spcBef>
              <a:spcAft>
                <a:spcPts val="0"/>
              </a:spcAft>
              <a:buClr>
                <a:srgbClr val="000000"/>
              </a:buClr>
              <a:buSzPct val="100000"/>
              <a:buChar char="•"/>
            </a:pPr>
            <a:r>
              <a:rPr lang="en-US" sz="2400">
                <a:solidFill>
                  <a:srgbClr val="000000"/>
                </a:solidFill>
                <a:latin typeface="Times New Roman"/>
                <a:ea typeface="Times New Roman"/>
                <a:cs typeface="Times New Roman"/>
                <a:sym typeface="Times New Roman"/>
              </a:rPr>
              <a:t>This table also gives the Genre - Thriller and Comedy are preferred more. Drama is the next Genre highly preferred. </a:t>
            </a:r>
            <a:endParaRPr sz="2400">
              <a:latin typeface="Times New Roman"/>
              <a:ea typeface="Times New Roman"/>
              <a:cs typeface="Times New Roman"/>
              <a:sym typeface="Times New Roman"/>
            </a:endParaRPr>
          </a:p>
          <a:p>
            <a:pPr indent="-87629" lvl="0" marL="228600" rtl="0" algn="l">
              <a:lnSpc>
                <a:spcPct val="9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a:p>
            <a:pPr indent="-87629" lvl="0" marL="228600" rtl="0" algn="l">
              <a:lnSpc>
                <a:spcPct val="9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a:p>
            <a:pPr indent="-87629" lvl="0" marL="228600" rtl="0" algn="l">
              <a:lnSpc>
                <a:spcPct val="9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a:p>
            <a:pPr indent="-87629" lvl="0" marL="228600" rtl="0" algn="l">
              <a:lnSpc>
                <a:spcPct val="9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a:p>
            <a:pPr indent="-87629" lvl="0" marL="228600" rtl="0" algn="l">
              <a:lnSpc>
                <a:spcPct val="9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a:p>
            <a:pPr indent="-87629" lvl="0" marL="228600" rtl="0" algn="l">
              <a:lnSpc>
                <a:spcPct val="9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a:p>
            <a:pPr indent="-87629" lvl="0" marL="228600" rtl="0" algn="l">
              <a:lnSpc>
                <a:spcPct val="9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a:p>
            <a:pPr indent="-87629" lvl="0" marL="228600" rtl="0" algn="l">
              <a:lnSpc>
                <a:spcPct val="9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a:p>
            <a:pPr indent="-87629" lvl="0" marL="228600" rtl="0" algn="l">
              <a:lnSpc>
                <a:spcPct val="9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a:p>
            <a:pPr indent="-87629" lvl="0" marL="228600" rtl="0" algn="l">
              <a:lnSpc>
                <a:spcPct val="9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0000"/>
              </a:buClr>
              <a:buSzPct val="100000"/>
              <a:buChar char="•"/>
            </a:pPr>
            <a:r>
              <a:rPr lang="en-US" sz="2400">
                <a:solidFill>
                  <a:srgbClr val="000000"/>
                </a:solidFill>
                <a:latin typeface="Times New Roman"/>
                <a:ea typeface="Times New Roman"/>
                <a:cs typeface="Times New Roman"/>
                <a:sym typeface="Times New Roman"/>
              </a:rPr>
              <a:t>Viewers who like to watch Comedy, Thriller, Crime also watch Action and Horror. Viewers who like to watch Drama and Horror will preferably watch Romance and Crime.</a:t>
            </a:r>
            <a:r>
              <a:rPr lang="en-US" sz="2400">
                <a:solidFill>
                  <a:srgbClr val="666666"/>
                </a:solidFill>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indent="-87629" lvl="0" marL="228600" rtl="0" algn="l">
              <a:lnSpc>
                <a:spcPct val="9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p:txBody>
      </p:sp>
      <p:pic>
        <p:nvPicPr>
          <p:cNvPr id="296" name="Google Shape;296;p22"/>
          <p:cNvPicPr preferRelativeResize="0"/>
          <p:nvPr/>
        </p:nvPicPr>
        <p:blipFill rotWithShape="1">
          <a:blip r:embed="rId3">
            <a:alphaModFix/>
          </a:blip>
          <a:srcRect b="0" l="0" r="0" t="0"/>
          <a:stretch/>
        </p:blipFill>
        <p:spPr>
          <a:xfrm>
            <a:off x="1402673" y="1400562"/>
            <a:ext cx="8185210" cy="391716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3"/>
          <p:cNvSpPr txBox="1"/>
          <p:nvPr>
            <p:ph type="title"/>
          </p:nvPr>
        </p:nvSpPr>
        <p:spPr>
          <a:xfrm>
            <a:off x="-1" y="1"/>
            <a:ext cx="10386811" cy="144243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br>
              <a:rPr b="1" lang="en-US" sz="1300">
                <a:latin typeface="Times New Roman"/>
                <a:ea typeface="Times New Roman"/>
                <a:cs typeface="Times New Roman"/>
                <a:sym typeface="Times New Roman"/>
              </a:rPr>
            </a:br>
            <a:br>
              <a:rPr b="1" lang="en-US" sz="1300">
                <a:latin typeface="Times New Roman"/>
                <a:ea typeface="Times New Roman"/>
                <a:cs typeface="Times New Roman"/>
                <a:sym typeface="Times New Roman"/>
              </a:rPr>
            </a:br>
            <a:br>
              <a:rPr b="1" lang="en-US" sz="1300">
                <a:latin typeface="Times New Roman"/>
                <a:ea typeface="Times New Roman"/>
                <a:cs typeface="Times New Roman"/>
                <a:sym typeface="Times New Roman"/>
              </a:rPr>
            </a:br>
            <a:br>
              <a:rPr b="1" lang="en-US" sz="1300">
                <a:latin typeface="Times New Roman"/>
                <a:ea typeface="Times New Roman"/>
                <a:cs typeface="Times New Roman"/>
                <a:sym typeface="Times New Roman"/>
              </a:rPr>
            </a:br>
            <a:br>
              <a:rPr b="1" lang="en-US" sz="1300">
                <a:latin typeface="Times New Roman"/>
                <a:ea typeface="Times New Roman"/>
                <a:cs typeface="Times New Roman"/>
                <a:sym typeface="Times New Roman"/>
              </a:rPr>
            </a:br>
            <a:br>
              <a:rPr b="1" lang="en-US" sz="1300">
                <a:latin typeface="Times New Roman"/>
                <a:ea typeface="Times New Roman"/>
                <a:cs typeface="Times New Roman"/>
                <a:sym typeface="Times New Roman"/>
              </a:rPr>
            </a:br>
            <a:br>
              <a:rPr b="1" lang="en-US" sz="1300">
                <a:latin typeface="Times New Roman"/>
                <a:ea typeface="Times New Roman"/>
                <a:cs typeface="Times New Roman"/>
                <a:sym typeface="Times New Roman"/>
              </a:rPr>
            </a:br>
            <a:br>
              <a:rPr b="1" lang="en-US" sz="1300">
                <a:latin typeface="Times New Roman"/>
                <a:ea typeface="Times New Roman"/>
                <a:cs typeface="Times New Roman"/>
                <a:sym typeface="Times New Roman"/>
              </a:rPr>
            </a:br>
            <a:br>
              <a:rPr b="1" lang="en-US" sz="1300">
                <a:latin typeface="Times New Roman"/>
                <a:ea typeface="Times New Roman"/>
                <a:cs typeface="Times New Roman"/>
                <a:sym typeface="Times New Roman"/>
              </a:rPr>
            </a:br>
            <a:r>
              <a:rPr b="1" lang="en-US" sz="3600">
                <a:latin typeface="Times New Roman"/>
                <a:ea typeface="Times New Roman"/>
                <a:cs typeface="Times New Roman"/>
                <a:sym typeface="Times New Roman"/>
              </a:rPr>
              <a:t>CHI-SQUARE</a:t>
            </a:r>
            <a:r>
              <a:rPr b="1" lang="en-US" sz="1200">
                <a:latin typeface="Times New Roman"/>
                <a:ea typeface="Times New Roman"/>
                <a:cs typeface="Times New Roman"/>
                <a:sym typeface="Times New Roman"/>
              </a:rPr>
              <a:t> </a:t>
            </a:r>
            <a:br>
              <a:rPr b="1" lang="en-US" sz="1300">
                <a:latin typeface="Times New Roman"/>
                <a:ea typeface="Times New Roman"/>
                <a:cs typeface="Times New Roman"/>
                <a:sym typeface="Times New Roman"/>
              </a:rPr>
            </a:br>
            <a:br>
              <a:rPr b="1" lang="en-US" sz="1300">
                <a:latin typeface="Times New Roman"/>
                <a:ea typeface="Times New Roman"/>
                <a:cs typeface="Times New Roman"/>
                <a:sym typeface="Times New Roman"/>
              </a:rPr>
            </a:br>
            <a:br>
              <a:rPr b="1" lang="en-US" sz="1300">
                <a:latin typeface="Times New Roman"/>
                <a:ea typeface="Times New Roman"/>
                <a:cs typeface="Times New Roman"/>
                <a:sym typeface="Times New Roman"/>
              </a:rPr>
            </a:br>
            <a:br>
              <a:rPr b="1" lang="en-US" sz="1300">
                <a:latin typeface="Times New Roman"/>
                <a:ea typeface="Times New Roman"/>
                <a:cs typeface="Times New Roman"/>
                <a:sym typeface="Times New Roman"/>
              </a:rPr>
            </a:br>
            <a:br>
              <a:rPr b="1" lang="en-US" sz="1300">
                <a:latin typeface="Times New Roman"/>
                <a:ea typeface="Times New Roman"/>
                <a:cs typeface="Times New Roman"/>
                <a:sym typeface="Times New Roman"/>
              </a:rPr>
            </a:br>
            <a:br>
              <a:rPr b="0" lang="en-US"/>
            </a:br>
            <a:br>
              <a:rPr lang="en-US"/>
            </a:br>
            <a:endParaRPr/>
          </a:p>
        </p:txBody>
      </p:sp>
      <p:graphicFrame>
        <p:nvGraphicFramePr>
          <p:cNvPr id="302" name="Google Shape;302;p23"/>
          <p:cNvGraphicFramePr/>
          <p:nvPr/>
        </p:nvGraphicFramePr>
        <p:xfrm>
          <a:off x="417250" y="941033"/>
          <a:ext cx="3000000" cy="3000000"/>
        </p:xfrm>
        <a:graphic>
          <a:graphicData uri="http://schemas.openxmlformats.org/drawingml/2006/table">
            <a:tbl>
              <a:tblPr bandRow="1" firstRow="1">
                <a:noFill/>
                <a:tableStyleId>{97142C27-F887-42DE-9121-6C567777D5FA}</a:tableStyleId>
              </a:tblPr>
              <a:tblGrid>
                <a:gridCol w="1904250"/>
                <a:gridCol w="1904250"/>
                <a:gridCol w="1904250"/>
                <a:gridCol w="1904250"/>
                <a:gridCol w="1904250"/>
                <a:gridCol w="1904250"/>
              </a:tblGrid>
              <a:tr h="657825">
                <a:tc>
                  <a:txBody>
                    <a:bodyPr/>
                    <a:lstStyle/>
                    <a:p>
                      <a:pPr indent="0" lvl="0" marL="0" marR="0" rtl="0" algn="l">
                        <a:spcBef>
                          <a:spcPts val="0"/>
                        </a:spcBef>
                        <a:spcAft>
                          <a:spcPts val="0"/>
                        </a:spcAft>
                        <a:buNone/>
                      </a:pPr>
                      <a:r>
                        <a:rPr lang="en-US" sz="1800" u="none" cap="none" strike="noStrike">
                          <a:latin typeface="Times New Roman"/>
                          <a:ea typeface="Times New Roman"/>
                          <a:cs typeface="Times New Roman"/>
                          <a:sym typeface="Times New Roman"/>
                        </a:rPr>
                        <a:t> </a:t>
                      </a:r>
                      <a:endParaRPr/>
                    </a:p>
                  </a:txBody>
                  <a:tcPr marT="95250" marB="95250" marR="95250" marL="95250"/>
                </a:tc>
                <a:tc>
                  <a:txBody>
                    <a:bodyPr/>
                    <a:lstStyle/>
                    <a:p>
                      <a:pPr indent="0" lvl="0" marL="0" marR="0" rtl="0" algn="ctr">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Null Hypothesis</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ctr">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Alternative Hypothesis</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lang="en-US" sz="1800" u="none" cap="none" strike="noStrike">
                          <a:latin typeface="Times New Roman"/>
                          <a:ea typeface="Times New Roman"/>
                          <a:cs typeface="Times New Roman"/>
                          <a:sym typeface="Times New Roman"/>
                        </a:rPr>
                        <a:t> </a:t>
                      </a:r>
                      <a:endParaRPr/>
                    </a:p>
                  </a:txBody>
                  <a:tcPr marT="95250" marB="95250" marR="95250" marL="95250"/>
                </a:tc>
                <a:tc>
                  <a:txBody>
                    <a:bodyPr/>
                    <a:lstStyle/>
                    <a:p>
                      <a:pPr indent="0" lvl="0" marL="0" marR="0" rtl="0" algn="l">
                        <a:spcBef>
                          <a:spcPts val="0"/>
                        </a:spcBef>
                        <a:spcAft>
                          <a:spcPts val="0"/>
                        </a:spcAft>
                        <a:buNone/>
                      </a:pPr>
                      <a:r>
                        <a:rPr lang="en-US" sz="1800" u="none" cap="none" strike="noStrike">
                          <a:latin typeface="Times New Roman"/>
                          <a:ea typeface="Times New Roman"/>
                          <a:cs typeface="Times New Roman"/>
                          <a:sym typeface="Times New Roman"/>
                        </a:rPr>
                        <a:t> </a:t>
                      </a:r>
                      <a:endParaRPr/>
                    </a:p>
                  </a:txBody>
                  <a:tcPr marT="95250" marB="95250" marR="95250" marL="95250"/>
                </a:tc>
                <a:tc>
                  <a:txBody>
                    <a:bodyPr/>
                    <a:lstStyle/>
                    <a:p>
                      <a:pPr indent="0" lvl="0" marL="0" marR="0" rtl="0" algn="l">
                        <a:spcBef>
                          <a:spcPts val="0"/>
                        </a:spcBef>
                        <a:spcAft>
                          <a:spcPts val="0"/>
                        </a:spcAft>
                        <a:buNone/>
                      </a:pPr>
                      <a:r>
                        <a:rPr lang="en-US" sz="1800" u="none" cap="none" strike="noStrike">
                          <a:latin typeface="Times New Roman"/>
                          <a:ea typeface="Times New Roman"/>
                          <a:cs typeface="Times New Roman"/>
                          <a:sym typeface="Times New Roman"/>
                        </a:rPr>
                        <a:t> </a:t>
                      </a:r>
                      <a:endParaRPr/>
                    </a:p>
                  </a:txBody>
                  <a:tcPr marT="95250" marB="95250" marR="95250" marL="95250"/>
                </a:tc>
              </a:tr>
              <a:tr h="548075">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Sr.no </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ctr">
                        <a:spcBef>
                          <a:spcPts val="0"/>
                        </a:spcBef>
                        <a:spcAft>
                          <a:spcPts val="0"/>
                        </a:spcAft>
                        <a:buNone/>
                      </a:pPr>
                      <a:r>
                        <a:rPr b="1" i="0" lang="en-US" sz="1200" u="none" cap="none" strike="noStrike">
                          <a:solidFill>
                            <a:srgbClr val="000000"/>
                          </a:solidFill>
                          <a:latin typeface="Times New Roman"/>
                          <a:ea typeface="Times New Roman"/>
                          <a:cs typeface="Times New Roman"/>
                          <a:sym typeface="Times New Roman"/>
                        </a:rPr>
                        <a:t>Ho</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ctr">
                        <a:spcBef>
                          <a:spcPts val="0"/>
                        </a:spcBef>
                        <a:spcAft>
                          <a:spcPts val="0"/>
                        </a:spcAft>
                        <a:buNone/>
                      </a:pPr>
                      <a:r>
                        <a:rPr b="1" i="0" lang="en-US" sz="1200" u="none" cap="none" strike="noStrike">
                          <a:solidFill>
                            <a:srgbClr val="000000"/>
                          </a:solidFill>
                          <a:latin typeface="Times New Roman"/>
                          <a:ea typeface="Times New Roman"/>
                          <a:cs typeface="Times New Roman"/>
                          <a:sym typeface="Times New Roman"/>
                        </a:rPr>
                        <a:t>Ha</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ctr">
                        <a:spcBef>
                          <a:spcPts val="0"/>
                        </a:spcBef>
                        <a:spcAft>
                          <a:spcPts val="0"/>
                        </a:spcAft>
                        <a:buNone/>
                      </a:pPr>
                      <a:r>
                        <a:rPr b="1" i="0" lang="en-US" sz="1200" u="none" cap="none" strike="noStrike">
                          <a:solidFill>
                            <a:srgbClr val="000000"/>
                          </a:solidFill>
                          <a:latin typeface="Times New Roman"/>
                          <a:ea typeface="Times New Roman"/>
                          <a:cs typeface="Times New Roman"/>
                          <a:sym typeface="Times New Roman"/>
                        </a:rPr>
                        <a:t>Chi-square value</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ctr">
                        <a:spcBef>
                          <a:spcPts val="0"/>
                        </a:spcBef>
                        <a:spcAft>
                          <a:spcPts val="0"/>
                        </a:spcAft>
                        <a:buNone/>
                      </a:pPr>
                      <a:r>
                        <a:rPr b="1" i="0" lang="en-US" sz="1200" u="none" cap="none" strike="noStrike">
                          <a:solidFill>
                            <a:srgbClr val="000000"/>
                          </a:solidFill>
                          <a:latin typeface="Times New Roman"/>
                          <a:ea typeface="Times New Roman"/>
                          <a:cs typeface="Times New Roman"/>
                          <a:sym typeface="Times New Roman"/>
                        </a:rPr>
                        <a:t>P-value</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ctr">
                        <a:spcBef>
                          <a:spcPts val="0"/>
                        </a:spcBef>
                        <a:spcAft>
                          <a:spcPts val="0"/>
                        </a:spcAft>
                        <a:buNone/>
                      </a:pPr>
                      <a:r>
                        <a:rPr b="1" i="0" lang="en-US" sz="1200" u="none" cap="none" strike="noStrike">
                          <a:solidFill>
                            <a:srgbClr val="000000"/>
                          </a:solidFill>
                          <a:latin typeface="Times New Roman"/>
                          <a:ea typeface="Times New Roman"/>
                          <a:cs typeface="Times New Roman"/>
                          <a:sym typeface="Times New Roman"/>
                        </a:rPr>
                        <a:t>Interpretation</a:t>
                      </a:r>
                      <a:endParaRPr sz="1800" u="none" cap="none" strike="noStrike">
                        <a:latin typeface="Times New Roman"/>
                        <a:ea typeface="Times New Roman"/>
                        <a:cs typeface="Times New Roman"/>
                        <a:sym typeface="Times New Roman"/>
                      </a:endParaRPr>
                    </a:p>
                  </a:txBody>
                  <a:tcPr marT="95250" marB="95250" marR="95250" marL="95250"/>
                </a:tc>
              </a:tr>
              <a:tr h="1621875">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Case 1</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 is no association between Gender and Awareness of online streaming (OTT)</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 is an association between Gender and Awareness of online streaming (OTT)</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2.48</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0.12</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Therefore, we do not reject Ho and conclude that there is no association between Gender and Awareness of online streaming.</a:t>
                      </a:r>
                      <a:endParaRPr sz="1800" u="none" cap="none" strike="noStrike">
                        <a:latin typeface="Times New Roman"/>
                        <a:ea typeface="Times New Roman"/>
                        <a:cs typeface="Times New Roman"/>
                        <a:sym typeface="Times New Roman"/>
                      </a:endParaRPr>
                    </a:p>
                  </a:txBody>
                  <a:tcPr marT="95250" marB="95250" marR="95250" marL="95250"/>
                </a:tc>
              </a:tr>
              <a:tr h="1353425">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Case 2</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 is no association between Marital Status and Awareness of online streaming (OTT)</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 is an association between Marital Status and Awareness of online streaming (OTT)</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49.84</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0.000000000002</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Therefore, we reject Ho and conclude that Unmarried people are more Aware of OTT than Married.</a:t>
                      </a:r>
                      <a:endParaRPr sz="1800" u="none" cap="none" strike="noStrike">
                        <a:latin typeface="Times New Roman"/>
                        <a:ea typeface="Times New Roman"/>
                        <a:cs typeface="Times New Roman"/>
                        <a:sym typeface="Times New Roman"/>
                      </a:endParaRPr>
                    </a:p>
                  </a:txBody>
                  <a:tcPr marT="95250" marB="95250" marR="95250" marL="95250"/>
                </a:tc>
              </a:tr>
              <a:tr h="1621875">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Case 3</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 is no association between Education Status and Awareness of OTT.</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 is an association between Education Status and Awareness of OTT.</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71.90</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0.000000000002</a:t>
                      </a:r>
                      <a:endParaRPr sz="1800" u="none" cap="none" strike="noStrike">
                        <a:latin typeface="Times New Roman"/>
                        <a:ea typeface="Times New Roman"/>
                        <a:cs typeface="Times New Roman"/>
                        <a:sym typeface="Times New Roman"/>
                      </a:endParaRPr>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 Therefore, we reject Ho and conclude that in our study out of 305 undergraduates 280 people are aware of OTT.</a:t>
                      </a:r>
                      <a:endParaRPr sz="1800" u="none" cap="none" strike="noStrike">
                        <a:latin typeface="Times New Roman"/>
                        <a:ea typeface="Times New Roman"/>
                        <a:cs typeface="Times New Roman"/>
                        <a:sym typeface="Times New Roman"/>
                      </a:endParaRPr>
                    </a:p>
                  </a:txBody>
                  <a:tcPr marT="95250" marB="95250" marR="95250" marL="9525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graphicFrame>
        <p:nvGraphicFramePr>
          <p:cNvPr id="307" name="Google Shape;307;p24"/>
          <p:cNvGraphicFramePr/>
          <p:nvPr/>
        </p:nvGraphicFramePr>
        <p:xfrm>
          <a:off x="400495" y="0"/>
          <a:ext cx="3000000" cy="3000000"/>
        </p:xfrm>
        <a:graphic>
          <a:graphicData uri="http://schemas.openxmlformats.org/drawingml/2006/table">
            <a:tbl>
              <a:tblPr bandRow="1" firstRow="1">
                <a:noFill/>
                <a:tableStyleId>{97142C27-F887-42DE-9121-6C567777D5FA}</a:tableStyleId>
              </a:tblPr>
              <a:tblGrid>
                <a:gridCol w="1884850"/>
                <a:gridCol w="1884850"/>
                <a:gridCol w="1884850"/>
                <a:gridCol w="1884850"/>
                <a:gridCol w="1884850"/>
                <a:gridCol w="1884850"/>
              </a:tblGrid>
              <a:tr h="381475">
                <a:tc>
                  <a:txBody>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Sr no.</a:t>
                      </a:r>
                      <a:endParaRPr sz="1800" u="none" cap="none" strike="noStrike"/>
                    </a:p>
                  </a:txBody>
                  <a:tcPr marT="95250" marB="95250" marR="95250" marL="95250"/>
                </a:tc>
                <a:tc>
                  <a:txBody>
                    <a:bodyPr/>
                    <a:lstStyle/>
                    <a:p>
                      <a:pPr indent="0" lvl="0" marL="0" marR="0" rtl="0" algn="ctr">
                        <a:spcBef>
                          <a:spcPts val="0"/>
                        </a:spcBef>
                        <a:spcAft>
                          <a:spcPts val="0"/>
                        </a:spcAft>
                        <a:buNone/>
                      </a:pPr>
                      <a:r>
                        <a:rPr b="1" i="0" lang="en-US" sz="1200" u="none" cap="none" strike="noStrike">
                          <a:solidFill>
                            <a:srgbClr val="000000"/>
                          </a:solidFill>
                          <a:latin typeface="Arial"/>
                          <a:ea typeface="Arial"/>
                          <a:cs typeface="Arial"/>
                          <a:sym typeface="Arial"/>
                        </a:rPr>
                        <a:t>Ho</a:t>
                      </a:r>
                      <a:endParaRPr sz="1800" u="none" cap="none" strike="noStrike"/>
                    </a:p>
                  </a:txBody>
                  <a:tcPr marT="95250" marB="95250" marR="95250" marL="95250"/>
                </a:tc>
                <a:tc>
                  <a:txBody>
                    <a:bodyPr/>
                    <a:lstStyle/>
                    <a:p>
                      <a:pPr indent="-171450" lvl="0" marL="171450" marR="0" rtl="0" algn="ctr">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Ha</a:t>
                      </a:r>
                      <a:endParaRPr sz="1800" u="none" cap="none" strike="noStrike"/>
                    </a:p>
                  </a:txBody>
                  <a:tcPr marT="95250" marB="95250" marR="95250" marL="95250"/>
                </a:tc>
                <a:tc>
                  <a:txBody>
                    <a:bodyPr/>
                    <a:lstStyle/>
                    <a:p>
                      <a:pPr indent="0" lvl="0" marL="0" marR="0" rtl="0" algn="ctr">
                        <a:spcBef>
                          <a:spcPts val="0"/>
                        </a:spcBef>
                        <a:spcAft>
                          <a:spcPts val="0"/>
                        </a:spcAft>
                        <a:buNone/>
                      </a:pPr>
                      <a:r>
                        <a:rPr b="1" i="0" lang="en-US" sz="1200" u="none" cap="none" strike="noStrike">
                          <a:solidFill>
                            <a:srgbClr val="000000"/>
                          </a:solidFill>
                          <a:latin typeface="Arial"/>
                          <a:ea typeface="Arial"/>
                          <a:cs typeface="Arial"/>
                          <a:sym typeface="Arial"/>
                        </a:rPr>
                        <a:t>Chi-square value</a:t>
                      </a:r>
                      <a:endParaRPr sz="1800" u="none" cap="none" strike="noStrike"/>
                    </a:p>
                  </a:txBody>
                  <a:tcPr marT="95250" marB="95250" marR="95250" marL="95250"/>
                </a:tc>
                <a:tc>
                  <a:txBody>
                    <a:bodyPr/>
                    <a:lstStyle/>
                    <a:p>
                      <a:pPr indent="0" lvl="0" marL="0" marR="0" rtl="0" algn="ctr">
                        <a:spcBef>
                          <a:spcPts val="0"/>
                        </a:spcBef>
                        <a:spcAft>
                          <a:spcPts val="0"/>
                        </a:spcAft>
                        <a:buNone/>
                      </a:pPr>
                      <a:r>
                        <a:rPr b="1" i="0" lang="en-US" sz="1200" u="none" cap="none" strike="noStrike">
                          <a:solidFill>
                            <a:srgbClr val="000000"/>
                          </a:solidFill>
                          <a:latin typeface="Arial"/>
                          <a:ea typeface="Arial"/>
                          <a:cs typeface="Arial"/>
                          <a:sym typeface="Arial"/>
                        </a:rPr>
                        <a:t>P-value</a:t>
                      </a:r>
                      <a:endParaRPr sz="1800" u="none" cap="none" strike="noStrike"/>
                    </a:p>
                  </a:txBody>
                  <a:tcPr marT="95250" marB="95250" marR="95250" marL="95250"/>
                </a:tc>
                <a:tc>
                  <a:txBody>
                    <a:bodyPr/>
                    <a:lstStyle/>
                    <a:p>
                      <a:pPr indent="0" lvl="0" marL="0" marR="0" rtl="0" algn="ctr">
                        <a:spcBef>
                          <a:spcPts val="0"/>
                        </a:spcBef>
                        <a:spcAft>
                          <a:spcPts val="0"/>
                        </a:spcAft>
                        <a:buNone/>
                      </a:pPr>
                      <a:r>
                        <a:rPr b="1" i="0" lang="en-US" sz="1200" u="none" cap="none" strike="noStrike">
                          <a:solidFill>
                            <a:srgbClr val="000000"/>
                          </a:solidFill>
                          <a:latin typeface="Arial"/>
                          <a:ea typeface="Arial"/>
                          <a:cs typeface="Arial"/>
                          <a:sym typeface="Arial"/>
                        </a:rPr>
                        <a:t>Interpretation</a:t>
                      </a:r>
                      <a:endParaRPr sz="1800" u="none" cap="none" strike="noStrike"/>
                    </a:p>
                  </a:txBody>
                  <a:tcPr marT="95250" marB="95250" marR="95250" marL="95250"/>
                </a:tc>
              </a:tr>
              <a:tr h="1276825">
                <a:tc>
                  <a:txBody>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Case 4</a:t>
                      </a:r>
                      <a:endParaRPr sz="1800" u="none" cap="none" strike="noStrike"/>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 is no significant difference between Employment and Awareness of OTT.</a:t>
                      </a:r>
                      <a:endParaRPr sz="1800" u="none" cap="none" strike="noStrike"/>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 is a significant difference between Employment and Awareness of OTT.</a:t>
                      </a:r>
                      <a:endParaRPr sz="1800" u="none" cap="none" strike="noStrike"/>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0.52</a:t>
                      </a:r>
                      <a:endParaRPr sz="1800" u="none" cap="none" strike="noStrike"/>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0.47</a:t>
                      </a:r>
                      <a:endParaRPr sz="1800" u="none" cap="none" strike="noStrike"/>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Therefore, we do not reject Ho and conclude that there is no association between Employment and Awareness of online streaming.</a:t>
                      </a:r>
                      <a:endParaRPr sz="1800" u="none" cap="none" strike="noStrike"/>
                    </a:p>
                  </a:txBody>
                  <a:tcPr marT="95250" marB="95250" marR="95250" marL="95250"/>
                </a:tc>
              </a:tr>
              <a:tr h="1315725">
                <a:tc>
                  <a:txBody>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Case 5</a:t>
                      </a:r>
                      <a:endParaRPr sz="1800" u="none" cap="none" strike="noStrike"/>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 is no significant difference between Income and Awareness of OTT.</a:t>
                      </a:r>
                      <a:endParaRPr sz="1800" u="none" cap="none" strike="noStrike"/>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 is a significant difference between Income and Awareness of OTT.</a:t>
                      </a:r>
                      <a:endParaRPr sz="1800" u="none" cap="none" strike="noStrike"/>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Arial"/>
                          <a:ea typeface="Arial"/>
                          <a:cs typeface="Arial"/>
                          <a:sym typeface="Arial"/>
                        </a:rPr>
                        <a:t>28.34</a:t>
                      </a:r>
                      <a:endParaRPr sz="1800" u="none" cap="none" strike="noStrike"/>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 0.00001</a:t>
                      </a:r>
                      <a:endParaRPr sz="1800" u="none" cap="none" strike="noStrike"/>
                    </a:p>
                  </a:txBody>
                  <a:tcPr marT="95250" marB="95250" marR="95250" marL="95250"/>
                </a:tc>
                <a:tc>
                  <a:txBody>
                    <a:bodyPr/>
                    <a:lstStyle/>
                    <a:p>
                      <a:pPr indent="0" lvl="0" marL="0" marR="0" rtl="0" algn="l">
                        <a:spcBef>
                          <a:spcPts val="0"/>
                        </a:spcBef>
                        <a:spcAft>
                          <a:spcPts val="0"/>
                        </a:spcAft>
                        <a:buNone/>
                      </a:pPr>
                      <a:r>
                        <a:rPr b="0" i="0" lang="en-US" sz="1200" u="none" cap="none" strike="noStrike">
                          <a:solidFill>
                            <a:srgbClr val="000000"/>
                          </a:solidFill>
                          <a:latin typeface="Times New Roman"/>
                          <a:ea typeface="Times New Roman"/>
                          <a:cs typeface="Times New Roman"/>
                          <a:sym typeface="Times New Roman"/>
                        </a:rPr>
                        <a:t>Therefore, we reject Ho and conclude that people who have income between 1-4 lakhs and 4-8 lakhs are more aware of OTT.</a:t>
                      </a:r>
                      <a:endParaRPr sz="1800" u="none" cap="none" strike="noStrike"/>
                    </a:p>
                  </a:txBody>
                  <a:tcPr marT="95250" marB="95250" marR="95250" marL="95250"/>
                </a:tc>
              </a:tr>
            </a:tbl>
          </a:graphicData>
        </a:graphic>
      </p:graphicFrame>
      <p:sp>
        <p:nvSpPr>
          <p:cNvPr id="308" name="Google Shape;308;p24"/>
          <p:cNvSpPr txBox="1"/>
          <p:nvPr/>
        </p:nvSpPr>
        <p:spPr>
          <a:xfrm>
            <a:off x="231820" y="3322749"/>
            <a:ext cx="9517487"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Assumptions of Chi-Square:</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Independence of observations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Each </a:t>
            </a:r>
            <a:r>
              <a:rPr lang="en-US" sz="1800" u="sng">
                <a:solidFill>
                  <a:schemeClr val="dk1"/>
                </a:solidFill>
                <a:latin typeface="Times New Roman"/>
                <a:ea typeface="Times New Roman"/>
                <a:cs typeface="Times New Roman"/>
                <a:sym typeface="Times New Roman"/>
              </a:rPr>
              <a:t>observed frequency </a:t>
            </a:r>
            <a:r>
              <a:rPr lang="en-US" sz="1800">
                <a:solidFill>
                  <a:schemeClr val="dk1"/>
                </a:solidFill>
                <a:latin typeface="Times New Roman"/>
                <a:ea typeface="Times New Roman"/>
                <a:cs typeface="Times New Roman"/>
                <a:sym typeface="Times New Roman"/>
              </a:rPr>
              <a:t>is generated by a different individual</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Size of </a:t>
            </a:r>
            <a:r>
              <a:rPr lang="en-US" sz="1800" u="sng">
                <a:solidFill>
                  <a:schemeClr val="dk1"/>
                </a:solidFill>
                <a:latin typeface="Times New Roman"/>
                <a:ea typeface="Times New Roman"/>
                <a:cs typeface="Times New Roman"/>
                <a:sym typeface="Times New Roman"/>
              </a:rPr>
              <a:t>expected frequencies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Chi-Square test should not be performed when the expected frequency of any cell is less than 5</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sp>
        <p:nvSpPr>
          <p:cNvPr id="309" name="Google Shape;309;p24"/>
          <p:cNvSpPr txBox="1"/>
          <p:nvPr/>
        </p:nvSpPr>
        <p:spPr>
          <a:xfrm>
            <a:off x="400495" y="5217402"/>
            <a:ext cx="1114935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u="sng">
                <a:solidFill>
                  <a:schemeClr val="dk1"/>
                </a:solidFill>
                <a:latin typeface="Times New Roman"/>
                <a:ea typeface="Times New Roman"/>
                <a:cs typeface="Times New Roman"/>
                <a:sym typeface="Times New Roman"/>
              </a:rPr>
              <a:t>Interpretation:</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Awareness of OTT is not associated with Gender and the Employment status of an individual. Whereas Awareness of OTT is associated with Marital status, Education and Income. </a:t>
            </a:r>
            <a:endParaRPr b="1" sz="1800" u="sng">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5"/>
          <p:cNvSpPr txBox="1"/>
          <p:nvPr>
            <p:ph type="title"/>
          </p:nvPr>
        </p:nvSpPr>
        <p:spPr>
          <a:xfrm>
            <a:off x="337352" y="107928"/>
            <a:ext cx="10515600" cy="106894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   SWOC ANALYSIS</a:t>
            </a:r>
            <a:endParaRPr/>
          </a:p>
        </p:txBody>
      </p:sp>
      <p:pic>
        <p:nvPicPr>
          <p:cNvPr descr="https://lh5.googleusercontent.com/atjWK9QaDb608sBCoCqLcSxifqmqipAlEs5aIfa131zkjSqhiOExSoXFfiV_Tz3nVROl5AhCtC941oocefq3qWE8_j9ZsdGl83PZQQNB3qxXBd8dTvH9iT0AKrsHEOEhvb7K6_HE" id="315" name="Google Shape;315;p25"/>
          <p:cNvPicPr preferRelativeResize="0"/>
          <p:nvPr>
            <p:ph idx="1" type="body"/>
          </p:nvPr>
        </p:nvPicPr>
        <p:blipFill rotWithShape="1">
          <a:blip r:embed="rId3">
            <a:alphaModFix/>
          </a:blip>
          <a:srcRect b="0" l="0" r="0" t="0"/>
          <a:stretch/>
        </p:blipFill>
        <p:spPr>
          <a:xfrm>
            <a:off x="257452" y="1369377"/>
            <a:ext cx="6413679" cy="4351337"/>
          </a:xfrm>
          <a:prstGeom prst="rect">
            <a:avLst/>
          </a:prstGeom>
          <a:noFill/>
          <a:ln>
            <a:noFill/>
          </a:ln>
        </p:spPr>
      </p:pic>
      <p:sp>
        <p:nvSpPr>
          <p:cNvPr id="316" name="Google Shape;316;p25"/>
          <p:cNvSpPr txBox="1"/>
          <p:nvPr/>
        </p:nvSpPr>
        <p:spPr>
          <a:xfrm>
            <a:off x="6606862" y="1236372"/>
            <a:ext cx="5228823" cy="507831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From the analysis it is observed that  OTT has allowed people to watch their favorite shows on a wide range of multiple devices. </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It is also very flexible and convenient to use. </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Higher subscription cost is the major reason for the users for not using OTT and due to binge watching by people, there is a high risk of mental and physical health issues.</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 Creating more interesting content along with keeping it original is very much essential for staying in the race for each platform.</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 By taking the challenges as opportunities there should be more movies and web-series as viewers want a variety of entertaining content to suit every mood. </a:t>
            </a:r>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Lack of Awareness in rural areas may be the reason of network connectivity.</a:t>
            </a:r>
            <a:br>
              <a:rPr lang="en-US" sz="1800">
                <a:solidFill>
                  <a:schemeClr val="dk1"/>
                </a:solidFill>
                <a:latin typeface="Calibri"/>
                <a:ea typeface="Calibri"/>
                <a:cs typeface="Calibri"/>
                <a:sym typeface="Calibri"/>
              </a:rPr>
            </a:br>
            <a:endParaRPr b="1" sz="1800" u="sng">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Conclusion: Suggestions</a:t>
            </a:r>
            <a:endParaRPr/>
          </a:p>
        </p:txBody>
      </p:sp>
      <p:sp>
        <p:nvSpPr>
          <p:cNvPr id="322" name="Google Shape;322;p26"/>
          <p:cNvSpPr txBox="1"/>
          <p:nvPr>
            <p:ph idx="1" type="body"/>
          </p:nvPr>
        </p:nvSpPr>
        <p:spPr>
          <a:xfrm>
            <a:off x="509726" y="1772359"/>
            <a:ext cx="11066755" cy="472051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07000"/>
              </a:lnSpc>
              <a:spcBef>
                <a:spcPts val="0"/>
              </a:spcBef>
              <a:spcAft>
                <a:spcPts val="0"/>
              </a:spcAft>
              <a:buClr>
                <a:srgbClr val="000000"/>
              </a:buClr>
              <a:buSzPts val="1000"/>
              <a:buFont typeface="Noto Sans Symbols"/>
              <a:buChar char="▪"/>
            </a:pPr>
            <a:r>
              <a:rPr lang="en-US" sz="2000">
                <a:solidFill>
                  <a:srgbClr val="000000"/>
                </a:solidFill>
                <a:latin typeface="Times New Roman"/>
                <a:ea typeface="Times New Roman"/>
                <a:cs typeface="Times New Roman"/>
                <a:sym typeface="Times New Roman"/>
              </a:rPr>
              <a:t>Collect user’s feedback when they delete accounts to deliver a better streaming experience to other customers.</a:t>
            </a:r>
            <a:endParaRPr sz="2000">
              <a:solidFill>
                <a:srgbClr val="000000"/>
              </a:solidFill>
              <a:latin typeface="Calibri"/>
              <a:ea typeface="Calibri"/>
              <a:cs typeface="Calibri"/>
              <a:sym typeface="Calibri"/>
            </a:endParaRPr>
          </a:p>
          <a:p>
            <a:pPr indent="-228600" lvl="0" marL="228600" marR="0" rtl="0" algn="l">
              <a:lnSpc>
                <a:spcPct val="107000"/>
              </a:lnSpc>
              <a:spcBef>
                <a:spcPts val="0"/>
              </a:spcBef>
              <a:spcAft>
                <a:spcPts val="0"/>
              </a:spcAft>
              <a:buClr>
                <a:srgbClr val="000000"/>
              </a:buClr>
              <a:buSzPts val="1000"/>
              <a:buFont typeface="Noto Sans Symbols"/>
              <a:buChar char="▪"/>
            </a:pPr>
            <a:r>
              <a:rPr lang="en-US" sz="2000">
                <a:solidFill>
                  <a:srgbClr val="000000"/>
                </a:solidFill>
                <a:latin typeface="Times New Roman"/>
                <a:ea typeface="Times New Roman"/>
                <a:cs typeface="Times New Roman"/>
                <a:sym typeface="Times New Roman"/>
              </a:rPr>
              <a:t>Produce more Advertisements for better reach. </a:t>
            </a:r>
            <a:endParaRPr sz="2000">
              <a:solidFill>
                <a:srgbClr val="000000"/>
              </a:solidFill>
              <a:latin typeface="Calibri"/>
              <a:ea typeface="Calibri"/>
              <a:cs typeface="Calibri"/>
              <a:sym typeface="Calibri"/>
            </a:endParaRPr>
          </a:p>
          <a:p>
            <a:pPr indent="-228600" lvl="0" marL="228600" marR="0" rtl="0" algn="l">
              <a:lnSpc>
                <a:spcPct val="107000"/>
              </a:lnSpc>
              <a:spcBef>
                <a:spcPts val="0"/>
              </a:spcBef>
              <a:spcAft>
                <a:spcPts val="0"/>
              </a:spcAft>
              <a:buClr>
                <a:srgbClr val="000000"/>
              </a:buClr>
              <a:buSzPts val="1000"/>
              <a:buFont typeface="Noto Sans Symbols"/>
              <a:buChar char="▪"/>
            </a:pPr>
            <a:r>
              <a:rPr lang="en-US" sz="2000">
                <a:solidFill>
                  <a:srgbClr val="000000"/>
                </a:solidFill>
                <a:latin typeface="Times New Roman"/>
                <a:ea typeface="Times New Roman"/>
                <a:cs typeface="Times New Roman"/>
                <a:sym typeface="Times New Roman"/>
              </a:rPr>
              <a:t>Prices for mobile data can be lowered so that more people can take subscriptions and can watch videos. </a:t>
            </a:r>
            <a:endParaRPr sz="2000">
              <a:solidFill>
                <a:srgbClr val="000000"/>
              </a:solidFill>
              <a:latin typeface="Calibri"/>
              <a:ea typeface="Calibri"/>
              <a:cs typeface="Calibri"/>
              <a:sym typeface="Calibri"/>
            </a:endParaRPr>
          </a:p>
          <a:p>
            <a:pPr indent="-228600" lvl="0" marL="228600" marR="0" rtl="0" algn="l">
              <a:lnSpc>
                <a:spcPct val="107000"/>
              </a:lnSpc>
              <a:spcBef>
                <a:spcPts val="0"/>
              </a:spcBef>
              <a:spcAft>
                <a:spcPts val="0"/>
              </a:spcAft>
              <a:buClr>
                <a:srgbClr val="000000"/>
              </a:buClr>
              <a:buSzPts val="1000"/>
              <a:buFont typeface="Noto Sans Symbols"/>
              <a:buChar char="▪"/>
            </a:pPr>
            <a:r>
              <a:rPr lang="en-US" sz="2000">
                <a:solidFill>
                  <a:srgbClr val="000000"/>
                </a:solidFill>
                <a:latin typeface="Times New Roman"/>
                <a:ea typeface="Times New Roman"/>
                <a:cs typeface="Times New Roman"/>
                <a:sym typeface="Times New Roman"/>
              </a:rPr>
              <a:t>Add more incentives for OTT subscribers in the Rural area. </a:t>
            </a:r>
            <a:endParaRPr sz="2000">
              <a:solidFill>
                <a:srgbClr val="000000"/>
              </a:solidFill>
              <a:latin typeface="Calibri"/>
              <a:ea typeface="Calibri"/>
              <a:cs typeface="Calibri"/>
              <a:sym typeface="Calibri"/>
            </a:endParaRPr>
          </a:p>
          <a:p>
            <a:pPr indent="-228600" lvl="0" marL="228600" marR="0" rtl="0" algn="l">
              <a:lnSpc>
                <a:spcPct val="107000"/>
              </a:lnSpc>
              <a:spcBef>
                <a:spcPts val="0"/>
              </a:spcBef>
              <a:spcAft>
                <a:spcPts val="0"/>
              </a:spcAft>
              <a:buClr>
                <a:srgbClr val="000000"/>
              </a:buClr>
              <a:buSzPts val="1000"/>
              <a:buFont typeface="Noto Sans Symbols"/>
              <a:buChar char="▪"/>
            </a:pPr>
            <a:r>
              <a:rPr lang="en-US" sz="2000">
                <a:solidFill>
                  <a:srgbClr val="000000"/>
                </a:solidFill>
                <a:latin typeface="Times New Roman"/>
                <a:ea typeface="Times New Roman"/>
                <a:cs typeface="Times New Roman"/>
                <a:sym typeface="Times New Roman"/>
              </a:rPr>
              <a:t>During the Covid period, everything is being escalated to online. OTT platforms (like YouTube) owners can provide subscriptions for a lower rate in the Rural area for educational purposes. This will create awareness among the areas in the Rural areas. Eventually more people will opt for OTT.</a:t>
            </a:r>
            <a:endParaRPr sz="2000">
              <a:latin typeface="Calibri"/>
              <a:ea typeface="Calibri"/>
              <a:cs typeface="Calibri"/>
              <a:sym typeface="Calibri"/>
            </a:endParaRPr>
          </a:p>
          <a:p>
            <a:pPr indent="-228600" lvl="0" marL="228600" marR="0" rtl="0" algn="l">
              <a:lnSpc>
                <a:spcPct val="107000"/>
              </a:lnSpc>
              <a:spcBef>
                <a:spcPts val="0"/>
              </a:spcBef>
              <a:spcAft>
                <a:spcPts val="0"/>
              </a:spcAft>
              <a:buClr>
                <a:srgbClr val="000000"/>
              </a:buClr>
              <a:buSzPts val="1000"/>
              <a:buFont typeface="Noto Sans Symbols"/>
              <a:buChar char="▪"/>
            </a:pPr>
            <a:r>
              <a:rPr lang="en-US" sz="2000">
                <a:solidFill>
                  <a:srgbClr val="000000"/>
                </a:solidFill>
                <a:latin typeface="Times New Roman"/>
                <a:ea typeface="Times New Roman"/>
                <a:cs typeface="Times New Roman"/>
                <a:sym typeface="Times New Roman"/>
              </a:rPr>
              <a:t>OTT platform owners can give additional perks to such customers who are not sure about continuing using OTT by giving them an extra month of usage or recommending better videos as per the customers interest.</a:t>
            </a:r>
            <a:endParaRPr/>
          </a:p>
          <a:p>
            <a:pPr indent="-228600" lvl="0" marL="228600" marR="0" rtl="0" algn="l">
              <a:lnSpc>
                <a:spcPct val="107000"/>
              </a:lnSpc>
              <a:spcBef>
                <a:spcPts val="0"/>
              </a:spcBef>
              <a:spcAft>
                <a:spcPts val="0"/>
              </a:spcAft>
              <a:buClr>
                <a:srgbClr val="000000"/>
              </a:buClr>
              <a:buSzPts val="1000"/>
              <a:buFont typeface="Noto Sans Symbols"/>
              <a:buChar char="▪"/>
            </a:pPr>
            <a:r>
              <a:rPr lang="en-US" sz="2000">
                <a:solidFill>
                  <a:srgbClr val="000000"/>
                </a:solidFill>
                <a:latin typeface="Times New Roman"/>
                <a:ea typeface="Times New Roman"/>
                <a:cs typeface="Times New Roman"/>
                <a:sym typeface="Times New Roman"/>
              </a:rPr>
              <a:t>Focus more on the originality of the shows.</a:t>
            </a:r>
            <a:endParaRPr sz="2000">
              <a:solidFill>
                <a:srgbClr val="000000"/>
              </a:solidFill>
              <a:latin typeface="Calibri"/>
              <a:ea typeface="Calibri"/>
              <a:cs typeface="Calibri"/>
              <a:sym typeface="Calibri"/>
            </a:endParaRPr>
          </a:p>
          <a:p>
            <a:pPr indent="-228600" lvl="0" marL="228600" marR="0" rtl="0" algn="l">
              <a:lnSpc>
                <a:spcPct val="107000"/>
              </a:lnSpc>
              <a:spcBef>
                <a:spcPts val="0"/>
              </a:spcBef>
              <a:spcAft>
                <a:spcPts val="0"/>
              </a:spcAft>
              <a:buClr>
                <a:srgbClr val="000000"/>
              </a:buClr>
              <a:buSzPts val="1000"/>
              <a:buFont typeface="Noto Sans Symbols"/>
              <a:buChar char="▪"/>
            </a:pPr>
            <a:r>
              <a:rPr lang="en-US" sz="2000">
                <a:solidFill>
                  <a:srgbClr val="000000"/>
                </a:solidFill>
                <a:latin typeface="Times New Roman"/>
                <a:ea typeface="Times New Roman"/>
                <a:cs typeface="Times New Roman"/>
                <a:sym typeface="Times New Roman"/>
              </a:rPr>
              <a:t>Speed up content discovery by creating stories.</a:t>
            </a:r>
            <a:endParaRPr sz="2000">
              <a:solidFill>
                <a:srgbClr val="000000"/>
              </a:solidFill>
              <a:latin typeface="Calibri"/>
              <a:ea typeface="Calibri"/>
              <a:cs typeface="Calibri"/>
              <a:sym typeface="Calibri"/>
            </a:endParaRPr>
          </a:p>
          <a:p>
            <a:pPr indent="-165100" lvl="0" marL="228600" marR="0" rtl="0" algn="l">
              <a:lnSpc>
                <a:spcPct val="107000"/>
              </a:lnSpc>
              <a:spcBef>
                <a:spcPts val="0"/>
              </a:spcBef>
              <a:spcAft>
                <a:spcPts val="0"/>
              </a:spcAft>
              <a:buClr>
                <a:schemeClr val="dk1"/>
              </a:buClr>
              <a:buSzPts val="1000"/>
              <a:buFont typeface="Noto Sans Symbols"/>
              <a:buNone/>
            </a:pPr>
            <a:r>
              <a:t/>
            </a:r>
            <a:endParaRPr sz="2000">
              <a:solidFill>
                <a:srgbClr val="000000"/>
              </a:solidFill>
              <a:latin typeface="Calibri"/>
              <a:ea typeface="Calibri"/>
              <a:cs typeface="Calibri"/>
              <a:sym typeface="Calibri"/>
            </a:endParaRPr>
          </a:p>
          <a:p>
            <a:pPr indent="-50800" lvl="0" marL="228600" rtl="0" algn="l">
              <a:lnSpc>
                <a:spcPct val="90000"/>
              </a:lnSpc>
              <a:spcBef>
                <a:spcPts val="1000"/>
              </a:spcBef>
              <a:spcAft>
                <a:spcPts val="0"/>
              </a:spcAft>
              <a:buClr>
                <a:schemeClr val="dk1"/>
              </a:buClr>
              <a:buSzPts val="2800"/>
              <a:buFont typeface="Noto Sans Symbols"/>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Scope</a:t>
            </a:r>
            <a:endParaRPr/>
          </a:p>
        </p:txBody>
      </p:sp>
      <p:sp>
        <p:nvSpPr>
          <p:cNvPr id="328" name="Google Shape;328;p27"/>
          <p:cNvSpPr txBox="1"/>
          <p:nvPr>
            <p:ph idx="1" type="body"/>
          </p:nvPr>
        </p:nvSpPr>
        <p:spPr>
          <a:xfrm>
            <a:off x="639192" y="1690688"/>
            <a:ext cx="10714608" cy="4486275"/>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7000"/>
              </a:lnSpc>
              <a:spcBef>
                <a:spcPts val="0"/>
              </a:spcBef>
              <a:spcAft>
                <a:spcPts val="0"/>
              </a:spcAft>
              <a:buClr>
                <a:srgbClr val="000000"/>
              </a:buClr>
              <a:buSzPts val="1000"/>
              <a:buFont typeface="Noto Sans Symbols"/>
              <a:buChar char="▪"/>
            </a:pPr>
            <a:r>
              <a:rPr lang="en-US" sz="1800">
                <a:solidFill>
                  <a:srgbClr val="000000"/>
                </a:solidFill>
                <a:latin typeface="Times New Roman"/>
                <a:ea typeface="Times New Roman"/>
                <a:cs typeface="Times New Roman"/>
                <a:sym typeface="Times New Roman"/>
              </a:rPr>
              <a:t>There are so many streaming services like music streaming, video streaming, live video streaming, etc. This research study is limited to Video Streaming platforms only, so this study can be explored further to other streaming services. Other topics including freemium can also be included. App distribution by freemium and subscription based can be done.</a:t>
            </a:r>
            <a:endParaRPr sz="1800">
              <a:solidFill>
                <a:srgbClr val="000000"/>
              </a:solidFill>
              <a:latin typeface="Calibri"/>
              <a:ea typeface="Calibri"/>
              <a:cs typeface="Calibri"/>
              <a:sym typeface="Calibri"/>
            </a:endParaRPr>
          </a:p>
          <a:p>
            <a:pPr indent="-228600" lvl="0" marL="228600" rtl="0" algn="l">
              <a:lnSpc>
                <a:spcPct val="107000"/>
              </a:lnSpc>
              <a:spcBef>
                <a:spcPts val="0"/>
              </a:spcBef>
              <a:spcAft>
                <a:spcPts val="0"/>
              </a:spcAft>
              <a:buClr>
                <a:srgbClr val="000000"/>
              </a:buClr>
              <a:buSzPts val="1000"/>
              <a:buFont typeface="Noto Sans Symbols"/>
              <a:buChar char="▪"/>
            </a:pPr>
            <a:r>
              <a:rPr lang="en-US" sz="1800">
                <a:solidFill>
                  <a:srgbClr val="000000"/>
                </a:solidFill>
                <a:latin typeface="Times New Roman"/>
                <a:ea typeface="Times New Roman"/>
                <a:cs typeface="Times New Roman"/>
                <a:sym typeface="Times New Roman"/>
              </a:rPr>
              <a:t>Large mobile penetration in developing countries and cheap data prices is one of the reasons for streaming being more popular these days. The relationship between data consumption and the use of streaming services can be studied.</a:t>
            </a:r>
            <a:endParaRPr sz="1800">
              <a:solidFill>
                <a:srgbClr val="000000"/>
              </a:solidFill>
              <a:latin typeface="Calibri"/>
              <a:ea typeface="Calibri"/>
              <a:cs typeface="Calibri"/>
              <a:sym typeface="Calibri"/>
            </a:endParaRPr>
          </a:p>
          <a:p>
            <a:pPr indent="-228600" lvl="0" marL="228600" rtl="0" algn="l">
              <a:lnSpc>
                <a:spcPct val="107000"/>
              </a:lnSpc>
              <a:spcBef>
                <a:spcPts val="0"/>
              </a:spcBef>
              <a:spcAft>
                <a:spcPts val="0"/>
              </a:spcAft>
              <a:buClr>
                <a:srgbClr val="000000"/>
              </a:buClr>
              <a:buSzPts val="1000"/>
              <a:buFont typeface="Noto Sans Symbols"/>
              <a:buChar char="▪"/>
            </a:pPr>
            <a:r>
              <a:rPr lang="en-US" sz="1800">
                <a:solidFill>
                  <a:srgbClr val="000000"/>
                </a:solidFill>
                <a:latin typeface="Times New Roman"/>
                <a:ea typeface="Times New Roman"/>
                <a:cs typeface="Times New Roman"/>
                <a:sym typeface="Times New Roman"/>
              </a:rPr>
              <a:t>Future research should examine the impact of how consumers watch entertainment</a:t>
            </a:r>
            <a:r>
              <a:rPr lang="en-US" sz="1800">
                <a:solidFill>
                  <a:srgbClr val="000000"/>
                </a:solidFill>
                <a:latin typeface="Calibri"/>
                <a:ea typeface="Calibri"/>
                <a:cs typeface="Calibri"/>
                <a:sym typeface="Calibri"/>
              </a:rPr>
              <a:t> </a:t>
            </a:r>
            <a:r>
              <a:rPr lang="en-US" sz="1800">
                <a:solidFill>
                  <a:srgbClr val="000000"/>
                </a:solidFill>
                <a:latin typeface="Times New Roman"/>
                <a:ea typeface="Times New Roman"/>
                <a:cs typeface="Times New Roman"/>
                <a:sym typeface="Times New Roman"/>
              </a:rPr>
              <a:t>and explore different ways that Cable/DTH or streaming services are used.</a:t>
            </a:r>
            <a:endParaRPr sz="1800">
              <a:latin typeface="Calibri"/>
              <a:ea typeface="Calibri"/>
              <a:cs typeface="Calibri"/>
              <a:sym typeface="Calibri"/>
            </a:endParaRPr>
          </a:p>
          <a:p>
            <a:pPr indent="-228600" lvl="0" marL="228600" rtl="0" algn="l">
              <a:lnSpc>
                <a:spcPct val="107000"/>
              </a:lnSpc>
              <a:spcBef>
                <a:spcPts val="0"/>
              </a:spcBef>
              <a:spcAft>
                <a:spcPts val="0"/>
              </a:spcAft>
              <a:buClr>
                <a:srgbClr val="000000"/>
              </a:buClr>
              <a:buSzPts val="1000"/>
              <a:buFont typeface="Noto Sans Symbols"/>
              <a:buChar char="▪"/>
            </a:pPr>
            <a:r>
              <a:rPr lang="en-US" sz="1800">
                <a:solidFill>
                  <a:srgbClr val="000000"/>
                </a:solidFill>
                <a:latin typeface="Times New Roman"/>
                <a:ea typeface="Times New Roman"/>
                <a:cs typeface="Times New Roman"/>
                <a:sym typeface="Times New Roman"/>
              </a:rPr>
              <a:t>One should do the survey on why people are preferring a particular subscription.</a:t>
            </a:r>
            <a:endParaRPr sz="1800">
              <a:latin typeface="Calibri"/>
              <a:ea typeface="Calibri"/>
              <a:cs typeface="Calibri"/>
              <a:sym typeface="Calibri"/>
            </a:endParaRPr>
          </a:p>
          <a:p>
            <a:pPr indent="-228600" lvl="0" marL="228600" rtl="0" algn="l">
              <a:lnSpc>
                <a:spcPct val="107000"/>
              </a:lnSpc>
              <a:spcBef>
                <a:spcPts val="0"/>
              </a:spcBef>
              <a:spcAft>
                <a:spcPts val="0"/>
              </a:spcAft>
              <a:buClr>
                <a:srgbClr val="000000"/>
              </a:buClr>
              <a:buSzPts val="1000"/>
              <a:buFont typeface="Noto Sans Symbols"/>
              <a:buChar char="▪"/>
            </a:pPr>
            <a:r>
              <a:rPr lang="en-US" sz="1800">
                <a:solidFill>
                  <a:srgbClr val="000000"/>
                </a:solidFill>
                <a:latin typeface="Times New Roman"/>
                <a:ea typeface="Times New Roman"/>
                <a:cs typeface="Times New Roman"/>
                <a:sym typeface="Times New Roman"/>
              </a:rPr>
              <a:t>Attributes like UI design, Application Designing (graphics, animations, etc.) can be taken into consideration for further study.</a:t>
            </a:r>
            <a:endParaRPr sz="1800">
              <a:solidFill>
                <a:srgbClr val="000000"/>
              </a:solidFill>
              <a:latin typeface="Calibri"/>
              <a:ea typeface="Calibri"/>
              <a:cs typeface="Calibri"/>
              <a:sym typeface="Calibri"/>
            </a:endParaRPr>
          </a:p>
          <a:p>
            <a:pPr indent="-228600" lvl="0" marL="228600" rtl="0" algn="l">
              <a:lnSpc>
                <a:spcPct val="107000"/>
              </a:lnSpc>
              <a:spcBef>
                <a:spcPts val="0"/>
              </a:spcBef>
              <a:spcAft>
                <a:spcPts val="0"/>
              </a:spcAft>
              <a:buClr>
                <a:srgbClr val="000000"/>
              </a:buClr>
              <a:buSzPts val="1000"/>
              <a:buFont typeface="Noto Sans Symbols"/>
              <a:buChar char="▪"/>
            </a:pPr>
            <a:r>
              <a:rPr lang="en-US" sz="1800">
                <a:solidFill>
                  <a:srgbClr val="000000"/>
                </a:solidFill>
                <a:latin typeface="Times New Roman"/>
                <a:ea typeface="Times New Roman"/>
                <a:cs typeface="Times New Roman"/>
                <a:sym typeface="Times New Roman"/>
              </a:rPr>
              <a:t>This study can be done using samples of equal proportions of all age groups. Because this project was done during Covid, the responses collected were not in equal proportions of all age groups due to which the data was skewed. </a:t>
            </a:r>
            <a:endParaRPr sz="1800">
              <a:solidFill>
                <a:srgbClr val="000000"/>
              </a:solidFill>
              <a:latin typeface="Calibri"/>
              <a:ea typeface="Calibri"/>
              <a:cs typeface="Calibri"/>
              <a:sym typeface="Calibri"/>
            </a:endParaRPr>
          </a:p>
          <a:p>
            <a:pPr indent="-50800" lvl="0" marL="228600" rtl="0" algn="l">
              <a:lnSpc>
                <a:spcPct val="90000"/>
              </a:lnSpc>
              <a:spcBef>
                <a:spcPts val="1000"/>
              </a:spcBef>
              <a:spcAft>
                <a:spcPts val="0"/>
              </a:spcAft>
              <a:buClr>
                <a:schemeClr val="dk1"/>
              </a:buClr>
              <a:buSzPts val="2800"/>
              <a:buFont typeface="Noto Sans Symbols"/>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2021-05-21T07:14:12Z</dcterms:created>
  <dc:creator>Yash KAMTEKAR</dc:creator>
</cp:coreProperties>
</file>